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658368"/>
            <a:ext cx="4343400" cy="402336"/>
          </a:xfrm>
          <a:prstGeom prst="roundRect">
            <a:avLst/>
          </a:prstGeom>
          <a:solidFill>
            <a:srgbClr val="E0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C3E"/>
                </a:solidFill>
                <a:latin typeface="Aptos"/>
              </a:rPr>
              <a:t>Universidad Nacional de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82C3E"/>
                </a:solidFill>
                <a:latin typeface="Aptos Display"/>
              </a:rPr>
              <a:t>Sistema de alertamiento prescriptivo multimodal</a:t>
            </a:r>
          </a:p>
          <a:p>
            <a:r>
              <a:rPr sz="2400" b="1">
                <a:solidFill>
                  <a:srgbClr val="182C3E"/>
                </a:solidFill>
                <a:latin typeface="Aptos Display"/>
              </a:rPr>
              <a:t>para peletizacion industrial</a:t>
            </a:r>
          </a:p>
          <a:p>
            <a:r>
              <a:rPr sz="1500">
                <a:solidFill>
                  <a:srgbClr val="565A5E"/>
                </a:solidFill>
                <a:latin typeface="Aptos"/>
              </a:rPr>
              <a:t>Integracion de reglas deterministas, Gemini en Vertex AI, Nano Banana, Telegram y TTS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187952"/>
            <a:ext cx="1874519" cy="96012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operativo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187952"/>
            <a:ext cx="1874519" cy="96012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IA visual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Nano Banana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4187952"/>
            <a:ext cx="1874519" cy="960120"/>
          </a:xfrm>
          <a:prstGeom prst="roundRect">
            <a:avLst/>
          </a:prstGeom>
          <a:solidFill>
            <a:srgbClr val="5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Prescripcion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Gemini + TTS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713232"/>
            <a:ext cx="44348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1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3886200" cy="502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5504688"/>
            <a:ext cx="5669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65A5E"/>
                </a:solidFill>
                <a:latin typeface="Aptos"/>
              </a:rPr>
              <a:t>Sustentacion enfocada en codigo, funcionalidad operativa y uso real de LLMs multimodales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1. Problema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Contexto y necesidad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65760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25296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82C3E"/>
                </a:solidFill>
                <a:latin typeface="Aptos Display"/>
              </a:rPr>
              <a:t>Desafio en 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333756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peletizacion depende de temperatura, presion y carga en tiempo real.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operario trabaja en un entorno ruidoso, con alta demanda de reaccion y poca tolerancia al error.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Ver solo numeros no siempre permite entender tendencia, severidad ni accion inmediata.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38328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225296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Riesgos operativos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6324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Fatiga de alarmas.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Retrasos de respuesta.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Producto fuera de especificacion.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Sobrecarga del equipo y uso ineficiente del vapor.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33756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2529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Objetivo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572768"/>
            <a:ext cx="301752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Convertir telemetria en apoyo operacional claro, prescriptivo y multimodal.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Entregar informacion util por Telegram para operario y gerente.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103120" cy="100584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Lectura simulada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657600"/>
            <a:ext cx="2103120" cy="100584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Worker backend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657600"/>
            <a:ext cx="2103120" cy="1005840"/>
          </a:xfrm>
          <a:prstGeom prst="roundRect">
            <a:avLst/>
          </a:prstGeom>
          <a:solidFill>
            <a:srgbClr val="5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de accion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657600"/>
            <a:ext cx="2743200" cy="1005840"/>
          </a:xfrm>
          <a:prstGeom prst="roundRect">
            <a:avLst/>
          </a:prstGeom>
          <a:solidFill>
            <a:srgbClr val="B0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Salida multimodal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texto + imagen +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No es un chatbot; es soporte operacional de planta en tiempo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Propuesta de Solucion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construimos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257800" cy="420624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82C3E"/>
                </a:solidFill>
                <a:latin typeface="Aptos Display"/>
              </a:rPr>
              <a:t>Sistema propuesto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937760" cy="36118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Backend perpetuo que consume telemetria simulada desde CSV como si fuera un sensor IoT.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Motor determinista con EMA, bandas operativas, persistencia de alarma y antispam.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Panel tecnico de proceso, prescripcion de Maria, audio TTS, fichas IA, PDF y dashboard.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Interaccion por Telegram con botones para operario, gerente y feedback humano.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F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182C3E"/>
                </a:solidFill>
                <a:latin typeface="Aptos"/>
              </a:defRPr>
            </a:pPr>
            <a:r>
              <a:t>1. CSV de telemetria planta 001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2. DataLoader y maestros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3. Motor de reglas + EMA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4. Panel visual del proceso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5. Gemini / Maria + Nano Banana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6. Google TTS + Telegram</a:t>
            </a:r>
          </a:p>
          <a:p>
            <a:pPr>
              <a:spcAft>
                <a:spcPts val="1000"/>
              </a:spcAft>
              <a:defRPr sz="1600">
                <a:solidFill>
                  <a:srgbClr val="565A5E"/>
                </a:solidFill>
                <a:latin typeface="Aptos"/>
              </a:defRPr>
            </a:pPr>
            <a:r>
              <a:t>7. Historial, feedback, dashboard y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La seguridad de disparo es determinista; la capa generativa agrega interpretacion y presentacion.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3.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Pipeline de extremo a extremo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74066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69494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051560"/>
            <a:ext cx="3246120" cy="49377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1795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Capas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27048"/>
            <a:ext cx="2926080" cy="4343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Ingesta: telemetria y maestros.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Control: EMA, bandas, persistencia, severidad.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Multimodalidad: panel tecnico, Gemini, Nano Banana.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Entrega: Telegram, audio, fichas, PDF, dashboard.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Trazabilidad: historial de alertas y feedback del operario.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El repositorio esta desacoplado: datos, reglas, IA, TTS, Telegram y reportes.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Funcionalidad Demostrada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ve el usuario en operacion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Operario en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Mensaje tecnico con estado global, severidad, salud y causa probable.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Panel visual del proceso.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Audio prescriptivo para entorno ruidoso.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Botones: PDF, Dashboard, Ficha Operario, Ficha Gerencial, Explicar evento.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Feedback del operario: util, falso positivo, mantenimiento.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Gerencia y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PDF ejecutivo bajo demanda.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Dashboard HTML local.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Ficha gerencial visual generada por 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Resumen de alertas, feedback y estabilidad del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4747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Valor practico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solo detecta desviaciones.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Explica tendencia y pronostico.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datos crudos en decisiones legibles.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Reduce saturacion al separar salida operativa de salida ejecutiva.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La demo debe mostrar una lectura normal, una baja y una alta con reaccion distinta.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Evidencia Visual en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Panel tecnico y fichas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06324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legram_real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269748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77639" y="1051560"/>
            <a:ext cx="3703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nel_real_de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34440"/>
            <a:ext cx="33375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55279" y="1051560"/>
            <a:ext cx="35661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cha_real_dem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234440"/>
            <a:ext cx="3154680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77639" y="3657600"/>
            <a:ext cx="370332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1" y="378561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Que aporta esta evidencia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19" y="4133088"/>
            <a:ext cx="33832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Se muestra el chat real de Telegram, el panel tecnico real y una ficha IA real generada para el proyecto.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Esto permite sustentar funcionalidad operativa y no solo diseno conceptual.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diapositiva deja visible la cadena completa: mensaje, visual analitica y salida generativa.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Aqui conviene parar y decir: esto es lo que realmente recibe el usuario final.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Uso de LLMs y Multimodalidad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Donde interviene la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56616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Gemini / 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Recibe contexto estructurado + panel tecnico.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Genera prescripcion breve para audio y chat.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Tambien explica el evento bajo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6616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Nano Banana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Usa la imagen tecnica como referencia multimodal.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Genera fichas visuales nuevas para operario y gerencia.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replica la grafica: la transforma en una pieza ejecutiva.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520440" cy="201168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17957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A7A3C"/>
                </a:solidFill>
                <a:latin typeface="Aptos Display"/>
              </a:rPr>
              <a:t>Google 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27048"/>
            <a:ext cx="320040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la prescripcion en audio reproducible en Telegram.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Permite asistencia operativa en ambiente ruidoso.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1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Fragmento representativo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6400800" cy="169164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13631"/>
            <a:ext cx="6126480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self._generar_prescripcion_maria(..., imagen_bytes=imagen_bytes)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audio_texto = prescripcion_maria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self.tts.sintetizar(audio_texto)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imagen_ia, _ = self.nano_banana.generar_ficha_visual(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prompt_texto=prompt,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imagen_referencia_bytes=self._ultimo_panel_bytes,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703320"/>
            <a:ext cx="3931920" cy="18288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3831336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Punto academico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78808"/>
            <a:ext cx="36118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multimodalidad no es decorativa.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Se combina texto, imagen tecnica y generacion visual.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capa generativa opera sobre una base determinista y trazable.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Aqui es donde justificamos que si usamos LLMs multimodales de forma funcional.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Codigo Clave: Motor y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Mostrar en Antigravity durante la exposicion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motor_reglas.py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66928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39496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estado_actual: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!=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self.confirmacion_alerta: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self.confirmacion_retorno: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754880" cy="347472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545336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8"/>
            <a:ext cx="443484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se dispara una alarma por una sola lectura atipica.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desviacion debe persistir para confirmarse.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Esto reduce ruido operacional y fatiga de alarmas.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Es una decision ingenieril importante en la tesis.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[motor_reglas.py](C:/Users/USUARIO/Desktop/Maestria/sistemasinteligentes/proyecto/src/motor_reglas.py) y mostrar la confirmacion por persistencia.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8. Codigo Clave: Orquestacion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Worker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main.py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76072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48640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imagen_bytes = self.graficas.generar_panel_multimodal_telegram(...)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lectura=lectura,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...,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imagen_bytes=imagen_bytes,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texto += f"\n&lt;b&gt;Maria:&lt;/b&gt; {html.escape(prescripcion_maria)}"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self.tts.sintetizar(prescripcion_maria)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17320"/>
            <a:ext cx="4663440" cy="347472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545336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92808"/>
            <a:ext cx="434340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worker no solo calcula estados.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Construye un panel tecnico, llama a Maria y convierte su salida en audio.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La respuesta generativa se apoya en la imagen del proceso y en contexto numerico.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Si la IA falla, el sistema conserva un fallback determinista.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[main.py](C:/Users/USUARIO/Desktop/Maestria/sistemasinteligentes/proyecto/src/main.py) y mostrar donde entra Gemini y donde entra Nano Banana.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9. Codigo Clave: Interaccion por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Botones, callbacks y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5806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C3E"/>
                </a:solidFill>
                <a:latin typeface="Aptos Display"/>
              </a:rPr>
              <a:t>telegram_bot.py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806440" cy="35661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532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Operario', callback_data='solicitar_ficha_operario'),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Gerencial', callback_data='solicitar_ficha_gerencial'),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InlineKeyboardButton('Explicar evento', callback_data='explicar_evento'),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elif callback_query.data == 'explicar_evento':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eventos['explicar_evento'].append(chat_id)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371600"/>
            <a:ext cx="4572000" cy="35661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99616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47088"/>
            <a:ext cx="4251960" cy="29718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Telegram no es solo un canal de salida.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Tambien es una interfaz operativa con botones y feedback.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Permite pedir PDF, dashboard, fichas IA y explicaciones del evento.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operario puede validar si una alerta fue util o si requiere mantenimiento.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Abrir [telegram_bot.py](C:/Users/USUARIO/Desktop/Maestria/sistemasinteligentes/proyecto/src/telegram_bot.py) y luego mostrar el chat del bot.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10. Demostracion Sugerida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Guion de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A7A3C"/>
                </a:solidFill>
                <a:latin typeface="Aptos Display"/>
              </a:rPr>
              <a:t>Escenario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1 a 5 en banda normal.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estado estable, ficha de continuidad y mensaje de Maria.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Explicar que no hay alarmas por ruido.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B07D3E"/>
                </a:solidFill>
                <a:latin typeface="Aptos Display"/>
              </a:rPr>
              <a:t>Escenario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6 a 8 con temperatura y presion bajas.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persistencia, severidad y recomendacion operativa.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Pedir Ficha Operario y Explicar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51560"/>
            <a:ext cx="3474720" cy="457200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64336"/>
                </a:solidFill>
                <a:latin typeface="Aptos Display"/>
              </a:rPr>
              <a:t>Escenario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Lecturas 13 a 14 con temperatura y presion altas.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Mostrar Ficha Gerencial y PDF bajo demanda.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Cerrar con el dashboard y el feedback del operario.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Consejo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Alternar slides y Antigravity: no meter demasiado codigo en PowerPoint.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11. Aporte Academico y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Por que este proyecto destaca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530352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25296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24E7A"/>
                </a:solidFill>
                <a:latin typeface="Aptos Display"/>
              </a:rPr>
              <a:t>Aportes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9834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Integra capa determinista y capa generativa sin delegar seguridad al LLM.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Usa multimodalidad de forma funcional: imagen tecnica, interpretacion LLM, audio y fichas visuales.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Incluye operacion en tiempo real, trazabilidad, feedback humano y salidas diferenciadas por audiencia.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Convierte un problema industrial en una experiencia operativa explicable.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97280"/>
            <a:ext cx="4937760" cy="4480560"/>
          </a:xfrm>
          <a:prstGeom prst="roundRect">
            <a:avLst/>
          </a:prstGeom>
          <a:solidFill>
            <a:srgbClr val="FD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2529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276E68"/>
                </a:solidFill>
                <a:latin typeface="Aptos Display"/>
              </a:rPr>
              <a:t>Mensaje final al 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61772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No se trata solo de usar Gemini.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Se trata de diseñar un sistema completo donde la IA agrega valor real a la toma de decisiones.</a:t>
            </a:r>
          </a:p>
          <a:p>
            <a:pPr>
              <a:defRPr sz="1500">
                <a:solidFill>
                  <a:srgbClr val="565A5E"/>
                </a:solidFill>
                <a:latin typeface="Aptos"/>
              </a:defRPr>
            </a:pPr>
            <a:r>
              <a:t>El proyecto muestra codigo, arquitectura, funcionalidad y multimodalidad aplicada a un contexto industrial.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24E7A"/>
                </a:solidFill>
                <a:latin typeface="Aptos Display"/>
              </a:rPr>
              <a:t>Cierre</a:t>
            </a:r>
          </a:p>
          <a:p>
            <a:r>
              <a:rPr sz="1000">
                <a:solidFill>
                  <a:srgbClr val="565A5E"/>
                </a:solidFill>
                <a:latin typeface="Aptos"/>
              </a:rPr>
              <a:t>El diferenciador no es una sola API; es la orquestacion de datos, reglas, LLMs y canal operativo.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Gracias</a:t>
            </a:r>
          </a:p>
          <a:p>
            <a:pPr algn="ctr"/>
            <a:r>
              <a:rPr sz="1800">
                <a:solidFill>
                  <a:srgbClr val="D2DCE7"/>
                </a:solidFill>
                <a:latin typeface="Aptos"/>
              </a:rPr>
              <a:t>Sistema de alertamiento prescriptivo multimodal para peletizacion industrial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2377440" cy="1097280"/>
          </a:xfrm>
          <a:prstGeom prst="roundRect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en vivo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926080"/>
            <a:ext cx="2377440" cy="1097280"/>
          </a:xfrm>
          <a:prstGeom prst="roundRect">
            <a:avLst/>
          </a:prstGeom>
          <a:solidFill>
            <a:srgbClr val="27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codigo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Antigravity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2377440" cy="1097280"/>
          </a:xfrm>
          <a:prstGeom prst="roundRect">
            <a:avLst/>
          </a:prstGeom>
          <a:solidFill>
            <a:srgbClr val="B0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Cerrar con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Ficha IA +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754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Preguntas y demostracion operativa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Facultad de Minas | Sede Medellin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