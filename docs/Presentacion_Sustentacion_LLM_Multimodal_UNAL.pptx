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58368"/>
            <a:ext cx="4480560" cy="438912"/>
          </a:xfrm>
          <a:prstGeom prst="roundRect">
            <a:avLst/>
          </a:prstGeom>
          <a:solidFill>
            <a:srgbClr val="DED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4A4A4A"/>
                </a:solidFill>
                <a:latin typeface="Aptos"/>
              </a:rPr>
              <a:t>Universidad Nacional de Colombia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71600"/>
            <a:ext cx="65836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Sistema de alertamiento prescriptivo multimodal para peletizacion industrial</a:t>
            </a:r>
          </a:p>
          <a:p>
            <a:r>
              <a:rPr sz="1700">
                <a:solidFill>
                  <a:srgbClr val="D7DFE6"/>
                </a:solidFill>
                <a:latin typeface="Aptos"/>
              </a:rPr>
              <a:t>Integracion de reglas deterministas, Gemini en Vertex AI, Nano Banana, Telegram y TTS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60520"/>
            <a:ext cx="2011680" cy="105156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operativo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4160520"/>
            <a:ext cx="2011680" cy="1051560"/>
          </a:xfrm>
          <a:prstGeom prst="roundRect">
            <a:avLst/>
          </a:prstGeom>
          <a:solidFill>
            <a:srgbClr val="5B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IA visual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Nano Banana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4160520"/>
            <a:ext cx="2011680" cy="1051560"/>
          </a:xfrm>
          <a:prstGeom prst="roundRect">
            <a:avLst/>
          </a:prstGeom>
          <a:solidFill>
            <a:srgbClr val="80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Prescripcion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Gemini + TTS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914400"/>
            <a:ext cx="3657600" cy="5394960"/>
          </a:xfrm>
          <a:prstGeom prst="roundRect">
            <a:avLst/>
          </a:prstGeom>
          <a:solidFill>
            <a:srgbClr val="EF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115568"/>
            <a:ext cx="3291840" cy="4754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800" y="5440680"/>
            <a:ext cx="7132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6DCE2"/>
                </a:solidFill>
                <a:latin typeface="Aptos"/>
              </a:rPr>
              <a:t>Sustentacion enfocada en codigo, funcionalidad operativa y uso real de LLMs multimodales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Proyecto de sustentacion | Maestria en Sistemas Inteligentes</a:t>
            </a:r>
          </a:p>
        </p:txBody>
      </p:sp>
      <p:pic>
        <p:nvPicPr>
          <p:cNvPr id="13" name="Picture 12" descr="unal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1. Problema Industrial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Contexto y necesidad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365760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225296"/>
            <a:ext cx="3337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4A4A4A"/>
                </a:solidFill>
                <a:latin typeface="Aptos Display"/>
              </a:rPr>
              <a:t>Desafio en planta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333756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peletizacion depende de temperatura, presion y carga en tiempo real.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operario trabaja en un entorno ruidoso, con alta demanda de reaccion y poca tolerancia al error.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Ver solo numeros no siempre permite entender tendencia, severidad ni accion inmediata.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097280"/>
            <a:ext cx="338328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225296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Riesgos operativos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572768"/>
            <a:ext cx="306324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Fatiga de alarmas.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Retrasos de respuesta.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Producto fuera de especificacion.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Sobrecarga del equipo y uso ineficiente del vapor.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097280"/>
            <a:ext cx="333756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1225296"/>
            <a:ext cx="3017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Objetivo del proyecto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9" y="1572768"/>
            <a:ext cx="301752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Convertir telemetria en apoyo operacional claro, prescriptivo y multimodal.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Entregar informacion util por Telegram para operario y gerente.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657600"/>
            <a:ext cx="2103120" cy="100584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Lectura simulada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1 min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3657600"/>
            <a:ext cx="2103120" cy="1005840"/>
          </a:xfrm>
          <a:prstGeom prst="roundRect">
            <a:avLst/>
          </a:prstGeom>
          <a:solidFill>
            <a:srgbClr val="5B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Worker backend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24/7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3657600"/>
            <a:ext cx="2103120" cy="1005840"/>
          </a:xfrm>
          <a:prstGeom prst="roundRect">
            <a:avLst/>
          </a:prstGeom>
          <a:solidFill>
            <a:srgbClr val="809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Canal de accion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657600"/>
            <a:ext cx="2743200" cy="1005840"/>
          </a:xfrm>
          <a:prstGeom prst="roundRect">
            <a:avLst/>
          </a:prstGeom>
          <a:solidFill>
            <a:srgbClr val="A6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Salida multimodal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texto + imagen + audio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No es un chatbot; es soporte operacional de planta en tiempo real.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22" name="Picture 21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2. Propuesta de Solucion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construimos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5257800" cy="420624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4937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4A4A4A"/>
                </a:solidFill>
                <a:latin typeface="Aptos Display"/>
              </a:rPr>
              <a:t>Sistema propuesto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4937760" cy="361188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Backend perpetuo que consume telemetria simulada desde CSV como si fuera un sensor IoT.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Motor determinista con EMA, bandas operativas, persistencia de alarma y antispam.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Panel tecnico de proceso, prescripcion de Maria, audio TTS, fichas IA, PDF y dashboard.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Interaccion por Telegram con botones para operario, gerente y feedback humano.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51560"/>
            <a:ext cx="507492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F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200"/>
              </a:spcAft>
              <a:defRPr sz="1800">
                <a:solidFill>
                  <a:srgbClr val="4A4A4A"/>
                </a:solidFill>
                <a:latin typeface="Aptos"/>
              </a:defRPr>
            </a:pPr>
            <a:r>
              <a:t>1. CSV de telemetria planta 001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2. DataLoader y maestros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3. Motor de reglas + EMA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4. Panel visual del proceso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5. Gemini / Maria + Nano Banana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6. Google TTS + Telegram</a:t>
            </a:r>
          </a:p>
          <a:p>
            <a:pPr>
              <a:spcAft>
                <a:spcPts val="1000"/>
              </a:spcAft>
              <a:defRPr sz="1600">
                <a:solidFill>
                  <a:srgbClr val="606060"/>
                </a:solidFill>
                <a:latin typeface="Aptos"/>
              </a:defRPr>
            </a:pPr>
            <a:r>
              <a:t>7. Historial, feedback, dashboard y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La seguridad de disparo es determinista; la capa generativa agrega interpretacion y presentacion.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3" name="Picture 12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3. Arquitectura del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Pipeline de extremo a extremo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740664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D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ramaDelProc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6949440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21040" y="1051560"/>
            <a:ext cx="3246120" cy="49377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85632" y="1179576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Capas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527048"/>
            <a:ext cx="2926080" cy="43434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Ingesta: telemetria y maestros.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Control: EMA, bandas, persistencia, severidad.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Multimodalidad: panel tecnico, Gemini, Nano Banana.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Entrega: Telegram, audio, fichas, PDF, dashboard.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Trazabilidad: historial de alertas y feedback del operario.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El repositorio esta desacoplado: datos, reglas, IA, TTS, Telegram y reportes.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4" name="Picture 13" descr="unal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4. Funcionalidad Demostrada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Que ve el usuario en operacion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Operario en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Mensaje tecnico con estado global, severidad, salud y causa probable.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Panel visual del proceso.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Audio prescriptivo para entorno ruidoso.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Botones: PDF, Dashboard, Ficha Operario, Ficha Gerencial, Explicar evento.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Feedback del operario: util, falso positivo, mantenimiento.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67630"/>
                </a:solidFill>
                <a:latin typeface="Aptos Display"/>
              </a:rPr>
              <a:t>Gerencia y supervision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PDF ejecutivo bajo demanda.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Dashboard HTML local.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Ficha gerencial visual generada por 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Resumen de alertas, feedback y estabilidad del proceso.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51560"/>
            <a:ext cx="34747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Valor practico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527048"/>
            <a:ext cx="31546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solo detecta desviaciones.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Explica tendencia y pronostico.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Convierte datos crudos en decisiones legibles.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Reduce saturacion al separar salida operativa de salida ejecutiva.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La demo debe mostrar una lectura normal, una baja y una alta con reaccion distinta.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8" name="Picture 17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5. Uso de LLMs y Multimodalidad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Donde interviene la 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56616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Gemini / Maria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Recibe contexto estructurado + panel tecnico.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Genera prescripcion breve para audio y chat.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Tambien explica el evento bajo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051560"/>
            <a:ext cx="356616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179576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Nano Banana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27048"/>
            <a:ext cx="324612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Usa la imagen tecnica como referencia multimodal.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Genera fichas visuales nuevas para operario y gerencia.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replica la grafica: la transforma en una pieza ejecutiva.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051560"/>
            <a:ext cx="3520440" cy="201168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1179576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809246"/>
                </a:solidFill>
                <a:latin typeface="Aptos Display"/>
              </a:rPr>
              <a:t>Google TTS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27048"/>
            <a:ext cx="3200400" cy="14173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Convierte la prescripcion en audio reproducible en Telegram.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Permite asistencia operativa en ambiente ruidoso.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1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Fragmento representativo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49039"/>
            <a:ext cx="6400800" cy="169164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913631"/>
            <a:ext cx="6126480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self._generar_prescripcion_maria(..., imagen_bytes=imagen_bytes)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audio_texto = prescripcion_maria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self.tts.sintetizar(audio_texto)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imagen_ia, _ = self.nano_banana.generar_ficha_visual(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prompt_texto=prompt,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imagen_referencia_bytes=self._ultimo_panel_bytes,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3703320"/>
            <a:ext cx="3931920" cy="18288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62671" y="3831336"/>
            <a:ext cx="3611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Punto academico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59" y="4178808"/>
            <a:ext cx="3611880" cy="12344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multimodalidad no es decorativa.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Se combina texto, imagen tecnica y generacion visual.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capa generativa opera sobre una base determinista y trazable.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Mensaje clave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Aqui es donde justificamos que si usamos LLMs multimodales de forma funcional.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24" name="Picture 23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6. Codigo Clave: Motor y Persistencia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Mostrar en Antigravity durante la exposicion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motor_reglas.py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66928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39496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estado_actual: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!=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self.confirmacion_alerta: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if nuevo_estado == 'NORMAL':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persistencia +=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if persistencia &lt; self.confirmacion_retorno: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    return None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4754880" cy="347472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545336"/>
            <a:ext cx="4434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892808"/>
            <a:ext cx="443484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se dispara una alarma por una sola lectura atipica.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desviacion debe persistir para confirmarse.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Esto reduce ruido operacional y fatiga de alarmas.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Es una decision ingenieril importante en la tesis.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Abrir [motor_reglas.py](C:/Users/USUARIO/Desktop/Maestria/sistemasinteligentes/proyecto/src/motor_reglas.py) y mostrar la confirmacion por persistencia.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7. Codigo Clave: Orquestacion Multimodal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Worker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24712"/>
            <a:ext cx="5760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main.py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760720" cy="347472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81912"/>
            <a:ext cx="5486400" cy="3218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imagen_bytes = self.graficas.generar_panel_multimodal_telegram(...)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prescripcion_maria = self._generar_prescripcion_maria(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lectura=lectura,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...,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imagen_bytes=imagen_bytes,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texto += f"\n&lt;b&gt;Maria:&lt;/b&gt; {html.escape(prescripcion_maria)}"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audio_bytes = self.tts.sintetizar(prescripcion_maria)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17320"/>
            <a:ext cx="4663440" cy="347472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1545336"/>
            <a:ext cx="4343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92808"/>
            <a:ext cx="4343400" cy="288036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worker no solo calcula estados.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Construye un panel tecnico, llama a Maria y convierte su salida en audio.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La respuesta generativa se apoya en la imagen del proceso y en contexto numerico.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Si la IA falla, el sistema conserva un fallback determinista.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Abrir [main.py](C:/Users/USUARIO/Desktop/Maestria/sistemasinteligentes/proyecto/src/main.py) y mostrar donde entra Gemini y donde entra Nano Banana.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8. Codigo Clave: Interaccion por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Botones, callbacks y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78992"/>
            <a:ext cx="5806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4A4A4A"/>
                </a:solidFill>
                <a:latin typeface="Aptos Display"/>
              </a:rPr>
              <a:t>telegram_bot.py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806440" cy="3566160"/>
          </a:xfrm>
          <a:prstGeom prst="roundRect">
            <a:avLst/>
          </a:prstGeom>
          <a:solidFill>
            <a:srgbClr val="1E22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36192"/>
            <a:ext cx="5532120" cy="3310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Operario', callback_data='solicitar_ficha_operario'),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InlineKeyboardButton('Ficha Gerencial', callback_data='solicitar_ficha_gerencial'),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filas.append([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InlineKeyboardButton('Explicar evento', callback_data='explicar_evento'),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])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elif callback_query.data == 'explicar_evento':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ECF0F1"/>
                </a:solidFill>
                <a:latin typeface="Consolas"/>
              </a:defRPr>
            </a:pPr>
            <a:r>
              <a:t>    eventos['explicar_evento'].append(chat_id)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371600"/>
            <a:ext cx="4572000" cy="35661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99616"/>
            <a:ext cx="4251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67630"/>
                </a:solidFill>
                <a:latin typeface="Aptos Display"/>
              </a:rPr>
              <a:t>Que explico aqui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847088"/>
            <a:ext cx="4251960" cy="29718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Telegram no es solo un canal de salida.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Tambien es una interfaz operativa con botones y feedback.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Permite pedir PDF, dashboard, fichas IA y explicaciones del evento.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operario puede validar si una alerta fue util o si requiere mantenimiento.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En vivo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Abrir [telegram_bot.py](C:/Users/USUARIO/Desktop/Maestria/sistemasinteligentes/proyecto/src/telegram_bot.py) y luego mostrar el chat del bot.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9. Demostracion Sugerida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Guion de 10 minutos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809246"/>
                </a:solidFill>
                <a:latin typeface="Aptos Display"/>
              </a:rPr>
              <a:t>Escenario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Lecturas 1 a 5 en banda normal.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Mostrar estado estable, ficha de continuidad y mensaje de Maria.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Explicar que no hay alarmas por ruido.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A67630"/>
                </a:solidFill>
                <a:latin typeface="Aptos Display"/>
              </a:rPr>
              <a:t>Escenario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Lecturas 6 a 8 con temperatura y presion bajas.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Mostrar persistencia, severidad y recomendacion operativa.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Pedir Ficha Operario y Explicar evento.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51560"/>
            <a:ext cx="3474720" cy="457200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179576"/>
            <a:ext cx="3154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9A443F"/>
                </a:solidFill>
                <a:latin typeface="Aptos Display"/>
              </a:rPr>
              <a:t>Escenario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27048"/>
            <a:ext cx="3154680" cy="397764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Lecturas 13 a 14 con temperatura y presion altas.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Mostrar Ficha Gerencial y PDF bajo demanda.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Cerrar con el dashboard y el feedback del operario.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Consejo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Alternar slides y Antigravity: no meter demasiado codigo en PowerPoint.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8" name="Picture 17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0467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 Display"/>
              </a:rPr>
              <a:t>10. Aporte Academico y Tecnico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1080" y="182880"/>
            <a:ext cx="28346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DCE2E9"/>
                </a:solidFill>
                <a:latin typeface="Aptos"/>
              </a:rPr>
              <a:t>Por que este proyecto destaca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97280"/>
            <a:ext cx="530352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225296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1F497D"/>
                </a:solidFill>
                <a:latin typeface="Aptos Display"/>
              </a:rPr>
              <a:t>Aportes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572768"/>
            <a:ext cx="498348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Integra capa determinista y capa generativa sin delegar seguridad al LLM.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Usa multimodalidad de forma funcional: imagen tecnica, interpretacion LLM, audio y fichas visuales.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Incluye operacion en tiempo real, trazabilidad, feedback humano y salidas diferenciadas por audiencia.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Convierte un problema industrial en una experiencia operativa explicable.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097280"/>
            <a:ext cx="4937760" cy="4480560"/>
          </a:xfrm>
          <a:prstGeom prst="roundRect">
            <a:avLst/>
          </a:prstGeom>
          <a:solidFill>
            <a:srgbClr val="FCFBF7"/>
          </a:solidFill>
          <a:ln>
            <a:solidFill>
              <a:srgbClr val="E0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225296"/>
            <a:ext cx="4617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700">
                <a:solidFill>
                  <a:srgbClr val="5B7A80"/>
                </a:solidFill>
                <a:latin typeface="Aptos Display"/>
              </a:rPr>
              <a:t>Mensaje final al profesor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572768"/>
            <a:ext cx="4617720" cy="388620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No se trata solo de usar Gemini.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Se trata de diseñar un sistema completo donde la IA agrega valor real a la toma de decisiones.</a:t>
            </a:r>
          </a:p>
          <a:p>
            <a:pPr>
              <a:defRPr sz="1500">
                <a:solidFill>
                  <a:srgbClr val="606060"/>
                </a:solidFill>
                <a:latin typeface="Aptos"/>
              </a:defRPr>
            </a:pPr>
            <a:r>
              <a:t>El proyecto muestra codigo, arquitectura, funcionalidad y multimodalidad aplicada a un contexto industrial.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5897880"/>
            <a:ext cx="31546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DD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1F497D"/>
                </a:solidFill>
                <a:latin typeface="Aptos Display"/>
              </a:rPr>
              <a:t>Cierre</a:t>
            </a:r>
          </a:p>
          <a:p>
            <a:r>
              <a:rPr sz="1000">
                <a:solidFill>
                  <a:srgbClr val="606060"/>
                </a:solidFill>
                <a:latin typeface="Aptos"/>
              </a:rPr>
              <a:t>El diferenciador no es una sola API; es la orquestacion de datos, reglas, LLMs y canal operativo.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Maestria en Sistemas Inteligentes</a:t>
            </a:r>
          </a:p>
        </p:txBody>
      </p:sp>
      <p:pic>
        <p:nvPicPr>
          <p:cNvPr id="15" name="Picture 14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10058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 Display"/>
              </a:rPr>
              <a:t>Gracias</a:t>
            </a:r>
          </a:p>
          <a:p>
            <a:pPr algn="ctr"/>
            <a:r>
              <a:rPr sz="1800">
                <a:solidFill>
                  <a:srgbClr val="D2DCE7"/>
                </a:solidFill>
                <a:latin typeface="Aptos"/>
              </a:rPr>
              <a:t>Sistema de alertamiento prescriptivo multimodal para peletizacion industrial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2377440" cy="1097280"/>
          </a:xfrm>
          <a:prstGeom prst="round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en vivo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Telegram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926080"/>
            <a:ext cx="2377440" cy="1097280"/>
          </a:xfrm>
          <a:prstGeom prst="roundRect">
            <a:avLst/>
          </a:prstGeom>
          <a:solidFill>
            <a:srgbClr val="5B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Mostrar codigo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Antigravity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2926080"/>
            <a:ext cx="2377440" cy="1097280"/>
          </a:xfrm>
          <a:prstGeom prst="roundRect">
            <a:avLst/>
          </a:prstGeom>
          <a:solidFill>
            <a:srgbClr val="A67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Cerrar con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Aptos Display"/>
              </a:rPr>
              <a:t>Ficha IA + 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47548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 Display"/>
              </a:rPr>
              <a:t>Preguntas y demostracion operativa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6D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5120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  <a:latin typeface="Aptos"/>
              </a:rPr>
              <a:t>Universidad Nacional de Colombia | Cierre de sustentacion</a:t>
            </a:r>
          </a:p>
        </p:txBody>
      </p:sp>
      <p:pic>
        <p:nvPicPr>
          <p:cNvPr id="10" name="Picture 9" descr="unal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6382512"/>
            <a:ext cx="2148840" cy="676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