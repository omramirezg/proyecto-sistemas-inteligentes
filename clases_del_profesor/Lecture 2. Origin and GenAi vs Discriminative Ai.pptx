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57" r:id="rId7"/>
    <p:sldId id="264" r:id="rId8"/>
    <p:sldId id="265" r:id="rId9"/>
    <p:sldId id="266" r:id="rId10"/>
    <p:sldId id="261" r:id="rId11"/>
    <p:sldId id="263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78175-7ABB-D0A9-2498-2143361FB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3FD5D-5C5B-EC2E-E5BC-C526F3F42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3B2A82-E4D5-E11A-2BF0-E6212E3F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4E41A2-02AF-CB63-F15B-87A6D47F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0869F-CF9E-0734-8B2A-07507896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526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0ED9B-545C-DAC8-2B30-E9BE3951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584F5C-F1AF-43E0-5024-D6ED7405E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66BA68-A934-877E-8A97-2691D61E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6724BA-9725-09F5-2AEC-49FEEF28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0CEAAC-5291-A3F8-359D-76110E20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109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9C8D1-6A2F-EAFD-2B0B-6DD05E5E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9690CE-B154-61B3-E8F6-C34D0FD4B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EECDFA-6C46-CB1A-35A5-7AD69EED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4CF16-1EF4-5049-B069-95E68F9F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DBD4D8-9506-9962-BC69-50AE06F2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079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19811-358C-61A5-0D52-C2C329C3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7F40C-2368-F383-5302-94CA460DB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0203DF-9C33-CDD7-0BC2-C1F70ED02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4156D2-64B5-F9C0-3408-57EE7184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1C72E1-641D-24C9-1800-2544C7E4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FD58AA-A9E1-65A8-69C7-7F5E8F16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468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9CABF-5370-D888-4B20-50F01940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E9EB00-BBD2-1CFD-5E91-05E262F00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F94C73-5BA2-784E-3AAD-F19481116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0644B5-278D-CFDA-40B3-D6E305F02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E9CC08-440D-455F-29CB-BFA594009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0DE2C1-D2B9-2F17-1977-0267CE80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592271-7F85-6020-D646-46660E1D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D4473D-6768-96D9-EC55-B32E55E8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2364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AD09C-266A-5E7B-E473-2E09E6E8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EA9A1C-890E-CA76-8A10-141423B7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E08BE3-53E2-1103-C5A4-7E463496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46F8C9-A142-0BEA-AB08-5B4D5CD2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227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AD7190-7BDC-69E5-86ED-87F31544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03713-6FC4-9303-3DD0-01973E11C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DF8DF0-3FD6-BBAB-DA93-BDCF3FF8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608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8A25E-7EEA-6C1B-5F5B-579598503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9A36EE-F05F-7D52-A7F6-424C90EC0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669DB0-88DA-857A-5A93-83C3AD701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E2FCEA-3378-E8F6-C70B-BDF67BEB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F6AE5F-2CBD-B7F7-7EEF-1F0BBD90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6E6B05-DABB-76C0-7AD6-3C718E1F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778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C1CCA-B649-D936-0484-7F42A3CC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23CA86-DEF8-03EE-5BCC-0AF3EBF73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4461ED-CFAB-D759-06DB-3F7D419E9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EFF3D1-85CA-91D6-0799-8E1CE98E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98B84D-5995-E3A5-6D9F-013F5E6D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FF6A3D-3696-9F5B-C8C3-89A5AB44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097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265D7-D441-375E-CF80-B4B6577C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808D13-C163-AAA4-D330-037B2E93E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52BE88-D567-B12F-02F3-051302A4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9B99EB-9B32-5539-EC33-23B9D4BC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B4961-2A02-59A2-FC23-641FFB2A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45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914148-F37A-F2FE-1670-16CB5CB08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DD681B-232A-51E4-D415-31FC66633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AF017-BEBC-2A20-D7CC-A60C9966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32EFCF-5888-171F-7739-C603F78E4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CF00DD-304E-563F-0104-81378B2E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003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19D7F4-8A99-1FCF-814A-061BEF7A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98B777-13D7-352F-5030-2B6DE7773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44AB41-F048-8023-82FC-E45687A51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A7603-85D1-4D7C-A94C-8D0CA1281B79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340A0D-4A5D-65D1-B11F-0394B1223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BE8F8A-3C5B-9C7A-AC8B-072F7D870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9DAE9-C44A-438D-96C7-B09207C94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17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7" Type="http://schemas.openxmlformats.org/officeDocument/2006/relationships/image" Target="../media/image2.jpg"/><Relationship Id="rId2" Type="http://schemas.openxmlformats.org/officeDocument/2006/relationships/hyperlink" Target="https://arxiv.org/abs/1406.266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imshuai.com/deeplearning-ai-notes-course1-week3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F148C-45E2-B739-88AB-C8324E110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Brief history of AI and the rise of Generative AI</a:t>
            </a:r>
            <a:endParaRPr lang="es-MX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919C043C-23B2-2BEB-2689-AA0817EC4A17}"/>
              </a:ext>
            </a:extLst>
          </p:cNvPr>
          <p:cNvSpPr txBox="1">
            <a:spLocks/>
          </p:cNvSpPr>
          <p:nvPr/>
        </p:nvSpPr>
        <p:spPr>
          <a:xfrm>
            <a:off x="1371600" y="374808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800" dirty="0"/>
              <a:t>John R Ballesteros</a:t>
            </a:r>
          </a:p>
          <a:p>
            <a:r>
              <a:rPr lang="es-MX" sz="2800" dirty="0"/>
              <a:t>Profesor Titular UN</a:t>
            </a:r>
          </a:p>
          <a:p>
            <a:r>
              <a:rPr lang="es-MX" sz="2800" dirty="0"/>
              <a:t>jballes@unal.edu.co</a:t>
            </a:r>
          </a:p>
          <a:p>
            <a:endParaRPr lang="es-MX" sz="1100" dirty="0"/>
          </a:p>
        </p:txBody>
      </p:sp>
    </p:spTree>
    <p:extLst>
      <p:ext uri="{BB962C8B-B14F-4D97-AF65-F5344CB8AC3E}">
        <p14:creationId xmlns:p14="http://schemas.microsoft.com/office/powerpoint/2010/main" val="396112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267CF-9EF8-125F-FA6C-913654EFF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2599"/>
            <a:ext cx="10515600" cy="60610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Generative AI has evolved significantly, with key milestones shaping its development: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s-MX" dirty="0"/>
              <a:t>• </a:t>
            </a:r>
            <a:r>
              <a:rPr lang="es-MX" dirty="0" err="1"/>
              <a:t>Early</a:t>
            </a:r>
            <a:r>
              <a:rPr lang="es-MX" dirty="0"/>
              <a:t> 20th Century: </a:t>
            </a:r>
            <a:r>
              <a:rPr lang="es-MX" dirty="0" err="1"/>
              <a:t>Markov</a:t>
            </a:r>
            <a:r>
              <a:rPr lang="es-MX" dirty="0"/>
              <a:t> </a:t>
            </a:r>
            <a:r>
              <a:rPr lang="es-MX" dirty="0" err="1"/>
              <a:t>Chains</a:t>
            </a:r>
            <a:r>
              <a:rPr lang="es-MX" dirty="0"/>
              <a:t>– In 1906, Andrey </a:t>
            </a:r>
            <a:r>
              <a:rPr lang="es-MX" dirty="0" err="1"/>
              <a:t>Markov</a:t>
            </a:r>
            <a:r>
              <a:rPr lang="es-MX" dirty="0"/>
              <a:t> </a:t>
            </a:r>
            <a:r>
              <a:rPr lang="es-MX" dirty="0" err="1"/>
              <a:t>introduced</a:t>
            </a:r>
            <a:r>
              <a:rPr lang="es-MX" dirty="0"/>
              <a:t> </a:t>
            </a:r>
            <a:r>
              <a:rPr lang="es-MX" dirty="0" err="1"/>
              <a:t>Markov</a:t>
            </a:r>
            <a:r>
              <a:rPr lang="es-MX" dirty="0"/>
              <a:t> </a:t>
            </a:r>
            <a:r>
              <a:rPr lang="es-MX" dirty="0" err="1"/>
              <a:t>Chains</a:t>
            </a:r>
            <a:r>
              <a:rPr lang="es-MX" dirty="0"/>
              <a:t>, </a:t>
            </a:r>
            <a:r>
              <a:rPr lang="es-MX" dirty="0" err="1"/>
              <a:t>used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analyze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patterns</a:t>
            </a:r>
            <a:r>
              <a:rPr lang="es-MX" dirty="0"/>
              <a:t> and </a:t>
            </a:r>
            <a:r>
              <a:rPr lang="es-MX" dirty="0" err="1"/>
              <a:t>generate</a:t>
            </a:r>
            <a:r>
              <a:rPr lang="es-MX" dirty="0"/>
              <a:t> new </a:t>
            </a:r>
            <a:r>
              <a:rPr lang="es-MX" dirty="0" err="1"/>
              <a:t>sequences</a:t>
            </a:r>
            <a:r>
              <a:rPr lang="es-MX" dirty="0"/>
              <a:t>, </a:t>
            </a:r>
            <a:r>
              <a:rPr lang="es-MX" dirty="0" err="1"/>
              <a:t>laying</a:t>
            </a:r>
            <a:r>
              <a:rPr lang="es-MX" dirty="0"/>
              <a:t> a </a:t>
            </a:r>
            <a:r>
              <a:rPr lang="es-MX" dirty="0" err="1"/>
              <a:t>mathematical</a:t>
            </a:r>
            <a:r>
              <a:rPr lang="es-MX" dirty="0"/>
              <a:t> </a:t>
            </a:r>
            <a:r>
              <a:rPr lang="es-MX" dirty="0" err="1"/>
              <a:t>foundation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generative </a:t>
            </a:r>
            <a:r>
              <a:rPr lang="es-MX" dirty="0" err="1"/>
              <a:t>models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n-US" dirty="0"/>
              <a:t>• 2014: Deep Generative Models– Variational autoencoders (VAEs) and generative adversarial networks (GANs), introduced by Ian Goodfellow, enabled realistic image generation.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s-MX" dirty="0"/>
              <a:t>• 2017: </a:t>
            </a:r>
            <a:r>
              <a:rPr lang="es-MX" dirty="0" err="1"/>
              <a:t>Transformer</a:t>
            </a:r>
            <a:r>
              <a:rPr lang="es-MX" dirty="0"/>
              <a:t> Networks– </a:t>
            </a:r>
            <a:r>
              <a:rPr lang="es-MX" dirty="0" err="1"/>
              <a:t>Introduced</a:t>
            </a:r>
            <a:r>
              <a:rPr lang="es-MX" dirty="0"/>
              <a:t> </a:t>
            </a:r>
            <a:r>
              <a:rPr lang="es-MX" dirty="0" err="1"/>
              <a:t>by</a:t>
            </a:r>
            <a:r>
              <a:rPr lang="es-MX" dirty="0"/>
              <a:t> </a:t>
            </a:r>
            <a:r>
              <a:rPr lang="es-MX" dirty="0" err="1"/>
              <a:t>Vaswani</a:t>
            </a:r>
            <a:r>
              <a:rPr lang="es-MX" dirty="0"/>
              <a:t> et al., Transformers </a:t>
            </a:r>
            <a:r>
              <a:rPr lang="es-MX" dirty="0" err="1"/>
              <a:t>revolutionized</a:t>
            </a:r>
            <a:r>
              <a:rPr lang="es-MX" dirty="0"/>
              <a:t> natural </a:t>
            </a:r>
            <a:r>
              <a:rPr lang="es-MX" dirty="0" err="1"/>
              <a:t>language</a:t>
            </a:r>
            <a:r>
              <a:rPr lang="es-MX" dirty="0"/>
              <a:t> </a:t>
            </a:r>
            <a:r>
              <a:rPr lang="es-MX" dirty="0" err="1"/>
              <a:t>processing</a:t>
            </a:r>
            <a:r>
              <a:rPr lang="es-MX" dirty="0"/>
              <a:t>, </a:t>
            </a:r>
            <a:r>
              <a:rPr lang="es-MX" dirty="0" err="1"/>
              <a:t>outperforming</a:t>
            </a:r>
            <a:r>
              <a:rPr lang="es-MX" dirty="0"/>
              <a:t> LSTM </a:t>
            </a:r>
            <a:r>
              <a:rPr lang="es-MX" dirty="0" err="1"/>
              <a:t>models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957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C6291-8F26-D6C0-0D7E-9EB34EE9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ADF906-CC4D-CF65-821A-A81694CA6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• 2018-2019: GPT-1 and GPT-2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n-US" dirty="0"/>
              <a:t>• 2021: DALL-E– OpenAI’s DALL-E generated high-quality images from text prompts.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• 2022: Midjourney and Stable Diffusion– Democratized AI art creation, generating over 15 billion images by August 2023.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735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B5E40-D1E8-3C3E-B75E-015C551C2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101589-7886-F834-B167-1D3E270ED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• Late 2022: </a:t>
            </a:r>
            <a:r>
              <a:rPr lang="es-MX" dirty="0" err="1"/>
              <a:t>ChatGPT</a:t>
            </a:r>
            <a:r>
              <a:rPr lang="es-MX" dirty="0"/>
              <a:t>– </a:t>
            </a:r>
            <a:r>
              <a:rPr lang="es-MX" dirty="0" err="1"/>
              <a:t>OpenAI’s</a:t>
            </a:r>
            <a:r>
              <a:rPr lang="es-MX" dirty="0"/>
              <a:t> </a:t>
            </a:r>
            <a:r>
              <a:rPr lang="es-MX" dirty="0" err="1"/>
              <a:t>ChatGPT</a:t>
            </a:r>
            <a:r>
              <a:rPr lang="es-MX" dirty="0"/>
              <a:t> </a:t>
            </a:r>
            <a:r>
              <a:rPr lang="es-MX" dirty="0" err="1"/>
              <a:t>revolutionized</a:t>
            </a:r>
            <a:r>
              <a:rPr lang="es-MX" dirty="0"/>
              <a:t> </a:t>
            </a:r>
            <a:r>
              <a:rPr lang="es-MX" dirty="0" err="1"/>
              <a:t>text-based</a:t>
            </a:r>
            <a:r>
              <a:rPr lang="es-MX" dirty="0"/>
              <a:t> </a:t>
            </a:r>
            <a:r>
              <a:rPr lang="es-MX" dirty="0" err="1"/>
              <a:t>tasks</a:t>
            </a:r>
            <a:r>
              <a:rPr lang="es-MX" dirty="0"/>
              <a:t>, </a:t>
            </a:r>
            <a:r>
              <a:rPr lang="es-MX" dirty="0" err="1"/>
              <a:t>gaining</a:t>
            </a:r>
            <a:r>
              <a:rPr lang="es-MX" dirty="0"/>
              <a:t> global at </a:t>
            </a:r>
            <a:r>
              <a:rPr lang="es-MX" dirty="0" err="1"/>
              <a:t>tention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• 2023-2024: Multimodal </a:t>
            </a:r>
            <a:r>
              <a:rPr lang="es-MX" dirty="0" err="1"/>
              <a:t>Models</a:t>
            </a:r>
            <a:r>
              <a:rPr lang="es-MX" dirty="0"/>
              <a:t>– GPT4(2023), </a:t>
            </a:r>
            <a:r>
              <a:rPr lang="es-MX" dirty="0" err="1"/>
              <a:t>Meta’s</a:t>
            </a:r>
            <a:r>
              <a:rPr lang="es-MX" dirty="0"/>
              <a:t> </a:t>
            </a:r>
            <a:r>
              <a:rPr lang="es-MX" dirty="0" err="1"/>
              <a:t>ImageBind</a:t>
            </a:r>
            <a:r>
              <a:rPr lang="es-MX" dirty="0"/>
              <a:t> (2023), </a:t>
            </a:r>
            <a:r>
              <a:rPr lang="es-MX" dirty="0" err="1"/>
              <a:t>Google’s</a:t>
            </a:r>
            <a:r>
              <a:rPr lang="es-MX" dirty="0"/>
              <a:t> Gemini (2023), and </a:t>
            </a:r>
            <a:r>
              <a:rPr lang="es-MX" dirty="0" err="1"/>
              <a:t>Anthropic’s</a:t>
            </a:r>
            <a:r>
              <a:rPr lang="es-MX" dirty="0"/>
              <a:t> Claude 3.5 </a:t>
            </a:r>
            <a:r>
              <a:rPr lang="es-MX" dirty="0" err="1"/>
              <a:t>Sonnet</a:t>
            </a:r>
            <a:r>
              <a:rPr lang="es-MX" dirty="0"/>
              <a:t> (2024) </a:t>
            </a:r>
            <a:r>
              <a:rPr lang="es-MX" dirty="0" err="1"/>
              <a:t>advanced</a:t>
            </a:r>
            <a:r>
              <a:rPr lang="es-MX" dirty="0"/>
              <a:t> multimodal </a:t>
            </a:r>
            <a:r>
              <a:rPr lang="es-MX" dirty="0" err="1"/>
              <a:t>capabilities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2025-Reasoning </a:t>
            </a:r>
            <a:r>
              <a:rPr lang="es-MX" dirty="0" err="1"/>
              <a:t>Models</a:t>
            </a:r>
            <a:r>
              <a:rPr lang="es-MX" dirty="0"/>
              <a:t> and </a:t>
            </a:r>
            <a:r>
              <a:rPr lang="es-MX" dirty="0" err="1"/>
              <a:t>Agents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2559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7AC6F7-E428-BBD4-A8DF-EBAA07493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>
                <a:hlinkClick r:id="rId2"/>
              </a:rPr>
              <a:t>GANs</a:t>
            </a:r>
            <a:endParaRPr lang="es-MX" dirty="0">
              <a:hlinkClick r:id="rId2"/>
            </a:endParaRPr>
          </a:p>
          <a:p>
            <a:r>
              <a:rPr lang="es-MX" dirty="0">
                <a:hlinkClick r:id="rId2"/>
              </a:rPr>
              <a:t>https://arxiv.org/abs/1406.2661</a:t>
            </a:r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pPr marL="0" indent="0">
              <a:buNone/>
            </a:pPr>
            <a:r>
              <a:rPr lang="es-MX" dirty="0" err="1"/>
              <a:t>Attention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all</a:t>
            </a:r>
            <a:r>
              <a:rPr lang="es-MX" dirty="0"/>
              <a:t> </a:t>
            </a:r>
            <a:r>
              <a:rPr lang="es-MX" dirty="0" err="1"/>
              <a:t>you</a:t>
            </a:r>
            <a:r>
              <a:rPr lang="es-MX" dirty="0"/>
              <a:t> </a:t>
            </a:r>
            <a:r>
              <a:rPr lang="es-MX" dirty="0" err="1"/>
              <a:t>need</a:t>
            </a:r>
            <a:endParaRPr lang="es-MX" dirty="0"/>
          </a:p>
          <a:p>
            <a:r>
              <a:rPr lang="es-MX" dirty="0">
                <a:hlinkClick r:id="rId3"/>
              </a:rPr>
              <a:t>https://arxiv.org/abs/1706.03762</a:t>
            </a:r>
            <a:br>
              <a:rPr lang="es-MX" dirty="0"/>
            </a:br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pic>
        <p:nvPicPr>
          <p:cNvPr id="5" name="Imagen 4" descr="Un hombre parado enfrente de una pared&#10;&#10;El contenido generado por IA puede ser incorrecto.">
            <a:extLst>
              <a:ext uri="{FF2B5EF4-FFF2-40B4-BE49-F238E27FC236}">
                <a16:creationId xmlns:a16="http://schemas.microsoft.com/office/drawing/2014/main" id="{7BADD9F3-7CCD-4B0B-F279-C24E9B8D3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25168" y="663923"/>
            <a:ext cx="4109093" cy="232340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DF73439-31DD-0B63-E27D-FA790B039A30}"/>
              </a:ext>
            </a:extLst>
          </p:cNvPr>
          <p:cNvSpPr txBox="1"/>
          <p:nvPr/>
        </p:nvSpPr>
        <p:spPr>
          <a:xfrm>
            <a:off x="7449557" y="3420641"/>
            <a:ext cx="3113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 dirty="0">
                <a:hlinkClick r:id="rId5" tooltip="https://imshuai.com/deeplearning-ai-notes-course1-week3"/>
              </a:rPr>
              <a:t>Esta foto</a:t>
            </a:r>
            <a:r>
              <a:rPr lang="es-MX" sz="900" dirty="0"/>
              <a:t> de Autor desconocido está bajo licencia </a:t>
            </a:r>
            <a:r>
              <a:rPr lang="es-MX" sz="900" dirty="0">
                <a:hlinkClick r:id="rId6" tooltip="https://creativecommons.org/licenses/by/3.0/"/>
              </a:rPr>
              <a:t>CC BY</a:t>
            </a:r>
            <a:endParaRPr lang="es-MX" sz="900" dirty="0"/>
          </a:p>
        </p:txBody>
      </p:sp>
      <p:pic>
        <p:nvPicPr>
          <p:cNvPr id="8" name="Imagen 7" descr="Un hombre con lentes&#10;&#10;El contenido generado por IA puede ser incorrecto.">
            <a:extLst>
              <a:ext uri="{FF2B5EF4-FFF2-40B4-BE49-F238E27FC236}">
                <a16:creationId xmlns:a16="http://schemas.microsoft.com/office/drawing/2014/main" id="{01772C46-EFD4-3DAB-9837-8AAAA77E7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062" y="3718941"/>
            <a:ext cx="2874163" cy="287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75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F69A3-2B0D-0CB0-6722-766221A04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1141413"/>
            <a:ext cx="977265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Generative Ai vs non-generative AI, examples and use cases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7721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99BF8-45F0-C50E-CA9C-F07A92E6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Generative VS Discriminative </a:t>
            </a:r>
            <a:r>
              <a:rPr lang="es-CO" dirty="0" err="1"/>
              <a:t>Models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20EFCF-7D8B-9A54-0CF0-7D543117A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A Generative </a:t>
            </a:r>
            <a:r>
              <a:rPr lang="es-MX" dirty="0" err="1"/>
              <a:t>model</a:t>
            </a:r>
            <a:r>
              <a:rPr lang="en-US" dirty="0"/>
              <a:t> (G)</a:t>
            </a:r>
            <a:r>
              <a:rPr lang="es-MX" dirty="0"/>
              <a:t> </a:t>
            </a:r>
            <a:r>
              <a:rPr lang="es-MX" dirty="0" err="1"/>
              <a:t>seeks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 a data </a:t>
            </a:r>
            <a:r>
              <a:rPr lang="es-MX" dirty="0" err="1"/>
              <a:t>distribution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purpose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generate</a:t>
            </a:r>
            <a:r>
              <a:rPr lang="es-MX" dirty="0"/>
              <a:t> new </a:t>
            </a:r>
            <a:r>
              <a:rPr lang="es-MX" dirty="0" err="1"/>
              <a:t>samples</a:t>
            </a:r>
            <a:r>
              <a:rPr lang="es-MX" dirty="0"/>
              <a:t> (</a:t>
            </a:r>
            <a:r>
              <a:rPr lang="es-MX" dirty="0" err="1"/>
              <a:t>gi</a:t>
            </a:r>
            <a:r>
              <a:rPr lang="es-MX" dirty="0"/>
              <a:t>)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same</a:t>
            </a:r>
            <a:r>
              <a:rPr lang="es-MX" dirty="0"/>
              <a:t> </a:t>
            </a:r>
            <a:r>
              <a:rPr lang="es-MX" dirty="0" err="1"/>
              <a:t>distribution</a:t>
            </a:r>
            <a:r>
              <a:rPr lang="es-MX" dirty="0"/>
              <a:t> </a:t>
            </a:r>
            <a:r>
              <a:rPr lang="en-US" dirty="0"/>
              <a:t>P(X)</a:t>
            </a:r>
            <a:r>
              <a:rPr lang="es-MX" dirty="0"/>
              <a:t>. 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Training: </a:t>
            </a:r>
            <a:r>
              <a:rPr lang="es-MX" dirty="0" err="1"/>
              <a:t>Maximize</a:t>
            </a:r>
            <a:r>
              <a:rPr lang="es-MX" dirty="0"/>
              <a:t> </a:t>
            </a:r>
            <a:r>
              <a:rPr lang="es-MX" dirty="0" err="1"/>
              <a:t>likelihood</a:t>
            </a:r>
            <a:r>
              <a:rPr lang="es-MX" dirty="0"/>
              <a:t> </a:t>
            </a:r>
            <a:r>
              <a:rPr lang="es-MX" dirty="0" err="1"/>
              <a:t>max</a:t>
            </a:r>
            <a:r>
              <a:rPr lang="es-MX" dirty="0"/>
              <a:t>​</a:t>
            </a:r>
            <a:r>
              <a:rPr lang="es-MX" dirty="0" err="1"/>
              <a:t>logP</a:t>
            </a:r>
            <a:r>
              <a:rPr lang="el-GR" dirty="0"/>
              <a:t>θ​(</a:t>
            </a:r>
            <a:r>
              <a:rPr lang="es-MX" dirty="0"/>
              <a:t>X), </a:t>
            </a:r>
            <a:r>
              <a:rPr lang="en-US" dirty="0"/>
              <a:t>(G) learns to generate new samples from P(x), </a:t>
            </a:r>
            <a:r>
              <a:rPr lang="es-MX" dirty="0" err="1"/>
              <a:t>Xnew</a:t>
            </a:r>
            <a:r>
              <a:rPr lang="es-MX" dirty="0"/>
              <a:t>​∼P(X)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A0D84F-1E51-0378-7FBD-DF044C01C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075" y="4361587"/>
            <a:ext cx="69506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Bayes (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supervised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P(X))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Gaussian Mixture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VAEs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Diffusion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(GPT)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01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0C4F29-6D4C-81F1-E0D5-C924318D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4349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Discriminative </a:t>
            </a:r>
            <a:r>
              <a:rPr lang="es-MX" dirty="0" err="1"/>
              <a:t>models</a:t>
            </a:r>
            <a:r>
              <a:rPr lang="es-MX" dirty="0"/>
              <a:t> </a:t>
            </a:r>
            <a:r>
              <a:rPr lang="en-US" dirty="0"/>
              <a:t>(D) </a:t>
            </a:r>
            <a:r>
              <a:rPr lang="es-MX" dirty="0" err="1"/>
              <a:t>focus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decision</a:t>
            </a:r>
            <a:r>
              <a:rPr lang="es-MX" dirty="0"/>
              <a:t> </a:t>
            </a:r>
            <a:r>
              <a:rPr lang="es-MX" dirty="0" err="1"/>
              <a:t>boundaries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Classification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Regression</a:t>
            </a:r>
            <a:r>
              <a:rPr lang="es-MX" dirty="0"/>
              <a:t>.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n-US" dirty="0"/>
              <a:t>They learn the conditional probability P(Y∣X), where X is the input data and Y is the label or output. “Given this input, what is the correct output?”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Training: </a:t>
            </a:r>
            <a:r>
              <a:rPr lang="es-MX" dirty="0" err="1"/>
              <a:t>Maximize</a:t>
            </a:r>
            <a:r>
              <a:rPr lang="es-MX" dirty="0"/>
              <a:t> </a:t>
            </a:r>
            <a:r>
              <a:rPr lang="es-MX" dirty="0" err="1"/>
              <a:t>conditional</a:t>
            </a:r>
            <a:r>
              <a:rPr lang="es-MX" dirty="0"/>
              <a:t> </a:t>
            </a:r>
            <a:r>
              <a:rPr lang="es-MX" dirty="0" err="1"/>
              <a:t>likelihood</a:t>
            </a:r>
            <a:r>
              <a:rPr lang="en-US" dirty="0"/>
              <a:t> </a:t>
            </a:r>
            <a:r>
              <a:rPr lang="es-MX" dirty="0" err="1"/>
              <a:t>max</a:t>
            </a:r>
            <a:r>
              <a:rPr lang="es-MX" dirty="0"/>
              <a:t>​</a:t>
            </a:r>
            <a:r>
              <a:rPr lang="es-MX" dirty="0" err="1"/>
              <a:t>logP</a:t>
            </a:r>
            <a:r>
              <a:rPr lang="el-GR" dirty="0"/>
              <a:t>θ​(</a:t>
            </a:r>
            <a:r>
              <a:rPr lang="es-MX" dirty="0"/>
              <a:t>Y∣X)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7B921D-A26D-2BEA-15E8-A40498C51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4503599"/>
            <a:ext cx="286809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SVM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YOLO (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U-Net (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623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A41C0-23C8-A720-F56A-8A95523A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One</a:t>
            </a:r>
            <a:r>
              <a:rPr lang="es-MX" b="1" dirty="0"/>
              <a:t>-line </a:t>
            </a:r>
            <a:r>
              <a:rPr lang="es-MX" b="1" dirty="0" err="1"/>
              <a:t>intuition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2676642-24C0-656A-67C8-C59254DA6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2517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b="1" dirty="0"/>
                  <a:t>Generative</a:t>
                </a:r>
                <a:r>
                  <a:rPr lang="es-MX" dirty="0"/>
                  <a:t>: </a:t>
                </a:r>
                <a:r>
                  <a:rPr lang="es-MX" i="1" dirty="0"/>
                  <a:t>“</a:t>
                </a:r>
                <a:r>
                  <a:rPr lang="es-MX" i="1" dirty="0" err="1"/>
                  <a:t>What</a:t>
                </a:r>
                <a:r>
                  <a:rPr lang="es-MX" i="1" dirty="0"/>
                  <a:t> </a:t>
                </a:r>
                <a:r>
                  <a:rPr lang="es-MX" i="1" dirty="0" err="1"/>
                  <a:t>does</a:t>
                </a:r>
                <a:r>
                  <a:rPr lang="es-MX" i="1" dirty="0"/>
                  <a:t> </a:t>
                </a:r>
                <a:r>
                  <a:rPr lang="es-MX" i="1" dirty="0" err="1"/>
                  <a:t>valid</a:t>
                </a:r>
                <a:r>
                  <a:rPr lang="es-MX" i="1" dirty="0"/>
                  <a:t> data look </a:t>
                </a:r>
                <a:r>
                  <a:rPr lang="es-MX" i="1" dirty="0" err="1"/>
                  <a:t>like</a:t>
                </a:r>
                <a:r>
                  <a:rPr lang="es-MX" i="1" dirty="0"/>
                  <a:t>?”</a:t>
                </a:r>
                <a:r>
                  <a:rPr lang="es-MX" dirty="0"/>
                  <a:t> → </a:t>
                </a:r>
                <a:r>
                  <a:rPr lang="es-MX" dirty="0" err="1"/>
                  <a:t>learns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MX" b="1" dirty="0"/>
                  <a:t>Discriminative</a:t>
                </a:r>
                <a:r>
                  <a:rPr lang="es-MX" dirty="0"/>
                  <a:t>: </a:t>
                </a:r>
                <a:r>
                  <a:rPr lang="es-MX" i="1" dirty="0"/>
                  <a:t>“</a:t>
                </a:r>
                <a:r>
                  <a:rPr lang="es-MX" i="1" dirty="0" err="1"/>
                  <a:t>What</a:t>
                </a:r>
                <a:r>
                  <a:rPr lang="es-MX" i="1" dirty="0"/>
                  <a:t> </a:t>
                </a:r>
                <a:r>
                  <a:rPr lang="es-MX" i="1" dirty="0" err="1"/>
                  <a:t>label</a:t>
                </a:r>
                <a:r>
                  <a:rPr lang="es-MX" i="1" dirty="0"/>
                  <a:t> </a:t>
                </a:r>
                <a:r>
                  <a:rPr lang="es-MX" i="1" dirty="0" err="1"/>
                  <a:t>should</a:t>
                </a:r>
                <a:r>
                  <a:rPr lang="es-MX" i="1" dirty="0"/>
                  <a:t> </a:t>
                </a:r>
                <a:r>
                  <a:rPr lang="es-MX" i="1" dirty="0" err="1"/>
                  <a:t>this</a:t>
                </a:r>
                <a:r>
                  <a:rPr lang="es-MX" i="1" dirty="0"/>
                  <a:t> data </a:t>
                </a:r>
                <a:r>
                  <a:rPr lang="es-MX" i="1" dirty="0" err="1"/>
                  <a:t>get</a:t>
                </a:r>
                <a:r>
                  <a:rPr lang="es-MX" i="1" dirty="0"/>
                  <a:t>?”</a:t>
                </a:r>
                <a:r>
                  <a:rPr lang="es-MX" dirty="0"/>
                  <a:t> → </a:t>
                </a:r>
                <a:r>
                  <a:rPr lang="es-MX" dirty="0" err="1"/>
                  <a:t>learns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es-CO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2676642-24C0-656A-67C8-C59254DA6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25175" cy="4351338"/>
              </a:xfrm>
              <a:blipFill>
                <a:blip r:embed="rId2"/>
                <a:stretch>
                  <a:fillRect l="-1115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23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03BEB-4881-FCF1-F304-3CE9E3B4F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and non-generative AI differ in purpose, output, and applications:</a:t>
            </a: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3471E2C-ED5A-CBDC-CA1A-401DAC908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55" y="1969972"/>
            <a:ext cx="9164329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1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30ACB-9BBE-BD72-A946-B20FA51D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s-MX" dirty="0" err="1"/>
              <a:t>Exercise</a:t>
            </a:r>
            <a:r>
              <a:rPr lang="es-MX" dirty="0"/>
              <a:t>: </a:t>
            </a:r>
            <a:r>
              <a:rPr lang="es-MX" dirty="0" err="1"/>
              <a:t>Identifying</a:t>
            </a:r>
            <a:r>
              <a:rPr lang="es-MX" dirty="0"/>
              <a:t> Generative and Non-Generative AI </a:t>
            </a:r>
            <a:r>
              <a:rPr lang="es-MX" dirty="0" err="1"/>
              <a:t>Applications</a:t>
            </a:r>
            <a:r>
              <a:rPr lang="es-MX" dirty="0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3AA4A8-0EFC-5345-160F-2B94D7B27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24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each</a:t>
            </a:r>
            <a:r>
              <a:rPr lang="es-MX" dirty="0"/>
              <a:t> </a:t>
            </a:r>
            <a:r>
              <a:rPr lang="es-MX" dirty="0" err="1"/>
              <a:t>application</a:t>
            </a:r>
            <a:r>
              <a:rPr lang="es-MX" dirty="0"/>
              <a:t>, determine </a:t>
            </a:r>
            <a:r>
              <a:rPr lang="es-MX" dirty="0" err="1"/>
              <a:t>if</a:t>
            </a:r>
            <a:r>
              <a:rPr lang="es-MX" dirty="0"/>
              <a:t> </a:t>
            </a:r>
            <a:r>
              <a:rPr lang="es-MX" dirty="0" err="1"/>
              <a:t>it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generative </a:t>
            </a:r>
            <a:r>
              <a:rPr lang="es-MX" dirty="0" err="1"/>
              <a:t>or</a:t>
            </a:r>
            <a:r>
              <a:rPr lang="es-MX"/>
              <a:t> discriminative:</a:t>
            </a:r>
            <a:endParaRPr lang="es-MX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5289E63-8EE1-1213-E310-367303FAD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7332"/>
              </p:ext>
            </p:extLst>
          </p:nvPr>
        </p:nvGraphicFramePr>
        <p:xfrm>
          <a:off x="714703" y="2784475"/>
          <a:ext cx="11014842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497">
                  <a:extLst>
                    <a:ext uri="{9D8B030D-6E8A-4147-A177-3AD203B41FA5}">
                      <a16:colId xmlns:a16="http://schemas.microsoft.com/office/drawing/2014/main" val="4257745956"/>
                    </a:ext>
                  </a:extLst>
                </a:gridCol>
                <a:gridCol w="4414345">
                  <a:extLst>
                    <a:ext uri="{9D8B030D-6E8A-4147-A177-3AD203B41FA5}">
                      <a16:colId xmlns:a16="http://schemas.microsoft.com/office/drawing/2014/main" val="205392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 chatbot generating human-like text responses.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58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Suggests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movies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based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on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viewing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history</a:t>
                      </a:r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Non </a:t>
                      </a:r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715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Translates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text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between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languages</a:t>
                      </a:r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844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Plays Go by analyzing board positions.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Discriminative </a:t>
                      </a:r>
                      <a:r>
                        <a:rPr lang="es-CO" dirty="0" err="1"/>
                        <a:t>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047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Generates images from text descriptions.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170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Classifies emails as spam or not.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Discriminative </a:t>
                      </a:r>
                      <a:r>
                        <a:rPr lang="es-CO" dirty="0" err="1"/>
                        <a:t>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55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Makes driving decisions based on environment.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Discriminative </a:t>
                      </a:r>
                      <a:r>
                        <a:rPr lang="es-CO" dirty="0" err="1"/>
                        <a:t>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24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Suggests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text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corrections</a:t>
                      </a:r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265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Identifies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individuals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from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images</a:t>
                      </a:r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Discriminative </a:t>
                      </a:r>
                      <a:r>
                        <a:rPr lang="es-CO" dirty="0" err="1"/>
                        <a:t>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154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Generates music from text prompts.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GenAi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5661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604</Words>
  <Application>Microsoft Office PowerPoint</Application>
  <PresentationFormat>Panorámica</PresentationFormat>
  <Paragraphs>84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Tema de Office</vt:lpstr>
      <vt:lpstr>Brief history of AI and the rise of Generative AI</vt:lpstr>
      <vt:lpstr>Presentación de PowerPoint</vt:lpstr>
      <vt:lpstr>Presentación de PowerPoint</vt:lpstr>
      <vt:lpstr>Presentación de PowerPoint</vt:lpstr>
      <vt:lpstr>Presentación de PowerPoint</vt:lpstr>
      <vt:lpstr>Generative Ai vs non-generative AI, examples and use cases</vt:lpstr>
      <vt:lpstr>Generative VS Discriminative Models</vt:lpstr>
      <vt:lpstr>Presentación de PowerPoint</vt:lpstr>
      <vt:lpstr>One-line intuition</vt:lpstr>
      <vt:lpstr>Generative and non-generative AI differ in purpose, output, and applications:</vt:lpstr>
      <vt:lpstr>Exercise: Identifying Generative and Non-Generative AI Applications: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John Robert Ballesteros Parra</cp:lastModifiedBy>
  <cp:revision>32</cp:revision>
  <dcterms:created xsi:type="dcterms:W3CDTF">2025-05-14T18:27:11Z</dcterms:created>
  <dcterms:modified xsi:type="dcterms:W3CDTF">2026-02-06T16:45:19Z</dcterms:modified>
</cp:coreProperties>
</file>