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Lst>
  <p:sldSz cy="6858000" cx="12192000"/>
  <p:notesSz cx="6858000" cy="9144000"/>
  <p:embeddedFontLst>
    <p:embeddedFont>
      <p:font typeface="Play"/>
      <p:regular r:id="rId34"/>
      <p:bold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6" roundtripDataSignature="AMtx7mhu8XvWcR6Y/lEyna7IWJx4MS0pG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font" Target="fonts/Play-bold.fntdata"/><Relationship Id="rId12" Type="http://schemas.openxmlformats.org/officeDocument/2006/relationships/slide" Target="slides/slide8.xml"/><Relationship Id="rId34" Type="http://schemas.openxmlformats.org/officeDocument/2006/relationships/font" Target="fonts/Play-regular.fntdata"/><Relationship Id="rId15" Type="http://schemas.openxmlformats.org/officeDocument/2006/relationships/slide" Target="slides/slide11.xml"/><Relationship Id="rId14" Type="http://schemas.openxmlformats.org/officeDocument/2006/relationships/slide" Target="slides/slide10.xml"/><Relationship Id="rId36" Type="http://customschemas.google.com/relationships/presentationmetadata" Target="metadata"/><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1" name="Shape 11"/>
        <p:cNvGrpSpPr/>
        <p:nvPr/>
      </p:nvGrpSpPr>
      <p:grpSpPr>
        <a:xfrm>
          <a:off x="0" y="0"/>
          <a:ext cx="0" cy="0"/>
          <a:chOff x="0" y="0"/>
          <a:chExt cx="0" cy="0"/>
        </a:xfrm>
      </p:grpSpPr>
      <p:sp>
        <p:nvSpPr>
          <p:cNvPr id="12" name="Google Shape;12;p3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3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7" name="Shape 17"/>
        <p:cNvGrpSpPr/>
        <p:nvPr/>
      </p:nvGrpSpPr>
      <p:grpSpPr>
        <a:xfrm>
          <a:off x="0" y="0"/>
          <a:ext cx="0" cy="0"/>
          <a:chOff x="0" y="0"/>
          <a:chExt cx="0" cy="0"/>
        </a:xfrm>
      </p:grpSpPr>
      <p:sp>
        <p:nvSpPr>
          <p:cNvPr id="18" name="Google Shape;18;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3" name="Shape 23"/>
        <p:cNvGrpSpPr/>
        <p:nvPr/>
      </p:nvGrpSpPr>
      <p:grpSpPr>
        <a:xfrm>
          <a:off x="0" y="0"/>
          <a:ext cx="0" cy="0"/>
          <a:chOff x="0" y="0"/>
          <a:chExt cx="0" cy="0"/>
        </a:xfrm>
      </p:grpSpPr>
      <p:sp>
        <p:nvSpPr>
          <p:cNvPr id="24" name="Google Shape;24;p33"/>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33"/>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26" name="Google Shape;26;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29" name="Shape 29"/>
        <p:cNvGrpSpPr/>
        <p:nvPr/>
      </p:nvGrpSpPr>
      <p:grpSpPr>
        <a:xfrm>
          <a:off x="0" y="0"/>
          <a:ext cx="0" cy="0"/>
          <a:chOff x="0" y="0"/>
          <a:chExt cx="0" cy="0"/>
        </a:xfrm>
      </p:grpSpPr>
      <p:sp>
        <p:nvSpPr>
          <p:cNvPr id="30" name="Google Shape;30;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34"/>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34"/>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36" name="Shape 36"/>
        <p:cNvGrpSpPr/>
        <p:nvPr/>
      </p:nvGrpSpPr>
      <p:grpSpPr>
        <a:xfrm>
          <a:off x="0" y="0"/>
          <a:ext cx="0" cy="0"/>
          <a:chOff x="0" y="0"/>
          <a:chExt cx="0" cy="0"/>
        </a:xfrm>
      </p:grpSpPr>
      <p:sp>
        <p:nvSpPr>
          <p:cNvPr id="37" name="Google Shape;37;p35"/>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35"/>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35"/>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35"/>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35"/>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45" name="Shape 45"/>
        <p:cNvGrpSpPr/>
        <p:nvPr/>
      </p:nvGrpSpPr>
      <p:grpSpPr>
        <a:xfrm>
          <a:off x="0" y="0"/>
          <a:ext cx="0" cy="0"/>
          <a:chOff x="0" y="0"/>
          <a:chExt cx="0" cy="0"/>
        </a:xfrm>
      </p:grpSpPr>
      <p:sp>
        <p:nvSpPr>
          <p:cNvPr id="46" name="Google Shape;46;p3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0" name="Shape 50"/>
        <p:cNvGrpSpPr/>
        <p:nvPr/>
      </p:nvGrpSpPr>
      <p:grpSpPr>
        <a:xfrm>
          <a:off x="0" y="0"/>
          <a:ext cx="0" cy="0"/>
          <a:chOff x="0" y="0"/>
          <a:chExt cx="0" cy="0"/>
        </a:xfrm>
      </p:grpSpPr>
      <p:sp>
        <p:nvSpPr>
          <p:cNvPr id="51" name="Google Shape;51;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4" name="Shape 54"/>
        <p:cNvGrpSpPr/>
        <p:nvPr/>
      </p:nvGrpSpPr>
      <p:grpSpPr>
        <a:xfrm>
          <a:off x="0" y="0"/>
          <a:ext cx="0" cy="0"/>
          <a:chOff x="0" y="0"/>
          <a:chExt cx="0" cy="0"/>
        </a:xfrm>
      </p:grpSpPr>
      <p:sp>
        <p:nvSpPr>
          <p:cNvPr id="55" name="Google Shape;55;p3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38"/>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38"/>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1" name="Shape 61"/>
        <p:cNvGrpSpPr/>
        <p:nvPr/>
      </p:nvGrpSpPr>
      <p:grpSpPr>
        <a:xfrm>
          <a:off x="0" y="0"/>
          <a:ext cx="0" cy="0"/>
          <a:chOff x="0" y="0"/>
          <a:chExt cx="0" cy="0"/>
        </a:xfrm>
      </p:grpSpPr>
      <p:sp>
        <p:nvSpPr>
          <p:cNvPr id="62" name="Google Shape;62;p3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9"/>
          <p:cNvSpPr/>
          <p:nvPr>
            <p:ph idx="2" type="pic"/>
          </p:nvPr>
        </p:nvSpPr>
        <p:spPr>
          <a:xfrm>
            <a:off x="5183188" y="987425"/>
            <a:ext cx="6172200" cy="4873625"/>
          </a:xfrm>
          <a:prstGeom prst="rect">
            <a:avLst/>
          </a:prstGeom>
          <a:noFill/>
          <a:ln>
            <a:noFill/>
          </a:ln>
        </p:spPr>
      </p:sp>
      <p:sp>
        <p:nvSpPr>
          <p:cNvPr id="64" name="Google Shape;64;p39"/>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3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68" name="Shape 68"/>
        <p:cNvGrpSpPr/>
        <p:nvPr/>
      </p:nvGrpSpPr>
      <p:grpSpPr>
        <a:xfrm>
          <a:off x="0" y="0"/>
          <a:ext cx="0" cy="0"/>
          <a:chOff x="0" y="0"/>
          <a:chExt cx="0" cy="0"/>
        </a:xfrm>
      </p:grpSpPr>
      <p:sp>
        <p:nvSpPr>
          <p:cNvPr id="69" name="Google Shape;69;p4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40"/>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4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4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4" name="Shape 74"/>
        <p:cNvGrpSpPr/>
        <p:nvPr/>
      </p:nvGrpSpPr>
      <p:grpSpPr>
        <a:xfrm>
          <a:off x="0" y="0"/>
          <a:ext cx="0" cy="0"/>
          <a:chOff x="0" y="0"/>
          <a:chExt cx="0" cy="0"/>
        </a:xfrm>
      </p:grpSpPr>
      <p:sp>
        <p:nvSpPr>
          <p:cNvPr id="75" name="Google Shape;75;p41"/>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41"/>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4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4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3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 name="Google Shape;8;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9" name="Google Shape;9;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 name="Google Shape;10;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Arial"/>
                <a:ea typeface="Arial"/>
                <a:cs typeface="Arial"/>
                <a:sym typeface="Arial"/>
              </a:defRPr>
            </a:lvl1pPr>
            <a:lvl2pPr indent="0" lvl="1" marL="0" marR="0" rtl="0" algn="r">
              <a:spcBef>
                <a:spcPts val="0"/>
              </a:spcBef>
              <a:buNone/>
              <a:defRPr b="0" i="0" sz="1200" u="none" cap="none" strike="noStrike">
                <a:solidFill>
                  <a:srgbClr val="757575"/>
                </a:solidFill>
                <a:latin typeface="Arial"/>
                <a:ea typeface="Arial"/>
                <a:cs typeface="Arial"/>
                <a:sym typeface="Arial"/>
              </a:defRPr>
            </a:lvl2pPr>
            <a:lvl3pPr indent="0" lvl="2" marL="0" marR="0" rtl="0" algn="r">
              <a:spcBef>
                <a:spcPts val="0"/>
              </a:spcBef>
              <a:buNone/>
              <a:defRPr b="0" i="0" sz="1200" u="none" cap="none" strike="noStrike">
                <a:solidFill>
                  <a:srgbClr val="757575"/>
                </a:solidFill>
                <a:latin typeface="Arial"/>
                <a:ea typeface="Arial"/>
                <a:cs typeface="Arial"/>
                <a:sym typeface="Arial"/>
              </a:defRPr>
            </a:lvl3pPr>
            <a:lvl4pPr indent="0" lvl="3" marL="0" marR="0" rtl="0" algn="r">
              <a:spcBef>
                <a:spcPts val="0"/>
              </a:spcBef>
              <a:buNone/>
              <a:defRPr b="0" i="0" sz="1200" u="none" cap="none" strike="noStrike">
                <a:solidFill>
                  <a:srgbClr val="757575"/>
                </a:solidFill>
                <a:latin typeface="Arial"/>
                <a:ea typeface="Arial"/>
                <a:cs typeface="Arial"/>
                <a:sym typeface="Arial"/>
              </a:defRPr>
            </a:lvl4pPr>
            <a:lvl5pPr indent="0" lvl="4" marL="0" marR="0" rtl="0" algn="r">
              <a:spcBef>
                <a:spcPts val="0"/>
              </a:spcBef>
              <a:buNone/>
              <a:defRPr b="0" i="0" sz="1200" u="none" cap="none" strike="noStrike">
                <a:solidFill>
                  <a:srgbClr val="757575"/>
                </a:solidFill>
                <a:latin typeface="Arial"/>
                <a:ea typeface="Arial"/>
                <a:cs typeface="Arial"/>
                <a:sym typeface="Arial"/>
              </a:defRPr>
            </a:lvl5pPr>
            <a:lvl6pPr indent="0" lvl="5" marL="0" marR="0" rtl="0" algn="r">
              <a:spcBef>
                <a:spcPts val="0"/>
              </a:spcBef>
              <a:buNone/>
              <a:defRPr b="0" i="0" sz="1200" u="none" cap="none" strike="noStrike">
                <a:solidFill>
                  <a:srgbClr val="757575"/>
                </a:solidFill>
                <a:latin typeface="Arial"/>
                <a:ea typeface="Arial"/>
                <a:cs typeface="Arial"/>
                <a:sym typeface="Arial"/>
              </a:defRPr>
            </a:lvl6pPr>
            <a:lvl7pPr indent="0" lvl="6" marL="0" marR="0" rtl="0" algn="r">
              <a:spcBef>
                <a:spcPts val="0"/>
              </a:spcBef>
              <a:buNone/>
              <a:defRPr b="0" i="0" sz="1200" u="none" cap="none" strike="noStrike">
                <a:solidFill>
                  <a:srgbClr val="757575"/>
                </a:solidFill>
                <a:latin typeface="Arial"/>
                <a:ea typeface="Arial"/>
                <a:cs typeface="Arial"/>
                <a:sym typeface="Arial"/>
              </a:defRPr>
            </a:lvl7pPr>
            <a:lvl8pPr indent="0" lvl="7" marL="0" marR="0" rtl="0" algn="r">
              <a:spcBef>
                <a:spcPts val="0"/>
              </a:spcBef>
              <a:buNone/>
              <a:defRPr b="0" i="0" sz="1200" u="none" cap="none" strike="noStrike">
                <a:solidFill>
                  <a:srgbClr val="757575"/>
                </a:solidFill>
                <a:latin typeface="Arial"/>
                <a:ea typeface="Arial"/>
                <a:cs typeface="Arial"/>
                <a:sym typeface="Arial"/>
              </a:defRPr>
            </a:lvl8pPr>
            <a:lvl9pPr indent="0" lvl="8" marL="0" marR="0" rtl="0" algn="r">
              <a:spcBef>
                <a:spcPts val="0"/>
              </a:spcBef>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O"/>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hyperlink" Target="https://ml-site.cdn-apple.com/papers/the-illusion-of-thinking.pdf" TargetMode="External"/><Relationship Id="rId4" Type="http://schemas.openxmlformats.org/officeDocument/2006/relationships/hyperlink" Target="https://ml-site.cdn-apple.com/papers/the-illusion-of-thinking.pdf"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hyperlink" Target="https://youtu.be/8RxJJWAdbn8?si=fkSSr774TtD-EXsN" TargetMode="External"/><Relationship Id="rId4" Type="http://schemas.openxmlformats.org/officeDocument/2006/relationships/hyperlink" Target="https://arxiv.org/pdf/2301.08243" TargetMode="External"/><Relationship Id="rId5" Type="http://schemas.openxmlformats.org/officeDocument/2006/relationships/hyperlink" Target="https://arxiv.org/pdf/2506.09985"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hyperlink" Target="https://www.youtube.com/live/k82RwXqZHY8?si=BqmSoRgGhmmu_LvA"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hyperlink" Target="https://youtu.be/bDVpI23q8Zg?si=ba41DeO06OKa_f9Y"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hyperlink" Target="https://www.youtube.com/live/5MWT_doo68k?si=epgb9mDX2OSl6itT"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hyperlink" Target="https://assets.anthropic.com/m/71876fabef0f0ed4/original/reasoning_models_paper.pdf" TargetMode="External"/><Relationship Id="rId4" Type="http://schemas.openxmlformats.org/officeDocument/2006/relationships/hyperlink" Target="https://assets.anthropic.com/m/71876fabef0f0ed4/original/reasoning_models_paper.pdf" TargetMode="External"/><Relationship Id="rId5" Type="http://schemas.openxmlformats.org/officeDocument/2006/relationships/hyperlink" Target="https://assets.anthropic.com/m/71876fabef0f0ed4/original/reasoning_models_paper.pdf"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Play"/>
              <a:buNone/>
            </a:pPr>
            <a:r>
              <a:rPr lang="es-CO"/>
              <a:t>Prompt Engineering and Context Engineering</a:t>
            </a:r>
            <a:endParaRPr/>
          </a:p>
        </p:txBody>
      </p:sp>
      <p:sp>
        <p:nvSpPr>
          <p:cNvPr id="85" name="Google Shape;85;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800"/>
              <a:buNone/>
            </a:pPr>
            <a:r>
              <a:rPr lang="es-CO" sz="2800"/>
              <a:t>How to sucessfully ask the Ai</a:t>
            </a:r>
            <a:endParaRPr sz="2800"/>
          </a:p>
          <a:p>
            <a:pPr indent="0" lvl="0" marL="0" rtl="0" algn="ctr">
              <a:lnSpc>
                <a:spcPct val="90000"/>
              </a:lnSpc>
              <a:spcBef>
                <a:spcPts val="1000"/>
              </a:spcBef>
              <a:spcAft>
                <a:spcPts val="0"/>
              </a:spcAft>
              <a:buClr>
                <a:schemeClr val="dk1"/>
              </a:buClr>
              <a:buSzPts val="2400"/>
              <a:buNone/>
            </a:pPr>
            <a:r>
              <a:t/>
            </a:r>
            <a:endParaRPr/>
          </a:p>
          <a:p>
            <a:pPr indent="0" lvl="0" marL="0" rtl="0" algn="ctr">
              <a:lnSpc>
                <a:spcPct val="90000"/>
              </a:lnSpc>
              <a:spcBef>
                <a:spcPts val="1000"/>
              </a:spcBef>
              <a:spcAft>
                <a:spcPts val="0"/>
              </a:spcAft>
              <a:buClr>
                <a:schemeClr val="dk1"/>
              </a:buClr>
              <a:buSzPts val="2400"/>
              <a:buNone/>
            </a:pPr>
            <a:r>
              <a:rPr lang="es-CO"/>
              <a:t>John Ballesteros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s-CO"/>
              <a:t>Iterative Prompt Engineering</a:t>
            </a:r>
            <a:endParaRPr/>
          </a:p>
        </p:txBody>
      </p:sp>
      <p:sp>
        <p:nvSpPr>
          <p:cNvPr id="91" name="Google Shape;91;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800"/>
              <a:buNone/>
            </a:pPr>
            <a:r>
              <a:rPr lang="es-CO"/>
              <a:t>It starts with a clear, specific prompt (e.g., </a:t>
            </a:r>
            <a:r>
              <a:rPr b="1" lang="es-CO"/>
              <a:t>“Retrieve X posts on AI ethics, in 2025, excluding opinions”</a:t>
            </a:r>
            <a:r>
              <a:rPr lang="es-CO"/>
              <a:t>) to optimize DeepSearch’s real-time data access.</a:t>
            </a:r>
            <a:endParaRPr/>
          </a:p>
          <a:p>
            <a:pPr indent="0" lvl="0" marL="0" rtl="0" algn="just">
              <a:lnSpc>
                <a:spcPct val="90000"/>
              </a:lnSpc>
              <a:spcBef>
                <a:spcPts val="1000"/>
              </a:spcBef>
              <a:spcAft>
                <a:spcPts val="0"/>
              </a:spcAft>
              <a:buClr>
                <a:schemeClr val="dk1"/>
              </a:buClr>
              <a:buSzPts val="28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s-CO"/>
              <a:t>Meta Prompting</a:t>
            </a:r>
            <a:endParaRPr/>
          </a:p>
        </p:txBody>
      </p:sp>
      <p:sp>
        <p:nvSpPr>
          <p:cNvPr id="97" name="Google Shape;97;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800"/>
              <a:buNone/>
            </a:pPr>
            <a:r>
              <a:rPr lang="es-CO"/>
              <a:t>It is the process of recurring asking a LLM on how is the best way to ask it for obtaining specific results, ex. “</a:t>
            </a:r>
            <a:r>
              <a:rPr b="1" lang="es-CO"/>
              <a:t>Write me the best prompt to </a:t>
            </a:r>
            <a:r>
              <a:rPr i="1" lang="es-CO"/>
              <a:t>retrieve X posts on AI ethics, in 2025, excluding opinions</a:t>
            </a:r>
            <a:r>
              <a:rPr lang="es-CO"/>
              <a: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s-CO"/>
              <a:t>Context Engineering</a:t>
            </a:r>
            <a:endParaRPr/>
          </a:p>
        </p:txBody>
      </p:sp>
      <p:sp>
        <p:nvSpPr>
          <p:cNvPr id="103" name="Google Shape;103;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85000" lnSpcReduction="20000"/>
          </a:bodyPr>
          <a:lstStyle/>
          <a:p>
            <a:pPr indent="0" lvl="0" marL="0" rtl="0" algn="l">
              <a:lnSpc>
                <a:spcPct val="90000"/>
              </a:lnSpc>
              <a:spcBef>
                <a:spcPts val="0"/>
              </a:spcBef>
              <a:spcAft>
                <a:spcPts val="0"/>
              </a:spcAft>
              <a:buClr>
                <a:schemeClr val="dk1"/>
              </a:buClr>
              <a:buSzPct val="100000"/>
              <a:buNone/>
            </a:pPr>
            <a:r>
              <a:rPr lang="es-CO"/>
              <a:t>Providing relevant background information to effectively get the best possible results :</a:t>
            </a:r>
            <a:endParaRPr/>
          </a:p>
          <a:p>
            <a:pPr indent="0" lvl="0" marL="0" rtl="0" algn="l">
              <a:lnSpc>
                <a:spcPct val="90000"/>
              </a:lnSpc>
              <a:spcBef>
                <a:spcPts val="1000"/>
              </a:spcBef>
              <a:spcAft>
                <a:spcPts val="0"/>
              </a:spcAft>
              <a:buClr>
                <a:schemeClr val="dk1"/>
              </a:buClr>
              <a:buSzPct val="100000"/>
              <a:buNone/>
            </a:pPr>
            <a:r>
              <a:t/>
            </a:r>
            <a:endParaRPr/>
          </a:p>
          <a:p>
            <a:pPr indent="-228600" lvl="0" marL="228600" rtl="0" algn="just">
              <a:lnSpc>
                <a:spcPct val="90000"/>
              </a:lnSpc>
              <a:spcBef>
                <a:spcPts val="1000"/>
              </a:spcBef>
              <a:spcAft>
                <a:spcPts val="0"/>
              </a:spcAft>
              <a:buClr>
                <a:schemeClr val="dk1"/>
              </a:buClr>
              <a:buSzPct val="100000"/>
              <a:buFont typeface="Arial"/>
              <a:buChar char="-"/>
            </a:pPr>
            <a:r>
              <a:rPr lang="es-CO"/>
              <a:t>Setting role definitions ("You are an expert in...")</a:t>
            </a:r>
            <a:endParaRPr/>
          </a:p>
          <a:p>
            <a:pPr indent="-77470" lvl="0" marL="228600" rtl="0" algn="just">
              <a:lnSpc>
                <a:spcPct val="90000"/>
              </a:lnSpc>
              <a:spcBef>
                <a:spcPts val="1000"/>
              </a:spcBef>
              <a:spcAft>
                <a:spcPts val="0"/>
              </a:spcAft>
              <a:buClr>
                <a:schemeClr val="dk1"/>
              </a:buClr>
              <a:buSzPct val="100000"/>
              <a:buFont typeface="Arial"/>
              <a:buNone/>
            </a:pPr>
            <a:r>
              <a:t/>
            </a:r>
            <a:endParaRPr/>
          </a:p>
          <a:p>
            <a:pPr indent="-228600" lvl="0" marL="228600" rtl="0" algn="just">
              <a:lnSpc>
                <a:spcPct val="90000"/>
              </a:lnSpc>
              <a:spcBef>
                <a:spcPts val="1000"/>
              </a:spcBef>
              <a:spcAft>
                <a:spcPts val="0"/>
              </a:spcAft>
              <a:buClr>
                <a:schemeClr val="dk1"/>
              </a:buClr>
              <a:buSzPct val="100000"/>
              <a:buFont typeface="Arial"/>
              <a:buChar char="-"/>
            </a:pPr>
            <a:r>
              <a:rPr lang="es-CO"/>
              <a:t>Establishing the appropriate tone and style, behavioral guidelines, constraints and boundaries, output format requirements</a:t>
            </a:r>
            <a:endParaRPr/>
          </a:p>
          <a:p>
            <a:pPr indent="-77470" lvl="0" marL="228600" rtl="0" algn="l">
              <a:lnSpc>
                <a:spcPct val="90000"/>
              </a:lnSpc>
              <a:spcBef>
                <a:spcPts val="1000"/>
              </a:spcBef>
              <a:spcAft>
                <a:spcPts val="0"/>
              </a:spcAft>
              <a:buClr>
                <a:schemeClr val="dk1"/>
              </a:buClr>
              <a:buSzPct val="100000"/>
              <a:buFont typeface="Arial"/>
              <a:buNone/>
            </a:pPr>
            <a:r>
              <a:t/>
            </a:r>
            <a:endParaRPr/>
          </a:p>
          <a:p>
            <a:pPr indent="-228600" lvl="0" marL="228600" rtl="0" algn="l">
              <a:lnSpc>
                <a:spcPct val="90000"/>
              </a:lnSpc>
              <a:spcBef>
                <a:spcPts val="1000"/>
              </a:spcBef>
              <a:spcAft>
                <a:spcPts val="0"/>
              </a:spcAft>
              <a:buClr>
                <a:schemeClr val="dk1"/>
              </a:buClr>
              <a:buSzPct val="100000"/>
              <a:buFont typeface="Arial"/>
              <a:buChar char="-"/>
            </a:pPr>
            <a:r>
              <a:rPr lang="es-CO"/>
              <a:t>Providing relevant background information and examples</a:t>
            </a:r>
            <a:endParaRPr/>
          </a:p>
          <a:p>
            <a:pPr indent="-77470" lvl="0" marL="228600" rtl="0" algn="l">
              <a:lnSpc>
                <a:spcPct val="90000"/>
              </a:lnSpc>
              <a:spcBef>
                <a:spcPts val="1000"/>
              </a:spcBef>
              <a:spcAft>
                <a:spcPts val="0"/>
              </a:spcAft>
              <a:buClr>
                <a:schemeClr val="dk1"/>
              </a:buClr>
              <a:buSzPct val="100000"/>
              <a:buFont typeface="Arial"/>
              <a:buNone/>
            </a:pPr>
            <a:r>
              <a:t/>
            </a:r>
            <a:endParaRPr/>
          </a:p>
          <a:p>
            <a:pPr indent="-228600" lvl="0" marL="228600" rtl="0" algn="l">
              <a:lnSpc>
                <a:spcPct val="90000"/>
              </a:lnSpc>
              <a:spcBef>
                <a:spcPts val="1000"/>
              </a:spcBef>
              <a:spcAft>
                <a:spcPts val="0"/>
              </a:spcAft>
              <a:buClr>
                <a:schemeClr val="dk1"/>
              </a:buClr>
              <a:buSzPct val="100000"/>
              <a:buFont typeface="Arial"/>
              <a:buChar char="-"/>
            </a:pPr>
            <a:r>
              <a:rPr lang="es-CO"/>
              <a:t>CoT: Encouraging step-by-step reasoning, breaking complex problems into stages, making the model's reasoning process explicit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s-CO"/>
              <a:t>LLM Use Modes</a:t>
            </a:r>
            <a:endParaRPr/>
          </a:p>
        </p:txBody>
      </p:sp>
      <p:sp>
        <p:nvSpPr>
          <p:cNvPr id="109" name="Google Shape;109;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Char char="•"/>
            </a:pPr>
            <a:r>
              <a:rPr lang="es-CO"/>
              <a:t>DeepSearch or DeepResearch: iteratively searches the web to provide accurate, current responses.</a:t>
            </a:r>
            <a:endParaRPr/>
          </a:p>
          <a:p>
            <a:pPr indent="-50800" lvl="0" marL="228600" rtl="0" algn="just">
              <a:lnSpc>
                <a:spcPct val="90000"/>
              </a:lnSpc>
              <a:spcBef>
                <a:spcPts val="1000"/>
              </a:spcBef>
              <a:spcAft>
                <a:spcPts val="0"/>
              </a:spcAft>
              <a:buClr>
                <a:schemeClr val="dk1"/>
              </a:buClr>
              <a:buSzPts val="2800"/>
              <a:buNone/>
            </a:pPr>
            <a:r>
              <a:t/>
            </a:r>
            <a:endParaRPr/>
          </a:p>
          <a:p>
            <a:pPr indent="-228600" lvl="0" marL="228600" rtl="0" algn="just">
              <a:lnSpc>
                <a:spcPct val="90000"/>
              </a:lnSpc>
              <a:spcBef>
                <a:spcPts val="1000"/>
              </a:spcBef>
              <a:spcAft>
                <a:spcPts val="0"/>
              </a:spcAft>
              <a:buClr>
                <a:schemeClr val="dk1"/>
              </a:buClr>
              <a:buSzPts val="2800"/>
              <a:buChar char="•"/>
            </a:pPr>
            <a:r>
              <a:rPr lang="es-CO"/>
              <a:t>Think, Plan or Reasoning: enables deliberate reasoning, enhancing accuracy for complex tasks, unlike standard response modes.</a:t>
            </a:r>
            <a:endParaRPr/>
          </a:p>
          <a:p>
            <a:pPr indent="0" lvl="0" marL="0" rtl="0" algn="just">
              <a:lnSpc>
                <a:spcPct val="90000"/>
              </a:lnSpc>
              <a:spcBef>
                <a:spcPts val="1000"/>
              </a:spcBef>
              <a:spcAft>
                <a:spcPts val="0"/>
              </a:spcAft>
              <a:buClr>
                <a:schemeClr val="dk1"/>
              </a:buClr>
              <a:buSzPts val="2800"/>
              <a:buNone/>
            </a:pPr>
            <a:r>
              <a:t/>
            </a:r>
            <a:endParaRPr/>
          </a:p>
          <a:p>
            <a:pPr indent="-50800" lvl="0" marL="228600" rtl="0" algn="just">
              <a:lnSpc>
                <a:spcPct val="90000"/>
              </a:lnSpc>
              <a:spcBef>
                <a:spcPts val="1000"/>
              </a:spcBef>
              <a:spcAft>
                <a:spcPts val="0"/>
              </a:spcAft>
              <a:buClr>
                <a:schemeClr val="dk1"/>
              </a:buClr>
              <a:buSzPts val="2800"/>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pic>
        <p:nvPicPr>
          <p:cNvPr id="114" name="Google Shape;114;p6"/>
          <p:cNvPicPr preferRelativeResize="0"/>
          <p:nvPr/>
        </p:nvPicPr>
        <p:blipFill rotWithShape="1">
          <a:blip r:embed="rId3">
            <a:alphaModFix/>
          </a:blip>
          <a:srcRect b="0" l="0" r="0" t="0"/>
          <a:stretch/>
        </p:blipFill>
        <p:spPr>
          <a:xfrm>
            <a:off x="0" y="25029"/>
            <a:ext cx="12192000" cy="680794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7"/>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Play"/>
              <a:buNone/>
            </a:pPr>
            <a:r>
              <a:rPr lang="es-CO"/>
              <a:t>Optimization and Reasoning LLMs</a:t>
            </a:r>
            <a:endParaRPr/>
          </a:p>
        </p:txBody>
      </p:sp>
      <p:sp>
        <p:nvSpPr>
          <p:cNvPr id="120" name="Google Shape;120;p7"/>
          <p:cNvSpPr txBox="1"/>
          <p:nvPr>
            <p:ph idx="1" type="subTitle"/>
          </p:nvPr>
        </p:nvSpPr>
        <p:spPr>
          <a:xfrm>
            <a:off x="1524000" y="38687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800"/>
              <a:buNone/>
            </a:pPr>
            <a:r>
              <a:rPr lang="es-CO" sz="2800"/>
              <a:t>Lowering computing power and memory and improving efficiency</a:t>
            </a:r>
            <a:endParaRPr sz="28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b="1" lang="es-CO"/>
              <a:t>Retrieval Augmented Generation (RAG)</a:t>
            </a:r>
            <a:endParaRPr b="1"/>
          </a:p>
        </p:txBody>
      </p:sp>
      <p:sp>
        <p:nvSpPr>
          <p:cNvPr id="126" name="Google Shape;126;p8"/>
          <p:cNvSpPr txBox="1"/>
          <p:nvPr>
            <p:ph idx="1" type="body"/>
          </p:nvPr>
        </p:nvSpPr>
        <p:spPr>
          <a:xfrm>
            <a:off x="838200" y="1762125"/>
            <a:ext cx="10163175" cy="4505325"/>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800"/>
              <a:buNone/>
            </a:pPr>
            <a:r>
              <a:rPr lang="es-CO"/>
              <a:t>It’s designed to improve LLM outputs (less hallucinations) allowing them to use up to date and  authorized information.</a:t>
            </a:r>
            <a:endParaRPr/>
          </a:p>
          <a:p>
            <a:pPr indent="0" lvl="0" marL="0" rtl="0" algn="just">
              <a:lnSpc>
                <a:spcPct val="90000"/>
              </a:lnSpc>
              <a:spcBef>
                <a:spcPts val="1000"/>
              </a:spcBef>
              <a:spcAft>
                <a:spcPts val="0"/>
              </a:spcAft>
              <a:buClr>
                <a:schemeClr val="dk1"/>
              </a:buClr>
              <a:buSzPts val="2800"/>
              <a:buNone/>
            </a:pPr>
            <a:r>
              <a:t/>
            </a:r>
            <a:endParaRPr/>
          </a:p>
          <a:p>
            <a:pPr indent="-514350" lvl="0" marL="514350" rtl="0" algn="just">
              <a:lnSpc>
                <a:spcPct val="90000"/>
              </a:lnSpc>
              <a:spcBef>
                <a:spcPts val="1000"/>
              </a:spcBef>
              <a:spcAft>
                <a:spcPts val="0"/>
              </a:spcAft>
              <a:buClr>
                <a:schemeClr val="dk1"/>
              </a:buClr>
              <a:buSzPts val="2800"/>
              <a:buAutoNum type="arabicPeriod"/>
            </a:pPr>
            <a:r>
              <a:rPr lang="es-CO"/>
              <a:t>Retrieves information from additional sources (DB, Internet)</a:t>
            </a:r>
            <a:endParaRPr/>
          </a:p>
          <a:p>
            <a:pPr indent="-336550" lvl="0" marL="514350" rtl="0" algn="just">
              <a:lnSpc>
                <a:spcPct val="90000"/>
              </a:lnSpc>
              <a:spcBef>
                <a:spcPts val="1000"/>
              </a:spcBef>
              <a:spcAft>
                <a:spcPts val="0"/>
              </a:spcAft>
              <a:buClr>
                <a:schemeClr val="dk1"/>
              </a:buClr>
              <a:buSzPts val="2800"/>
              <a:buNone/>
            </a:pPr>
            <a:r>
              <a:t/>
            </a:r>
            <a:endParaRPr/>
          </a:p>
          <a:p>
            <a:pPr indent="-514350" lvl="0" marL="514350" rtl="0" algn="just">
              <a:lnSpc>
                <a:spcPct val="90000"/>
              </a:lnSpc>
              <a:spcBef>
                <a:spcPts val="1000"/>
              </a:spcBef>
              <a:spcAft>
                <a:spcPts val="0"/>
              </a:spcAft>
              <a:buClr>
                <a:schemeClr val="dk1"/>
              </a:buClr>
              <a:buSzPts val="2800"/>
              <a:buAutoNum type="arabicPeriod"/>
            </a:pPr>
            <a:r>
              <a:rPr lang="es-CO"/>
              <a:t>Use it as additional context (augment)</a:t>
            </a:r>
            <a:endParaRPr/>
          </a:p>
          <a:p>
            <a:pPr indent="-336550" lvl="0" marL="514350" rtl="0" algn="just">
              <a:lnSpc>
                <a:spcPct val="90000"/>
              </a:lnSpc>
              <a:spcBef>
                <a:spcPts val="1000"/>
              </a:spcBef>
              <a:spcAft>
                <a:spcPts val="0"/>
              </a:spcAft>
              <a:buClr>
                <a:schemeClr val="dk1"/>
              </a:buClr>
              <a:buSzPts val="2800"/>
              <a:buNone/>
            </a:pPr>
            <a:r>
              <a:t/>
            </a:r>
            <a:endParaRPr/>
          </a:p>
          <a:p>
            <a:pPr indent="-514350" lvl="0" marL="514350" rtl="0" algn="just">
              <a:lnSpc>
                <a:spcPct val="90000"/>
              </a:lnSpc>
              <a:spcBef>
                <a:spcPts val="1000"/>
              </a:spcBef>
              <a:spcAft>
                <a:spcPts val="0"/>
              </a:spcAft>
              <a:buClr>
                <a:schemeClr val="dk1"/>
              </a:buClr>
              <a:buSzPts val="2800"/>
              <a:buAutoNum type="arabicPeriod"/>
            </a:pPr>
            <a:r>
              <a:rPr lang="es-CO"/>
              <a:t>Generates the output with the provided info in mind.</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pic>
        <p:nvPicPr>
          <p:cNvPr id="131" name="Google Shape;131;p9"/>
          <p:cNvPicPr preferRelativeResize="0"/>
          <p:nvPr/>
        </p:nvPicPr>
        <p:blipFill rotWithShape="1">
          <a:blip r:embed="rId3">
            <a:alphaModFix/>
          </a:blip>
          <a:srcRect b="8378" l="1084" r="1217" t="4573"/>
          <a:stretch/>
        </p:blipFill>
        <p:spPr>
          <a:xfrm>
            <a:off x="970786" y="1"/>
            <a:ext cx="10250435" cy="6785042"/>
          </a:xfrm>
          <a:prstGeom prst="rect">
            <a:avLst/>
          </a:prstGeom>
          <a:noFill/>
          <a:ln>
            <a:noFill/>
          </a:ln>
        </p:spPr>
      </p:pic>
      <p:sp>
        <p:nvSpPr>
          <p:cNvPr id="132" name="Google Shape;132;p9"/>
          <p:cNvSpPr txBox="1"/>
          <p:nvPr/>
        </p:nvSpPr>
        <p:spPr>
          <a:xfrm>
            <a:off x="7753350" y="6296024"/>
            <a:ext cx="383857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s-CO" sz="1800" u="none" cap="none" strike="noStrike">
                <a:solidFill>
                  <a:schemeClr val="dk1"/>
                </a:solidFill>
                <a:latin typeface="Arial"/>
                <a:ea typeface="Arial"/>
                <a:cs typeface="Arial"/>
                <a:sym typeface="Arial"/>
              </a:rPr>
              <a:t>OpenAi, Technical Guide, 2024</a:t>
            </a:r>
            <a:endParaRPr sz="1800">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b="1" lang="es-CO"/>
              <a:t>Quantization</a:t>
            </a:r>
            <a:endParaRPr b="1"/>
          </a:p>
        </p:txBody>
      </p:sp>
      <p:sp>
        <p:nvSpPr>
          <p:cNvPr id="138" name="Google Shape;138;p1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800"/>
              <a:buNone/>
            </a:pPr>
            <a:r>
              <a:rPr lang="es-CO"/>
              <a:t>Used to reduce the size of the model file (up to 50%) and the inference time (miliseconds), it is done by changing </a:t>
            </a:r>
            <a:endParaRPr/>
          </a:p>
          <a:p>
            <a:pPr indent="-50800" lvl="0" marL="228600" rtl="0" algn="just">
              <a:lnSpc>
                <a:spcPct val="90000"/>
              </a:lnSpc>
              <a:spcBef>
                <a:spcPts val="1000"/>
              </a:spcBef>
              <a:spcAft>
                <a:spcPts val="0"/>
              </a:spcAft>
              <a:buClr>
                <a:schemeClr val="dk1"/>
              </a:buClr>
              <a:buSzPts val="2800"/>
              <a:buNone/>
            </a:pPr>
            <a:r>
              <a:t/>
            </a:r>
            <a:endParaRPr/>
          </a:p>
          <a:p>
            <a:pPr indent="-228600" lvl="0" marL="228600" rtl="0" algn="just">
              <a:lnSpc>
                <a:spcPct val="90000"/>
              </a:lnSpc>
              <a:spcBef>
                <a:spcPts val="1000"/>
              </a:spcBef>
              <a:spcAft>
                <a:spcPts val="0"/>
              </a:spcAft>
              <a:buClr>
                <a:schemeClr val="dk1"/>
              </a:buClr>
              <a:buSzPts val="2800"/>
              <a:buChar char="•"/>
            </a:pPr>
            <a:r>
              <a:rPr b="1" lang="es-CO"/>
              <a:t>During Training: </a:t>
            </a:r>
            <a:r>
              <a:rPr lang="es-CO"/>
              <a:t>more complex and extra dataset is needed</a:t>
            </a:r>
            <a:endParaRPr/>
          </a:p>
          <a:p>
            <a:pPr indent="-50800" lvl="0" marL="228600" rtl="0" algn="just">
              <a:lnSpc>
                <a:spcPct val="90000"/>
              </a:lnSpc>
              <a:spcBef>
                <a:spcPts val="1000"/>
              </a:spcBef>
              <a:spcAft>
                <a:spcPts val="0"/>
              </a:spcAft>
              <a:buClr>
                <a:schemeClr val="dk1"/>
              </a:buClr>
              <a:buSzPts val="2800"/>
              <a:buNone/>
            </a:pPr>
            <a:r>
              <a:t/>
            </a:r>
            <a:endParaRPr/>
          </a:p>
          <a:p>
            <a:pPr indent="-228600" lvl="0" marL="228600" rtl="0" algn="just">
              <a:lnSpc>
                <a:spcPct val="90000"/>
              </a:lnSpc>
              <a:spcBef>
                <a:spcPts val="1000"/>
              </a:spcBef>
              <a:spcAft>
                <a:spcPts val="0"/>
              </a:spcAft>
              <a:buClr>
                <a:schemeClr val="dk1"/>
              </a:buClr>
              <a:buSzPts val="2800"/>
              <a:buChar char="•"/>
            </a:pPr>
            <a:r>
              <a:rPr b="1" lang="es-CO"/>
              <a:t>Post Training: </a:t>
            </a:r>
            <a:r>
              <a:rPr lang="es-CO"/>
              <a:t>once the model is created, it is the conversion of numbers precision from fp32, to INT8 or even 4bit.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b="1" lang="es-CO"/>
              <a:t>Pruning</a:t>
            </a:r>
            <a:endParaRPr b="1"/>
          </a:p>
        </p:txBody>
      </p:sp>
      <p:sp>
        <p:nvSpPr>
          <p:cNvPr id="144" name="Google Shape;144;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800"/>
              <a:buNone/>
            </a:pPr>
            <a:r>
              <a:rPr lang="es-CO"/>
              <a:t>Reduces the size of the model by eliminating neurons, attention heads, convolutions kernels, and even entire layers, based on their importance. It can reduce from 8B to 4B, Microsoft’s Phi models are examples (SLM).</a:t>
            </a:r>
            <a:endParaRPr/>
          </a:p>
          <a:p>
            <a:pPr indent="0" lvl="0" marL="0" rtl="0" algn="just">
              <a:lnSpc>
                <a:spcPct val="90000"/>
              </a:lnSpc>
              <a:spcBef>
                <a:spcPts val="1000"/>
              </a:spcBef>
              <a:spcAft>
                <a:spcPts val="0"/>
              </a:spcAft>
              <a:buClr>
                <a:schemeClr val="dk1"/>
              </a:buClr>
              <a:buSzPts val="2800"/>
              <a:buNone/>
            </a:pPr>
            <a:r>
              <a:t/>
            </a:r>
            <a:endParaRPr/>
          </a:p>
          <a:p>
            <a:pPr indent="0" lvl="0" marL="0" rtl="0" algn="just">
              <a:lnSpc>
                <a:spcPct val="90000"/>
              </a:lnSpc>
              <a:spcBef>
                <a:spcPts val="1000"/>
              </a:spcBef>
              <a:spcAft>
                <a:spcPts val="0"/>
              </a:spcAft>
              <a:buClr>
                <a:schemeClr val="dk1"/>
              </a:buClr>
              <a:buSzPts val="2800"/>
              <a:buNone/>
            </a:pPr>
            <a:r>
              <a:rPr lang="es-CO"/>
              <a:t>It is used in tandem with the </a:t>
            </a:r>
            <a:r>
              <a:rPr b="1" i="1" lang="es-CO"/>
              <a:t>Knowledge Destillation </a:t>
            </a:r>
            <a:r>
              <a:rPr lang="es-CO"/>
              <a:t>technique.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b="1" lang="es-CO"/>
              <a:t>Destillation (KD)</a:t>
            </a:r>
            <a:endParaRPr b="1"/>
          </a:p>
        </p:txBody>
      </p:sp>
      <p:sp>
        <p:nvSpPr>
          <p:cNvPr id="150" name="Google Shape;150;p1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s-CO"/>
              <a:t>Use knowledge transfer from a larger and precise model (Master) to a smaller and simpler model (Student).</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rPr lang="es-CO"/>
              <a:t>The student is forced to imitate the output and intermediate state of the master by minimizing the Kullback-Lieber divergence between them in the logits (un-normalized values).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b="1" lang="es-CO"/>
              <a:t>Reinforcement Learning, RLAIF and RLHF</a:t>
            </a:r>
            <a:endParaRPr b="1"/>
          </a:p>
        </p:txBody>
      </p:sp>
      <p:sp>
        <p:nvSpPr>
          <p:cNvPr id="156" name="Google Shape;156;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800"/>
              <a:buNone/>
            </a:pPr>
            <a:r>
              <a:rPr lang="es-CO"/>
              <a:t>They seek to align LLM responses to human preferences and improve performance of LLMs.</a:t>
            </a:r>
            <a:endParaRPr/>
          </a:p>
          <a:p>
            <a:pPr indent="0" lvl="0" marL="0" rtl="0" algn="just">
              <a:lnSpc>
                <a:spcPct val="90000"/>
              </a:lnSpc>
              <a:spcBef>
                <a:spcPts val="1000"/>
              </a:spcBef>
              <a:spcAft>
                <a:spcPts val="0"/>
              </a:spcAft>
              <a:buClr>
                <a:schemeClr val="dk1"/>
              </a:buClr>
              <a:buSzPts val="2800"/>
              <a:buNone/>
            </a:pPr>
            <a:r>
              <a:t/>
            </a:r>
            <a:endParaRPr/>
          </a:p>
          <a:p>
            <a:pPr indent="0" lvl="0" marL="0" rtl="0" algn="just">
              <a:lnSpc>
                <a:spcPct val="90000"/>
              </a:lnSpc>
              <a:spcBef>
                <a:spcPts val="1000"/>
              </a:spcBef>
              <a:spcAft>
                <a:spcPts val="0"/>
              </a:spcAft>
              <a:buClr>
                <a:schemeClr val="dk1"/>
              </a:buClr>
              <a:buSzPts val="2800"/>
              <a:buNone/>
            </a:pPr>
            <a:r>
              <a:rPr lang="es-CO"/>
              <a:t>AIF or HF compare and choose from different outputs of a model training a new Rmodel that gives a higher scalar value to beter answers. These values are used to fit the initial model in a way to maximize the rewards by the Proximal Policy Optimization (PPO).</a:t>
            </a:r>
            <a:endParaRPr/>
          </a:p>
          <a:p>
            <a:pPr indent="0" lvl="0" marL="0" rtl="0" algn="just">
              <a:lnSpc>
                <a:spcPct val="90000"/>
              </a:lnSpc>
              <a:spcBef>
                <a:spcPts val="1000"/>
              </a:spcBef>
              <a:spcAft>
                <a:spcPts val="0"/>
              </a:spcAft>
              <a:buClr>
                <a:schemeClr val="dk1"/>
              </a:buClr>
              <a:buSzPts val="2800"/>
              <a:buNone/>
            </a:pPr>
            <a:r>
              <a:t/>
            </a:r>
            <a:endParaRPr/>
          </a:p>
          <a:p>
            <a:pPr indent="0" lvl="0" marL="0" rtl="0" algn="just">
              <a:lnSpc>
                <a:spcPct val="90000"/>
              </a:lnSpc>
              <a:spcBef>
                <a:spcPts val="1000"/>
              </a:spcBef>
              <a:spcAft>
                <a:spcPts val="0"/>
              </a:spcAft>
              <a:buClr>
                <a:schemeClr val="dk1"/>
              </a:buClr>
              <a:buSzPts val="2800"/>
              <a:buNone/>
            </a:pPr>
            <a:r>
              <a:t/>
            </a:r>
            <a:endParaRPr/>
          </a:p>
          <a:p>
            <a:pPr indent="0" lvl="0" marL="0" rtl="0" algn="just">
              <a:lnSpc>
                <a:spcPct val="90000"/>
              </a:lnSpc>
              <a:spcBef>
                <a:spcPts val="1000"/>
              </a:spcBef>
              <a:spcAft>
                <a:spcPts val="0"/>
              </a:spcAft>
              <a:buClr>
                <a:schemeClr val="dk1"/>
              </a:buClr>
              <a:buSzPts val="2800"/>
              <a:buNone/>
            </a:pPr>
            <a:r>
              <a:t/>
            </a:r>
            <a:endParaRPr/>
          </a:p>
          <a:p>
            <a:pPr indent="0" lvl="0" marL="0" rtl="0" algn="just">
              <a:lnSpc>
                <a:spcPct val="90000"/>
              </a:lnSpc>
              <a:spcBef>
                <a:spcPts val="1000"/>
              </a:spcBef>
              <a:spcAft>
                <a:spcPts val="0"/>
              </a:spcAft>
              <a:buClr>
                <a:schemeClr val="dk1"/>
              </a:buClr>
              <a:buSzPts val="2800"/>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4"/>
          <p:cNvSpPr txBox="1"/>
          <p:nvPr>
            <p:ph type="ctrTitle"/>
          </p:nvPr>
        </p:nvSpPr>
        <p:spPr>
          <a:xfrm>
            <a:off x="1447800" y="1560513"/>
            <a:ext cx="9144000" cy="2387600"/>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Play"/>
              <a:buNone/>
            </a:pPr>
            <a:r>
              <a:rPr lang="es-CO"/>
              <a:t>From Gen AI to AgenticAi to AGI</a:t>
            </a:r>
            <a:br>
              <a:rPr lang="es-CO"/>
            </a:br>
            <a:br>
              <a:rPr lang="es-CO"/>
            </a:br>
            <a:endParaRPr/>
          </a:p>
        </p:txBody>
      </p:sp>
      <p:sp>
        <p:nvSpPr>
          <p:cNvPr id="162" name="Google Shape;162;p14"/>
          <p:cNvSpPr txBox="1"/>
          <p:nvPr>
            <p:ph idx="1" type="subTitle"/>
          </p:nvPr>
        </p:nvSpPr>
        <p:spPr>
          <a:xfrm>
            <a:off x="1524000" y="2601119"/>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s-CO"/>
              <a:t>Silicon Valley’s Tech Companies Diverse Perspectives on AI</a:t>
            </a:r>
            <a:endParaRPr/>
          </a:p>
        </p:txBody>
      </p:sp>
      <p:sp>
        <p:nvSpPr>
          <p:cNvPr id="163" name="Google Shape;163;p14"/>
          <p:cNvSpPr txBox="1"/>
          <p:nvPr/>
        </p:nvSpPr>
        <p:spPr>
          <a:xfrm>
            <a:off x="3048000" y="3244334"/>
            <a:ext cx="6096000" cy="107721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CO" sz="3200">
                <a:solidFill>
                  <a:schemeClr val="dk1"/>
                </a:solidFill>
                <a:latin typeface="Arial"/>
                <a:ea typeface="Arial"/>
                <a:cs typeface="Arial"/>
                <a:sym typeface="Arial"/>
              </a:rPr>
              <a:t>John Ballesteros</a:t>
            </a:r>
            <a:endParaRPr/>
          </a:p>
          <a:p>
            <a:pPr indent="0" lvl="0" marL="0" marR="0" rtl="0" algn="ctr">
              <a:spcBef>
                <a:spcPts val="0"/>
              </a:spcBef>
              <a:spcAft>
                <a:spcPts val="0"/>
              </a:spcAft>
              <a:buNone/>
            </a:pPr>
            <a:r>
              <a:rPr lang="es-CO" sz="3200">
                <a:solidFill>
                  <a:schemeClr val="dk1"/>
                </a:solidFill>
                <a:latin typeface="Arial"/>
                <a:ea typeface="Arial"/>
                <a:cs typeface="Arial"/>
                <a:sym typeface="Arial"/>
              </a:rPr>
              <a:t>jballes@unal.edu.co</a:t>
            </a:r>
            <a:endParaRPr sz="3200">
              <a:solidFill>
                <a:schemeClr val="dk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s-CO"/>
              <a:t>Introduction</a:t>
            </a:r>
            <a:endParaRPr/>
          </a:p>
        </p:txBody>
      </p:sp>
      <p:sp>
        <p:nvSpPr>
          <p:cNvPr id="169" name="Google Shape;169;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Char char="•"/>
            </a:pPr>
            <a:r>
              <a:rPr lang="es-CO"/>
              <a:t>Explore the AI strategies of Apple, Meta, Nvidia, Google, and OpenAI, highlighting skepticism, ambition, and innovation.</a:t>
            </a:r>
            <a:endParaRPr/>
          </a:p>
          <a:p>
            <a:pPr indent="-50800" lvl="0" marL="228600" rtl="0" algn="just">
              <a:lnSpc>
                <a:spcPct val="90000"/>
              </a:lnSpc>
              <a:spcBef>
                <a:spcPts val="1000"/>
              </a:spcBef>
              <a:spcAft>
                <a:spcPts val="0"/>
              </a:spcAft>
              <a:buClr>
                <a:schemeClr val="dk1"/>
              </a:buClr>
              <a:buSzPts val="2800"/>
              <a:buNone/>
            </a:pPr>
            <a:r>
              <a:t/>
            </a:r>
            <a:endParaRPr/>
          </a:p>
          <a:p>
            <a:pPr indent="-228600" lvl="0" marL="228600" rtl="0" algn="just">
              <a:lnSpc>
                <a:spcPct val="90000"/>
              </a:lnSpc>
              <a:spcBef>
                <a:spcPts val="1000"/>
              </a:spcBef>
              <a:spcAft>
                <a:spcPts val="0"/>
              </a:spcAft>
              <a:buClr>
                <a:schemeClr val="dk1"/>
              </a:buClr>
              <a:buSzPts val="2800"/>
              <a:buChar char="•"/>
            </a:pPr>
            <a:r>
              <a:rPr lang="es-CO"/>
              <a:t>Understanding these perspectives shapes our view of AI’s future, risks, and societal impact.</a:t>
            </a:r>
            <a:endParaRPr/>
          </a:p>
          <a:p>
            <a:pPr indent="-50800" lvl="0" marL="228600" rtl="0" algn="just">
              <a:lnSpc>
                <a:spcPct val="90000"/>
              </a:lnSpc>
              <a:spcBef>
                <a:spcPts val="1000"/>
              </a:spcBef>
              <a:spcAft>
                <a:spcPts val="0"/>
              </a:spcAft>
              <a:buClr>
                <a:schemeClr val="dk1"/>
              </a:buClr>
              <a:buSzPts val="2800"/>
              <a:buNone/>
            </a:pPr>
            <a:r>
              <a:t/>
            </a:r>
            <a:endParaRPr/>
          </a:p>
          <a:p>
            <a:pPr indent="-50800" lvl="0" marL="228600" rtl="0" algn="just">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s-CO"/>
              <a:t>Apple: Skeptical and Cautious</a:t>
            </a:r>
            <a:endParaRPr/>
          </a:p>
        </p:txBody>
      </p:sp>
      <p:sp>
        <p:nvSpPr>
          <p:cNvPr id="175" name="Google Shape;175;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Char char="•"/>
            </a:pPr>
            <a:r>
              <a:rPr lang="es-CO"/>
              <a:t>Apple is “enemy” of overhyped AI claims, particularly AGI via large language models (LLMs).</a:t>
            </a:r>
            <a:endParaRPr/>
          </a:p>
          <a:p>
            <a:pPr indent="0" lvl="0" marL="0" rtl="0" algn="just">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s-CO"/>
              <a:t>Approach: Focuses on efficient, practical AI (e.g., OpenELM, a small open-source model).</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s-CO"/>
              <a:t>Prioritizes privacy and on-device AI (e.g., Apple Intelligence).</a:t>
            </a:r>
            <a:endParaRPr/>
          </a:p>
          <a:p>
            <a:pPr indent="0" lvl="0" marL="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s-CO"/>
              <a:t>Advocating for grounded, user-centric AI solutions.</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just">
              <a:lnSpc>
                <a:spcPct val="90000"/>
              </a:lnSpc>
              <a:spcBef>
                <a:spcPts val="1000"/>
              </a:spcBef>
              <a:spcAft>
                <a:spcPts val="0"/>
              </a:spcAft>
              <a:buClr>
                <a:schemeClr val="dk1"/>
              </a:buClr>
              <a:buSzPts val="2800"/>
              <a:buNone/>
            </a:pPr>
            <a:r>
              <a:t/>
            </a:r>
            <a:endParaRPr/>
          </a:p>
          <a:p>
            <a:pPr indent="-50800" lvl="0" marL="228600" rtl="0" algn="just">
              <a:lnSpc>
                <a:spcPct val="90000"/>
              </a:lnSpc>
              <a:spcBef>
                <a:spcPts val="1000"/>
              </a:spcBef>
              <a:spcAft>
                <a:spcPts val="0"/>
              </a:spcAft>
              <a:buClr>
                <a:schemeClr val="dk1"/>
              </a:buClr>
              <a:buSzPts val="2800"/>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s-CO" u="sng">
                <a:solidFill>
                  <a:schemeClr val="hlink"/>
                </a:solidFill>
                <a:hlinkClick r:id="rId3"/>
              </a:rPr>
              <a:t>The Illusion of Thinking, Apple, 2025</a:t>
            </a:r>
            <a:endParaRPr u="sng">
              <a:solidFill>
                <a:schemeClr val="hlink"/>
              </a:solidFill>
              <a:hlinkClick r:id="rId4"/>
            </a:endParaRPr>
          </a:p>
        </p:txBody>
      </p:sp>
      <p:sp>
        <p:nvSpPr>
          <p:cNvPr id="181" name="Google Shape;181;p17"/>
          <p:cNvSpPr txBox="1"/>
          <p:nvPr>
            <p:ph idx="1" type="body"/>
          </p:nvPr>
        </p:nvSpPr>
        <p:spPr>
          <a:xfrm>
            <a:off x="838200" y="20542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Char char="•"/>
            </a:pPr>
            <a:r>
              <a:rPr lang="es-CO"/>
              <a:t>The study by Apple revealed that reasoning models (e.g., OpenAI’s o3, Meta’s Claude) suffer “complete accuracy collapse” on complex tasks, relying on pattern recognition rather than true reasoning.</a:t>
            </a:r>
            <a:endParaRPr/>
          </a:p>
          <a:p>
            <a:pPr indent="-50800" lvl="0" marL="228600" rtl="0" algn="just">
              <a:lnSpc>
                <a:spcPct val="90000"/>
              </a:lnSpc>
              <a:spcBef>
                <a:spcPts val="1000"/>
              </a:spcBef>
              <a:spcAft>
                <a:spcPts val="0"/>
              </a:spcAft>
              <a:buClr>
                <a:schemeClr val="dk1"/>
              </a:buClr>
              <a:buSzPts val="2800"/>
              <a:buNone/>
            </a:pPr>
            <a:r>
              <a:t/>
            </a:r>
            <a:endParaRPr/>
          </a:p>
          <a:p>
            <a:pPr indent="-228600" lvl="0" marL="228600" rtl="0" algn="just">
              <a:lnSpc>
                <a:spcPct val="90000"/>
              </a:lnSpc>
              <a:spcBef>
                <a:spcPts val="1000"/>
              </a:spcBef>
              <a:spcAft>
                <a:spcPts val="0"/>
              </a:spcAft>
              <a:buClr>
                <a:schemeClr val="dk1"/>
              </a:buClr>
              <a:buSzPts val="2800"/>
              <a:buChar char="•"/>
            </a:pPr>
            <a:r>
              <a:rPr lang="es-CO"/>
              <a:t>“Reasoning models don’t show generalized reasoning; their performance falls apart on complex tasks.”</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s-CO"/>
              <a:t>Meta: Pursuing Superintelligence with Skepticism on LLMs</a:t>
            </a:r>
            <a:endParaRPr/>
          </a:p>
        </p:txBody>
      </p:sp>
      <p:sp>
        <p:nvSpPr>
          <p:cNvPr id="187" name="Google Shape;187;p18"/>
          <p:cNvSpPr txBox="1"/>
          <p:nvPr>
            <p:ph idx="1" type="body"/>
          </p:nvPr>
        </p:nvSpPr>
        <p:spPr>
          <a:xfrm>
            <a:off x="838200" y="203517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just">
              <a:lnSpc>
                <a:spcPct val="90000"/>
              </a:lnSpc>
              <a:spcBef>
                <a:spcPts val="0"/>
              </a:spcBef>
              <a:spcAft>
                <a:spcPts val="0"/>
              </a:spcAft>
              <a:buClr>
                <a:schemeClr val="dk1"/>
              </a:buClr>
              <a:buSzPct val="100000"/>
              <a:buChar char="•"/>
            </a:pPr>
            <a:r>
              <a:rPr lang="es-CO"/>
              <a:t>Meta is ambitious about superintelligence but doubts LLMs alone can achieve AGI or human-level intelligence.</a:t>
            </a:r>
            <a:endParaRPr/>
          </a:p>
          <a:p>
            <a:pPr indent="-64135" lvl="0" marL="228600" rtl="0" algn="just">
              <a:lnSpc>
                <a:spcPct val="90000"/>
              </a:lnSpc>
              <a:spcBef>
                <a:spcPts val="1000"/>
              </a:spcBef>
              <a:spcAft>
                <a:spcPts val="0"/>
              </a:spcAft>
              <a:buClr>
                <a:schemeClr val="dk1"/>
              </a:buClr>
              <a:buSzPct val="100000"/>
              <a:buNone/>
            </a:pPr>
            <a:r>
              <a:t/>
            </a:r>
            <a:endParaRPr/>
          </a:p>
          <a:p>
            <a:pPr indent="-228600" lvl="0" marL="228600" rtl="0" algn="just">
              <a:lnSpc>
                <a:spcPct val="90000"/>
              </a:lnSpc>
              <a:spcBef>
                <a:spcPts val="1000"/>
              </a:spcBef>
              <a:spcAft>
                <a:spcPts val="0"/>
              </a:spcAft>
              <a:buClr>
                <a:schemeClr val="dk1"/>
              </a:buClr>
              <a:buSzPct val="100000"/>
              <a:buChar char="•"/>
            </a:pPr>
            <a:r>
              <a:rPr lang="es-CO"/>
              <a:t>Meta’s Chief AI Scientist, Yann LeCun, criticizes LLMs as “intrinsically unsafe” and limited in logic, memory, and world understanding.</a:t>
            </a:r>
            <a:endParaRPr/>
          </a:p>
          <a:p>
            <a:pPr indent="-64135" lvl="0" marL="228600" rtl="0" algn="just">
              <a:lnSpc>
                <a:spcPct val="90000"/>
              </a:lnSpc>
              <a:spcBef>
                <a:spcPts val="1000"/>
              </a:spcBef>
              <a:spcAft>
                <a:spcPts val="0"/>
              </a:spcAft>
              <a:buClr>
                <a:schemeClr val="dk1"/>
              </a:buClr>
              <a:buSzPct val="100000"/>
              <a:buNone/>
            </a:pPr>
            <a:r>
              <a:t/>
            </a:r>
            <a:endParaRPr/>
          </a:p>
          <a:p>
            <a:pPr indent="-228600" lvl="0" marL="228600" rtl="0" algn="just">
              <a:lnSpc>
                <a:spcPct val="90000"/>
              </a:lnSpc>
              <a:spcBef>
                <a:spcPts val="1000"/>
              </a:spcBef>
              <a:spcAft>
                <a:spcPts val="0"/>
              </a:spcAft>
              <a:buClr>
                <a:schemeClr val="dk1"/>
              </a:buClr>
              <a:buSzPct val="100000"/>
              <a:buChar char="•"/>
            </a:pPr>
            <a:r>
              <a:rPr lang="es-CO"/>
              <a:t>Meta launched a Superintelligence Lab, offering massive compensation (up to $100M) to attract top researchers.</a:t>
            </a:r>
            <a:endParaRPr/>
          </a:p>
          <a:p>
            <a:pPr indent="0" lvl="0" marL="0" rtl="0" algn="just">
              <a:lnSpc>
                <a:spcPct val="90000"/>
              </a:lnSpc>
              <a:spcBef>
                <a:spcPts val="1000"/>
              </a:spcBef>
              <a:spcAft>
                <a:spcPts val="0"/>
              </a:spcAft>
              <a:buClr>
                <a:schemeClr val="dk1"/>
              </a:buClr>
              <a:buSzPct val="100000"/>
              <a:buNone/>
            </a:pPr>
            <a:r>
              <a:t/>
            </a:r>
            <a:endParaRPr/>
          </a:p>
          <a:p>
            <a:pPr indent="-228600" lvl="0" marL="228600" rtl="0" algn="just">
              <a:lnSpc>
                <a:spcPct val="90000"/>
              </a:lnSpc>
              <a:spcBef>
                <a:spcPts val="1000"/>
              </a:spcBef>
              <a:spcAft>
                <a:spcPts val="0"/>
              </a:spcAft>
              <a:buClr>
                <a:schemeClr val="dk1"/>
              </a:buClr>
              <a:buSzPct val="100000"/>
              <a:buChar char="•"/>
            </a:pPr>
            <a:r>
              <a:rPr lang="es-CO"/>
              <a:t>Llama 4 underperformed compared to OpenAI/Google, prompting a shift to ambitious projects.</a:t>
            </a:r>
            <a:endParaRPr/>
          </a:p>
          <a:p>
            <a:pPr indent="-64135" lvl="0" marL="228600" rtl="0" algn="just">
              <a:lnSpc>
                <a:spcPct val="90000"/>
              </a:lnSpc>
              <a:spcBef>
                <a:spcPts val="1000"/>
              </a:spcBef>
              <a:spcAft>
                <a:spcPts val="0"/>
              </a:spcAft>
              <a:buClr>
                <a:schemeClr val="dk1"/>
              </a:buClr>
              <a:buSzPct val="100000"/>
              <a:buNone/>
            </a:pPr>
            <a:r>
              <a:t/>
            </a:r>
            <a:endParaRPr/>
          </a:p>
          <a:p>
            <a:pPr indent="-64135" lvl="0" marL="228600" rtl="0" algn="just">
              <a:lnSpc>
                <a:spcPct val="90000"/>
              </a:lnSpc>
              <a:spcBef>
                <a:spcPts val="1000"/>
              </a:spcBef>
              <a:spcAft>
                <a:spcPts val="0"/>
              </a:spcAft>
              <a:buClr>
                <a:schemeClr val="dk1"/>
              </a:buClr>
              <a:buSzPct val="100000"/>
              <a:buNone/>
            </a:pPr>
            <a:r>
              <a:t/>
            </a:r>
            <a:endParaRPr/>
          </a:p>
          <a:p>
            <a:pPr indent="-64135" lvl="0" marL="228600" rtl="0" algn="just">
              <a:lnSpc>
                <a:spcPct val="90000"/>
              </a:lnSpc>
              <a:spcBef>
                <a:spcPts val="1000"/>
              </a:spcBef>
              <a:spcAft>
                <a:spcPts val="0"/>
              </a:spcAft>
              <a:buClr>
                <a:schemeClr val="dk1"/>
              </a:buClr>
              <a:buSzPct val="100000"/>
              <a:buNone/>
            </a:pPr>
            <a:r>
              <a:t/>
            </a:r>
            <a:endParaRPr/>
          </a:p>
          <a:p>
            <a:pPr indent="-64135" lvl="0" marL="228600" rtl="0" algn="just">
              <a:lnSpc>
                <a:spcPct val="90000"/>
              </a:lnSpc>
              <a:spcBef>
                <a:spcPts val="1000"/>
              </a:spcBef>
              <a:spcAft>
                <a:spcPts val="0"/>
              </a:spcAft>
              <a:buClr>
                <a:schemeClr val="dk1"/>
              </a:buClr>
              <a:buSzPct val="100000"/>
              <a:buNone/>
            </a:pPr>
            <a:r>
              <a:t/>
            </a:r>
            <a:endParaRPr/>
          </a:p>
          <a:p>
            <a:pPr indent="-64135" lvl="0" marL="228600" rtl="0" algn="just">
              <a:lnSpc>
                <a:spcPct val="90000"/>
              </a:lnSpc>
              <a:spcBef>
                <a:spcPts val="1000"/>
              </a:spcBef>
              <a:spcAft>
                <a:spcPts val="0"/>
              </a:spcAft>
              <a:buClr>
                <a:schemeClr val="dk1"/>
              </a:buClr>
              <a:buSzPct val="100000"/>
              <a:buNone/>
            </a:pPr>
            <a:r>
              <a:t/>
            </a:r>
            <a:endParaRPr/>
          </a:p>
          <a:p>
            <a:pPr indent="-64135" lvl="0" marL="228600" rtl="0" algn="just">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9"/>
          <p:cNvSpPr txBox="1"/>
          <p:nvPr>
            <p:ph idx="1" type="body"/>
          </p:nvPr>
        </p:nvSpPr>
        <p:spPr>
          <a:xfrm>
            <a:off x="838200" y="1149350"/>
            <a:ext cx="10515600" cy="3965575"/>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Char char="•"/>
            </a:pPr>
            <a:r>
              <a:rPr lang="es-CO"/>
              <a:t>Meta aims for transformative AI but rejects the LLM scaling paradigm, aligning with academic skepticism.</a:t>
            </a:r>
            <a:endParaRPr/>
          </a:p>
          <a:p>
            <a:pPr indent="-50800" lvl="0" marL="228600" rtl="0" algn="just">
              <a:lnSpc>
                <a:spcPct val="90000"/>
              </a:lnSpc>
              <a:spcBef>
                <a:spcPts val="1000"/>
              </a:spcBef>
              <a:spcAft>
                <a:spcPts val="0"/>
              </a:spcAft>
              <a:buClr>
                <a:schemeClr val="dk1"/>
              </a:buClr>
              <a:buSzPts val="2800"/>
              <a:buNone/>
            </a:pPr>
            <a:r>
              <a:t/>
            </a:r>
            <a:endParaRPr/>
          </a:p>
          <a:p>
            <a:pPr indent="-228600" lvl="0" marL="228600" rtl="0" algn="just">
              <a:lnSpc>
                <a:spcPct val="90000"/>
              </a:lnSpc>
              <a:spcBef>
                <a:spcPts val="1000"/>
              </a:spcBef>
              <a:spcAft>
                <a:spcPts val="0"/>
              </a:spcAft>
              <a:buClr>
                <a:schemeClr val="dk1"/>
              </a:buClr>
              <a:buSzPts val="2800"/>
              <a:buChar char="•"/>
            </a:pPr>
            <a:r>
              <a:rPr lang="es-CO"/>
              <a:t>Developing new AI architectures beyond LLMs, focusing on “common sense” and world models.</a:t>
            </a:r>
            <a:endParaRPr/>
          </a:p>
          <a:p>
            <a:pPr indent="0" lvl="0" marL="0" rtl="0" algn="just">
              <a:lnSpc>
                <a:spcPct val="90000"/>
              </a:lnSpc>
              <a:spcBef>
                <a:spcPts val="1000"/>
              </a:spcBef>
              <a:spcAft>
                <a:spcPts val="0"/>
              </a:spcAft>
              <a:buClr>
                <a:schemeClr val="dk1"/>
              </a:buClr>
              <a:buSzPts val="2800"/>
              <a:buNone/>
            </a:pPr>
            <a:r>
              <a:t/>
            </a:r>
            <a:endParaRPr/>
          </a:p>
          <a:p>
            <a:pPr indent="-228600" lvl="0" marL="228600" rtl="0" algn="just">
              <a:lnSpc>
                <a:spcPct val="90000"/>
              </a:lnSpc>
              <a:spcBef>
                <a:spcPts val="1000"/>
              </a:spcBef>
              <a:spcAft>
                <a:spcPts val="0"/>
              </a:spcAft>
              <a:buClr>
                <a:schemeClr val="dk1"/>
              </a:buClr>
              <a:buSzPts val="2800"/>
              <a:buChar char="•"/>
            </a:pPr>
            <a:r>
              <a:rPr lang="es-CO" u="sng">
                <a:solidFill>
                  <a:schemeClr val="hlink"/>
                </a:solidFill>
                <a:hlinkClick r:id="rId3"/>
              </a:rPr>
              <a:t>“We’re never going to reach human intelligence by training AI on text alone.” — Yann LeCun, 2025</a:t>
            </a:r>
            <a:endParaRPr/>
          </a:p>
          <a:p>
            <a:pPr indent="-50800" lvl="0" marL="228600" rtl="0" algn="l">
              <a:lnSpc>
                <a:spcPct val="90000"/>
              </a:lnSpc>
              <a:spcBef>
                <a:spcPts val="1000"/>
              </a:spcBef>
              <a:spcAft>
                <a:spcPts val="0"/>
              </a:spcAft>
              <a:buClr>
                <a:schemeClr val="dk1"/>
              </a:buClr>
              <a:buSzPts val="2800"/>
              <a:buNone/>
            </a:pPr>
            <a:r>
              <a:t/>
            </a:r>
            <a:endParaRPr/>
          </a:p>
        </p:txBody>
      </p:sp>
      <p:sp>
        <p:nvSpPr>
          <p:cNvPr id="193" name="Google Shape;193;p19">
            <a:hlinkClick r:id="rId4"/>
          </p:cNvPr>
          <p:cNvSpPr txBox="1"/>
          <p:nvPr/>
        </p:nvSpPr>
        <p:spPr>
          <a:xfrm>
            <a:off x="7753350" y="5185430"/>
            <a:ext cx="3600450" cy="52322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Clr>
                <a:schemeClr val="dk1"/>
              </a:buClr>
              <a:buSzPts val="2800"/>
              <a:buFont typeface="Arial"/>
              <a:buNone/>
            </a:pPr>
            <a:r>
              <a:rPr lang="es-CO" sz="2800">
                <a:solidFill>
                  <a:schemeClr val="dk1"/>
                </a:solidFill>
                <a:latin typeface="Arial"/>
                <a:ea typeface="Arial"/>
                <a:cs typeface="Arial"/>
                <a:sym typeface="Arial"/>
              </a:rPr>
              <a:t>JEPA I, Meta Ai, 2023</a:t>
            </a:r>
            <a:endParaRPr sz="2800">
              <a:solidFill>
                <a:schemeClr val="dk1"/>
              </a:solidFill>
              <a:latin typeface="Arial"/>
              <a:ea typeface="Arial"/>
              <a:cs typeface="Arial"/>
              <a:sym typeface="Arial"/>
            </a:endParaRPr>
          </a:p>
        </p:txBody>
      </p:sp>
      <p:sp>
        <p:nvSpPr>
          <p:cNvPr id="194" name="Google Shape;194;p19">
            <a:hlinkClick r:id="rId5"/>
          </p:cNvPr>
          <p:cNvSpPr txBox="1"/>
          <p:nvPr/>
        </p:nvSpPr>
        <p:spPr>
          <a:xfrm>
            <a:off x="7753350" y="5934075"/>
            <a:ext cx="4243388"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CO" sz="2800">
                <a:solidFill>
                  <a:schemeClr val="dk1"/>
                </a:solidFill>
                <a:latin typeface="Arial"/>
                <a:ea typeface="Arial"/>
                <a:cs typeface="Arial"/>
                <a:sym typeface="Arial"/>
              </a:rPr>
              <a:t>V-JEPA 2, Meta Ai, 2025</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s-CO"/>
              <a:t>Nvidia: Enabling AI with World Models</a:t>
            </a:r>
            <a:endParaRPr/>
          </a:p>
        </p:txBody>
      </p:sp>
      <p:sp>
        <p:nvSpPr>
          <p:cNvPr id="200" name="Google Shape;200;p2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just">
              <a:lnSpc>
                <a:spcPct val="90000"/>
              </a:lnSpc>
              <a:spcBef>
                <a:spcPts val="0"/>
              </a:spcBef>
              <a:spcAft>
                <a:spcPts val="0"/>
              </a:spcAft>
              <a:buClr>
                <a:schemeClr val="dk1"/>
              </a:buClr>
              <a:buSzPct val="100000"/>
              <a:buChar char="•"/>
            </a:pPr>
            <a:r>
              <a:rPr lang="es-CO"/>
              <a:t>Nvidia supports the AI ecosystem by developing infrastructure and tools, including generative world models for robotics.</a:t>
            </a:r>
            <a:endParaRPr/>
          </a:p>
          <a:p>
            <a:pPr indent="-64135" lvl="0" marL="228600" rtl="0" algn="just">
              <a:lnSpc>
                <a:spcPct val="90000"/>
              </a:lnSpc>
              <a:spcBef>
                <a:spcPts val="1000"/>
              </a:spcBef>
              <a:spcAft>
                <a:spcPts val="0"/>
              </a:spcAft>
              <a:buClr>
                <a:schemeClr val="dk1"/>
              </a:buClr>
              <a:buSzPct val="100000"/>
              <a:buNone/>
            </a:pPr>
            <a:r>
              <a:t/>
            </a:r>
            <a:endParaRPr/>
          </a:p>
          <a:p>
            <a:pPr indent="-228600" lvl="0" marL="228600" rtl="0" algn="just">
              <a:lnSpc>
                <a:spcPct val="90000"/>
              </a:lnSpc>
              <a:spcBef>
                <a:spcPts val="1000"/>
              </a:spcBef>
              <a:spcAft>
                <a:spcPts val="0"/>
              </a:spcAft>
              <a:buClr>
                <a:schemeClr val="dk1"/>
              </a:buClr>
              <a:buSzPct val="100000"/>
              <a:buChar char="•"/>
            </a:pPr>
            <a:r>
              <a:rPr lang="es-CO"/>
              <a:t>CEO Jensen Huang unveiled Cosmos, a platform for creating virtual worlds to train robots, reducing costs and risks.</a:t>
            </a:r>
            <a:endParaRPr/>
          </a:p>
          <a:p>
            <a:pPr indent="-64135" lvl="0" marL="228600" rtl="0" algn="just">
              <a:lnSpc>
                <a:spcPct val="90000"/>
              </a:lnSpc>
              <a:spcBef>
                <a:spcPts val="1000"/>
              </a:spcBef>
              <a:spcAft>
                <a:spcPts val="0"/>
              </a:spcAft>
              <a:buClr>
                <a:schemeClr val="dk1"/>
              </a:buClr>
              <a:buSzPct val="100000"/>
              <a:buNone/>
            </a:pPr>
            <a:r>
              <a:t/>
            </a:r>
            <a:endParaRPr/>
          </a:p>
          <a:p>
            <a:pPr indent="-228600" lvl="0" marL="228600" rtl="0" algn="just">
              <a:lnSpc>
                <a:spcPct val="90000"/>
              </a:lnSpc>
              <a:spcBef>
                <a:spcPts val="1000"/>
              </a:spcBef>
              <a:spcAft>
                <a:spcPts val="0"/>
              </a:spcAft>
              <a:buClr>
                <a:schemeClr val="dk1"/>
              </a:buClr>
              <a:buSzPct val="100000"/>
              <a:buChar char="•"/>
            </a:pPr>
            <a:r>
              <a:rPr lang="es-CO"/>
              <a:t>Nvidia’s GPUs (e.g., H100, RTX 5090) power most AI training, making it a critical enabler.</a:t>
            </a:r>
            <a:endParaRPr/>
          </a:p>
          <a:p>
            <a:pPr indent="0" lvl="0" marL="0" rtl="0" algn="just">
              <a:lnSpc>
                <a:spcPct val="90000"/>
              </a:lnSpc>
              <a:spcBef>
                <a:spcPts val="1000"/>
              </a:spcBef>
              <a:spcAft>
                <a:spcPts val="0"/>
              </a:spcAft>
              <a:buClr>
                <a:schemeClr val="dk1"/>
              </a:buClr>
              <a:buSzPct val="100000"/>
              <a:buNone/>
            </a:pPr>
            <a:r>
              <a:t/>
            </a:r>
            <a:endParaRPr/>
          </a:p>
          <a:p>
            <a:pPr indent="-228600" lvl="0" marL="228600" rtl="0" algn="just">
              <a:lnSpc>
                <a:spcPct val="90000"/>
              </a:lnSpc>
              <a:spcBef>
                <a:spcPts val="1000"/>
              </a:spcBef>
              <a:spcAft>
                <a:spcPts val="0"/>
              </a:spcAft>
              <a:buClr>
                <a:schemeClr val="dk1"/>
              </a:buClr>
              <a:buSzPct val="100000"/>
              <a:buChar char="•"/>
            </a:pPr>
            <a:r>
              <a:rPr lang="es-CO"/>
              <a:t>Supplies chips for AI models (e.g., Meta’s Llama trained on 16,000 Nvidia A100 GPUs).</a:t>
            </a:r>
            <a:endParaRPr/>
          </a:p>
          <a:p>
            <a:pPr indent="-64135" lvl="0" marL="228600" rtl="0" algn="just">
              <a:lnSpc>
                <a:spcPct val="90000"/>
              </a:lnSpc>
              <a:spcBef>
                <a:spcPts val="1000"/>
              </a:spcBef>
              <a:spcAft>
                <a:spcPts val="0"/>
              </a:spcAft>
              <a:buClr>
                <a:schemeClr val="dk1"/>
              </a:buClr>
              <a:buSzPct val="100000"/>
              <a:buNone/>
            </a:pPr>
            <a:r>
              <a:t/>
            </a:r>
            <a:endParaRPr/>
          </a:p>
          <a:p>
            <a:pPr indent="-64135" lvl="0" marL="228600" rtl="0" algn="just">
              <a:lnSpc>
                <a:spcPct val="90000"/>
              </a:lnSpc>
              <a:spcBef>
                <a:spcPts val="1000"/>
              </a:spcBef>
              <a:spcAft>
                <a:spcPts val="0"/>
              </a:spcAft>
              <a:buClr>
                <a:schemeClr val="dk1"/>
              </a:buClr>
              <a:buSzPct val="100000"/>
              <a:buNone/>
            </a:pPr>
            <a:r>
              <a:t/>
            </a:r>
            <a:endParaRPr/>
          </a:p>
          <a:p>
            <a:pPr indent="-64135" lvl="0" marL="228600" rtl="0" algn="just">
              <a:lnSpc>
                <a:spcPct val="90000"/>
              </a:lnSpc>
              <a:spcBef>
                <a:spcPts val="1000"/>
              </a:spcBef>
              <a:spcAft>
                <a:spcPts val="0"/>
              </a:spcAft>
              <a:buClr>
                <a:schemeClr val="dk1"/>
              </a:buClr>
              <a:buSzPct val="100000"/>
              <a:buNone/>
            </a:pPr>
            <a:r>
              <a:t/>
            </a:r>
            <a:endParaRPr/>
          </a:p>
          <a:p>
            <a:pPr indent="-64135" lvl="0" marL="228600" rtl="0" algn="just">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1"/>
          <p:cNvSpPr txBox="1"/>
          <p:nvPr>
            <p:ph idx="1" type="body"/>
          </p:nvPr>
        </p:nvSpPr>
        <p:spPr>
          <a:xfrm>
            <a:off x="771524" y="882650"/>
            <a:ext cx="10582275" cy="56134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s-CO"/>
              <a:t>Predicts AI surpassing human test performance within 5 years, focusing on practical applications.</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s-CO"/>
              <a:t>Nvidia’s world models and hardware accelerate AI innovation, but it remains agnostic on AGI timelines.</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s-CO"/>
              <a:t>Food is information that can be printed in the near future, solving out major inefficiencies of grow and harvesting.</a:t>
            </a:r>
            <a:endParaRPr/>
          </a:p>
          <a:p>
            <a:pPr indent="0" lvl="0" marL="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s-CO" u="sng">
                <a:solidFill>
                  <a:schemeClr val="hlink"/>
                </a:solidFill>
                <a:hlinkClick r:id="rId3"/>
              </a:rPr>
              <a:t>“Cosmos generates synthetic data for training physical AI like robots.” — Jensen Huang, CES 2025</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2"/>
          <p:cNvSpPr txBox="1"/>
          <p:nvPr>
            <p:ph type="title"/>
          </p:nvPr>
        </p:nvSpPr>
        <p:spPr>
          <a:xfrm>
            <a:off x="838200" y="124509"/>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s-CO"/>
              <a:t>Google: Racing Toward AGI with Transformers</a:t>
            </a:r>
            <a:endParaRPr/>
          </a:p>
        </p:txBody>
      </p:sp>
      <p:sp>
        <p:nvSpPr>
          <p:cNvPr id="211" name="Google Shape;211;p22"/>
          <p:cNvSpPr txBox="1"/>
          <p:nvPr>
            <p:ph idx="1" type="body"/>
          </p:nvPr>
        </p:nvSpPr>
        <p:spPr>
          <a:xfrm>
            <a:off x="838200" y="1690688"/>
            <a:ext cx="10515600" cy="4351338"/>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just">
              <a:lnSpc>
                <a:spcPct val="90000"/>
              </a:lnSpc>
              <a:spcBef>
                <a:spcPts val="0"/>
              </a:spcBef>
              <a:spcAft>
                <a:spcPts val="0"/>
              </a:spcAft>
              <a:buClr>
                <a:schemeClr val="dk1"/>
              </a:buClr>
              <a:buSzPct val="100000"/>
              <a:buChar char="•"/>
            </a:pPr>
            <a:r>
              <a:rPr lang="es-CO"/>
              <a:t>Google DeepMind is aggressively pursuing AGI, viewing it as a near-term goal (potentially by 2030).</a:t>
            </a:r>
            <a:endParaRPr/>
          </a:p>
          <a:p>
            <a:pPr indent="-64135" lvl="0" marL="228600" rtl="0" algn="just">
              <a:lnSpc>
                <a:spcPct val="90000"/>
              </a:lnSpc>
              <a:spcBef>
                <a:spcPts val="1000"/>
              </a:spcBef>
              <a:spcAft>
                <a:spcPts val="0"/>
              </a:spcAft>
              <a:buClr>
                <a:schemeClr val="dk1"/>
              </a:buClr>
              <a:buSzPct val="100000"/>
              <a:buNone/>
            </a:pPr>
            <a:r>
              <a:t/>
            </a:r>
            <a:endParaRPr/>
          </a:p>
          <a:p>
            <a:pPr indent="-228600" lvl="0" marL="228600" rtl="0" algn="just">
              <a:lnSpc>
                <a:spcPct val="90000"/>
              </a:lnSpc>
              <a:spcBef>
                <a:spcPts val="1000"/>
              </a:spcBef>
              <a:spcAft>
                <a:spcPts val="0"/>
              </a:spcAft>
              <a:buClr>
                <a:schemeClr val="dk1"/>
              </a:buClr>
              <a:buSzPct val="100000"/>
              <a:buChar char="•"/>
            </a:pPr>
            <a:r>
              <a:rPr lang="es-CO"/>
              <a:t>CEO Demis Hassabis predicts AGI within a decade, driven by transformer-based LLMs and reasoning models.</a:t>
            </a:r>
            <a:endParaRPr/>
          </a:p>
          <a:p>
            <a:pPr indent="-64135" lvl="0" marL="228600" rtl="0" algn="just">
              <a:lnSpc>
                <a:spcPct val="90000"/>
              </a:lnSpc>
              <a:spcBef>
                <a:spcPts val="1000"/>
              </a:spcBef>
              <a:spcAft>
                <a:spcPts val="0"/>
              </a:spcAft>
              <a:buClr>
                <a:schemeClr val="dk1"/>
              </a:buClr>
              <a:buSzPct val="100000"/>
              <a:buNone/>
            </a:pPr>
            <a:r>
              <a:t/>
            </a:r>
            <a:endParaRPr/>
          </a:p>
          <a:p>
            <a:pPr indent="-228600" lvl="0" marL="228600" rtl="0" algn="just">
              <a:lnSpc>
                <a:spcPct val="90000"/>
              </a:lnSpc>
              <a:spcBef>
                <a:spcPts val="1000"/>
              </a:spcBef>
              <a:spcAft>
                <a:spcPts val="0"/>
              </a:spcAft>
              <a:buClr>
                <a:schemeClr val="dk1"/>
              </a:buClr>
              <a:buSzPct val="100000"/>
              <a:buChar char="•"/>
            </a:pPr>
            <a:r>
              <a:rPr lang="es-CO"/>
              <a:t>Developing Gemini as a “full world model” for agentic AI that plans and acts across devices.</a:t>
            </a:r>
            <a:endParaRPr/>
          </a:p>
          <a:p>
            <a:pPr indent="-64135" lvl="0" marL="228600" rtl="0" algn="just">
              <a:lnSpc>
                <a:spcPct val="90000"/>
              </a:lnSpc>
              <a:spcBef>
                <a:spcPts val="1000"/>
              </a:spcBef>
              <a:spcAft>
                <a:spcPts val="0"/>
              </a:spcAft>
              <a:buClr>
                <a:schemeClr val="dk1"/>
              </a:buClr>
              <a:buSzPct val="100000"/>
              <a:buNone/>
            </a:pPr>
            <a:r>
              <a:t/>
            </a:r>
            <a:endParaRPr/>
          </a:p>
          <a:p>
            <a:pPr indent="-228600" lvl="0" marL="228600" rtl="0" algn="just">
              <a:lnSpc>
                <a:spcPct val="90000"/>
              </a:lnSpc>
              <a:spcBef>
                <a:spcPts val="1000"/>
              </a:spcBef>
              <a:spcAft>
                <a:spcPts val="0"/>
              </a:spcAft>
              <a:buClr>
                <a:schemeClr val="dk1"/>
              </a:buClr>
              <a:buSzPct val="100000"/>
              <a:buChar char="•"/>
            </a:pPr>
            <a:r>
              <a:rPr lang="es-CO"/>
              <a:t>Investing in generative world models and agentic coding systems for scientific breakthroughs.</a:t>
            </a:r>
            <a:endParaRPr/>
          </a:p>
        </p:txBody>
      </p:sp>
      <p:sp>
        <p:nvSpPr>
          <p:cNvPr id="212" name="Google Shape;212;p22"/>
          <p:cNvSpPr txBox="1"/>
          <p:nvPr/>
        </p:nvSpPr>
        <p:spPr>
          <a:xfrm>
            <a:off x="3286126" y="5867143"/>
            <a:ext cx="8505824"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CO" sz="2400" u="sng">
                <a:solidFill>
                  <a:schemeClr val="dk1"/>
                </a:solidFill>
                <a:latin typeface="Arial"/>
                <a:ea typeface="Arial"/>
                <a:cs typeface="Arial"/>
                <a:sym typeface="Arial"/>
                <a:hlinkClick r:id="rId3">
                  <a:extLst>
                    <a:ext uri="{A12FA001-AC4F-418D-AE19-62706E023703}">
                      <ahyp:hlinkClr val="tx"/>
                    </a:ext>
                  </a:extLst>
                </a:hlinkClick>
              </a:rPr>
              <a:t>“The final race to AGI is afoot; we must turbocharge our efforts.” — Sergey Brin, 2025</a:t>
            </a:r>
            <a:endParaRPr sz="2400">
              <a:solidFill>
                <a:schemeClr val="dk1"/>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s-CO"/>
              <a:t>OpenAI: Leading the AGI Charge with LLMs</a:t>
            </a:r>
            <a:endParaRPr/>
          </a:p>
        </p:txBody>
      </p:sp>
      <p:sp>
        <p:nvSpPr>
          <p:cNvPr id="218" name="Google Shape;218;p2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just">
              <a:lnSpc>
                <a:spcPct val="90000"/>
              </a:lnSpc>
              <a:spcBef>
                <a:spcPts val="0"/>
              </a:spcBef>
              <a:spcAft>
                <a:spcPts val="0"/>
              </a:spcAft>
              <a:buClr>
                <a:schemeClr val="dk1"/>
              </a:buClr>
              <a:buSzPct val="100000"/>
              <a:buChar char="•"/>
            </a:pPr>
            <a:r>
              <a:rPr lang="es-CO"/>
              <a:t>OpenAI is confident in achieving AGI soon, transitioning to superintelligence via LLMs and reasoning models.</a:t>
            </a:r>
            <a:endParaRPr/>
          </a:p>
          <a:p>
            <a:pPr indent="-64135" lvl="0" marL="228600" rtl="0" algn="just">
              <a:lnSpc>
                <a:spcPct val="90000"/>
              </a:lnSpc>
              <a:spcBef>
                <a:spcPts val="1000"/>
              </a:spcBef>
              <a:spcAft>
                <a:spcPts val="0"/>
              </a:spcAft>
              <a:buClr>
                <a:schemeClr val="dk1"/>
              </a:buClr>
              <a:buSzPct val="100000"/>
              <a:buNone/>
            </a:pPr>
            <a:r>
              <a:t/>
            </a:r>
            <a:endParaRPr/>
          </a:p>
          <a:p>
            <a:pPr indent="-228600" lvl="0" marL="228600" rtl="0" algn="just">
              <a:lnSpc>
                <a:spcPct val="90000"/>
              </a:lnSpc>
              <a:spcBef>
                <a:spcPts val="1000"/>
              </a:spcBef>
              <a:spcAft>
                <a:spcPts val="0"/>
              </a:spcAft>
              <a:buClr>
                <a:schemeClr val="dk1"/>
              </a:buClr>
              <a:buSzPct val="100000"/>
              <a:buChar char="•"/>
            </a:pPr>
            <a:r>
              <a:rPr lang="es-CO"/>
              <a:t>CEO Sam Altman claims OpenAI knows how to build superintelligent AI, predicting AGI by 2029.</a:t>
            </a:r>
            <a:endParaRPr/>
          </a:p>
          <a:p>
            <a:pPr indent="-64135" lvl="0" marL="228600" rtl="0" algn="just">
              <a:lnSpc>
                <a:spcPct val="90000"/>
              </a:lnSpc>
              <a:spcBef>
                <a:spcPts val="1000"/>
              </a:spcBef>
              <a:spcAft>
                <a:spcPts val="0"/>
              </a:spcAft>
              <a:buClr>
                <a:schemeClr val="dk1"/>
              </a:buClr>
              <a:buSzPct val="100000"/>
              <a:buNone/>
            </a:pPr>
            <a:r>
              <a:t/>
            </a:r>
            <a:endParaRPr/>
          </a:p>
          <a:p>
            <a:pPr indent="-228600" lvl="0" marL="228600" rtl="0" algn="just">
              <a:lnSpc>
                <a:spcPct val="90000"/>
              </a:lnSpc>
              <a:spcBef>
                <a:spcPts val="1000"/>
              </a:spcBef>
              <a:spcAft>
                <a:spcPts val="0"/>
              </a:spcAft>
              <a:buClr>
                <a:schemeClr val="dk1"/>
              </a:buClr>
              <a:buSzPct val="100000"/>
              <a:buChar char="•"/>
            </a:pPr>
            <a:r>
              <a:rPr lang="es-CO"/>
              <a:t>Released o1, a reasoning model that “thinks” before responding, improving complex task performance.</a:t>
            </a:r>
            <a:endParaRPr/>
          </a:p>
          <a:p>
            <a:pPr indent="-64135" lvl="0" marL="228600" rtl="0" algn="just">
              <a:lnSpc>
                <a:spcPct val="90000"/>
              </a:lnSpc>
              <a:spcBef>
                <a:spcPts val="1000"/>
              </a:spcBef>
              <a:spcAft>
                <a:spcPts val="0"/>
              </a:spcAft>
              <a:buClr>
                <a:schemeClr val="dk1"/>
              </a:buClr>
              <a:buSzPct val="100000"/>
              <a:buNone/>
            </a:pPr>
            <a:r>
              <a:t/>
            </a:r>
            <a:endParaRPr/>
          </a:p>
          <a:p>
            <a:pPr indent="-228600" lvl="0" marL="228600" rtl="0" algn="just">
              <a:lnSpc>
                <a:spcPct val="90000"/>
              </a:lnSpc>
              <a:spcBef>
                <a:spcPts val="1000"/>
              </a:spcBef>
              <a:spcAft>
                <a:spcPts val="0"/>
              </a:spcAft>
              <a:buClr>
                <a:schemeClr val="dk1"/>
              </a:buClr>
              <a:buSzPct val="100000"/>
              <a:buChar char="•"/>
            </a:pPr>
            <a:r>
              <a:rPr lang="es-CO"/>
              <a:t>Scaling LLMs with massive data and compute (e.g., GPT-4.5/Orion).</a:t>
            </a:r>
            <a:endParaRPr/>
          </a:p>
          <a:p>
            <a:pPr indent="-64135" lvl="0" marL="228600" rtl="0" algn="just">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4"/>
          <p:cNvSpPr txBox="1"/>
          <p:nvPr>
            <p:ph idx="1" type="body"/>
          </p:nvPr>
        </p:nvSpPr>
        <p:spPr>
          <a:xfrm>
            <a:off x="723900" y="701674"/>
            <a:ext cx="10515600" cy="5584825"/>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just">
              <a:lnSpc>
                <a:spcPct val="90000"/>
              </a:lnSpc>
              <a:spcBef>
                <a:spcPts val="0"/>
              </a:spcBef>
              <a:spcAft>
                <a:spcPts val="0"/>
              </a:spcAft>
              <a:buClr>
                <a:schemeClr val="dk1"/>
              </a:buClr>
              <a:buSzPct val="100000"/>
              <a:buChar char="•"/>
            </a:pPr>
            <a:r>
              <a:rPr lang="es-CO"/>
              <a:t>Collaborating with Broadcom for custom AI chips to reduce Nvidia dependency.</a:t>
            </a:r>
            <a:endParaRPr/>
          </a:p>
          <a:p>
            <a:pPr indent="-64135" lvl="0" marL="228600" rtl="0" algn="just">
              <a:lnSpc>
                <a:spcPct val="90000"/>
              </a:lnSpc>
              <a:spcBef>
                <a:spcPts val="1000"/>
              </a:spcBef>
              <a:spcAft>
                <a:spcPts val="0"/>
              </a:spcAft>
              <a:buClr>
                <a:schemeClr val="dk1"/>
              </a:buClr>
              <a:buSzPct val="100000"/>
              <a:buNone/>
            </a:pPr>
            <a:r>
              <a:t/>
            </a:r>
            <a:endParaRPr/>
          </a:p>
          <a:p>
            <a:pPr indent="-228600" lvl="0" marL="228600" rtl="0" algn="just">
              <a:lnSpc>
                <a:spcPct val="90000"/>
              </a:lnSpc>
              <a:spcBef>
                <a:spcPts val="1000"/>
              </a:spcBef>
              <a:spcAft>
                <a:spcPts val="0"/>
              </a:spcAft>
              <a:buClr>
                <a:schemeClr val="dk1"/>
              </a:buClr>
              <a:buSzPct val="100000"/>
              <a:buChar char="•"/>
            </a:pPr>
            <a:r>
              <a:rPr lang="es-CO"/>
              <a:t>AI consumes vast energy and compute (e.g., OpenAI’s Stargate Project needs power for 3M homes).</a:t>
            </a:r>
            <a:endParaRPr/>
          </a:p>
          <a:p>
            <a:pPr indent="-64135" lvl="0" marL="228600" rtl="0" algn="just">
              <a:lnSpc>
                <a:spcPct val="90000"/>
              </a:lnSpc>
              <a:spcBef>
                <a:spcPts val="1000"/>
              </a:spcBef>
              <a:spcAft>
                <a:spcPts val="0"/>
              </a:spcAft>
              <a:buClr>
                <a:schemeClr val="dk1"/>
              </a:buClr>
              <a:buSzPct val="100000"/>
              <a:buNone/>
            </a:pPr>
            <a:r>
              <a:t/>
            </a:r>
            <a:endParaRPr/>
          </a:p>
          <a:p>
            <a:pPr indent="-228600" lvl="0" marL="228600" rtl="0" algn="just">
              <a:lnSpc>
                <a:spcPct val="90000"/>
              </a:lnSpc>
              <a:spcBef>
                <a:spcPts val="1000"/>
              </a:spcBef>
              <a:spcAft>
                <a:spcPts val="0"/>
              </a:spcAft>
              <a:buClr>
                <a:schemeClr val="dk1"/>
              </a:buClr>
              <a:buSzPct val="100000"/>
              <a:buChar char="•"/>
            </a:pPr>
            <a:r>
              <a:rPr lang="es-CO"/>
              <a:t>Data scarcity looms as internet text is exhausted, pushing reliance on synthetic data.</a:t>
            </a:r>
            <a:endParaRPr/>
          </a:p>
          <a:p>
            <a:pPr indent="-64135" lvl="0" marL="228600" rtl="0" algn="just">
              <a:lnSpc>
                <a:spcPct val="90000"/>
              </a:lnSpc>
              <a:spcBef>
                <a:spcPts val="1000"/>
              </a:spcBef>
              <a:spcAft>
                <a:spcPts val="0"/>
              </a:spcAft>
              <a:buClr>
                <a:schemeClr val="dk1"/>
              </a:buClr>
              <a:buSzPct val="100000"/>
              <a:buNone/>
            </a:pPr>
            <a:r>
              <a:t/>
            </a:r>
            <a:endParaRPr/>
          </a:p>
          <a:p>
            <a:pPr indent="-228600" lvl="0" marL="228600" rtl="0" algn="just">
              <a:lnSpc>
                <a:spcPct val="90000"/>
              </a:lnSpc>
              <a:spcBef>
                <a:spcPts val="1000"/>
              </a:spcBef>
              <a:spcAft>
                <a:spcPts val="0"/>
              </a:spcAft>
              <a:buClr>
                <a:schemeClr val="dk1"/>
              </a:buClr>
              <a:buSzPct val="100000"/>
              <a:buChar char="•"/>
            </a:pPr>
            <a:r>
              <a:rPr lang="es-CO"/>
              <a:t>OpenAI’s aggressive push raises ethical and safety concerns, with critics noting lax security and misalignment risks.</a:t>
            </a:r>
            <a:endParaRPr/>
          </a:p>
          <a:p>
            <a:pPr indent="-64135" lvl="0" marL="228600" rtl="0" algn="just">
              <a:lnSpc>
                <a:spcPct val="90000"/>
              </a:lnSpc>
              <a:spcBef>
                <a:spcPts val="1000"/>
              </a:spcBef>
              <a:spcAft>
                <a:spcPts val="0"/>
              </a:spcAft>
              <a:buClr>
                <a:schemeClr val="dk1"/>
              </a:buClr>
              <a:buSzPct val="100000"/>
              <a:buNone/>
            </a:pPr>
            <a:r>
              <a:t/>
            </a:r>
            <a:endParaRPr/>
          </a:p>
          <a:p>
            <a:pPr indent="-228600" lvl="0" marL="228600" rtl="0" algn="just">
              <a:lnSpc>
                <a:spcPct val="90000"/>
              </a:lnSpc>
              <a:spcBef>
                <a:spcPts val="1000"/>
              </a:spcBef>
              <a:spcAft>
                <a:spcPts val="0"/>
              </a:spcAft>
              <a:buClr>
                <a:schemeClr val="dk1"/>
              </a:buClr>
              <a:buSzPct val="100000"/>
              <a:buChar char="•"/>
            </a:pPr>
            <a:r>
              <a:rPr lang="es-CO" u="sng">
                <a:solidFill>
                  <a:schemeClr val="hlink"/>
                </a:solidFill>
                <a:hlinkClick r:id="rId3"/>
              </a:rPr>
              <a:t>“AGI will massively accelerate scientific discovery, however, singularity is not a point but different separate moments.” — Sam Altman, 2025</a:t>
            </a:r>
            <a:endParaRPr/>
          </a:p>
          <a:p>
            <a:pPr indent="0" lvl="0" marL="0" rtl="0" algn="just">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s-CO"/>
              <a:t>xAi</a:t>
            </a:r>
            <a:endParaRPr/>
          </a:p>
        </p:txBody>
      </p:sp>
      <p:sp>
        <p:nvSpPr>
          <p:cNvPr id="229" name="Google Shape;229;p25"/>
          <p:cNvSpPr txBox="1"/>
          <p:nvPr>
            <p:ph idx="1" type="body"/>
          </p:nvPr>
        </p:nvSpPr>
        <p:spPr>
          <a:xfrm>
            <a:off x="495299" y="1558924"/>
            <a:ext cx="11172825" cy="4860925"/>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just">
              <a:lnSpc>
                <a:spcPct val="90000"/>
              </a:lnSpc>
              <a:spcBef>
                <a:spcPts val="0"/>
              </a:spcBef>
              <a:spcAft>
                <a:spcPts val="0"/>
              </a:spcAft>
              <a:buClr>
                <a:schemeClr val="dk1"/>
              </a:buClr>
              <a:buSzPct val="100000"/>
              <a:buChar char="•"/>
            </a:pPr>
            <a:r>
              <a:rPr lang="es-CO"/>
              <a:t>Emphasizes “maximally truth-seeking” AI, avoiding “politically correct” biases in LLMs.</a:t>
            </a:r>
            <a:endParaRPr/>
          </a:p>
          <a:p>
            <a:pPr indent="-64135" lvl="0" marL="228600" rtl="0" algn="just">
              <a:lnSpc>
                <a:spcPct val="90000"/>
              </a:lnSpc>
              <a:spcBef>
                <a:spcPts val="1000"/>
              </a:spcBef>
              <a:spcAft>
                <a:spcPts val="0"/>
              </a:spcAft>
              <a:buClr>
                <a:schemeClr val="dk1"/>
              </a:buClr>
              <a:buSzPct val="100000"/>
              <a:buNone/>
            </a:pPr>
            <a:r>
              <a:t/>
            </a:r>
            <a:endParaRPr/>
          </a:p>
          <a:p>
            <a:pPr indent="-228600" lvl="0" marL="228600" rtl="0" algn="just">
              <a:lnSpc>
                <a:spcPct val="90000"/>
              </a:lnSpc>
              <a:spcBef>
                <a:spcPts val="1000"/>
              </a:spcBef>
              <a:spcAft>
                <a:spcPts val="0"/>
              </a:spcAft>
              <a:buClr>
                <a:schemeClr val="dk1"/>
              </a:buClr>
              <a:buSzPct val="100000"/>
              <a:buChar char="•"/>
            </a:pPr>
            <a:r>
              <a:rPr lang="es-CO"/>
              <a:t>Integrates with Tesla (autonomous driving) and X (data training), leveraging Musk’s ecosystem.</a:t>
            </a:r>
            <a:endParaRPr/>
          </a:p>
          <a:p>
            <a:pPr indent="-64135" lvl="0" marL="228600" rtl="0" algn="just">
              <a:lnSpc>
                <a:spcPct val="90000"/>
              </a:lnSpc>
              <a:spcBef>
                <a:spcPts val="1000"/>
              </a:spcBef>
              <a:spcAft>
                <a:spcPts val="0"/>
              </a:spcAft>
              <a:buClr>
                <a:schemeClr val="dk1"/>
              </a:buClr>
              <a:buSzPct val="100000"/>
              <a:buNone/>
            </a:pPr>
            <a:r>
              <a:t/>
            </a:r>
            <a:endParaRPr/>
          </a:p>
          <a:p>
            <a:pPr indent="-228600" lvl="0" marL="228600" rtl="0" algn="just">
              <a:lnSpc>
                <a:spcPct val="90000"/>
              </a:lnSpc>
              <a:spcBef>
                <a:spcPts val="1000"/>
              </a:spcBef>
              <a:spcAft>
                <a:spcPts val="0"/>
              </a:spcAft>
              <a:buClr>
                <a:schemeClr val="dk1"/>
              </a:buClr>
              <a:buSzPct val="100000"/>
              <a:buChar char="•"/>
            </a:pPr>
            <a:r>
              <a:rPr lang="es-CO"/>
              <a:t>Advocates “maximally curious” AI that seeks truth over ideological biases, criticizing “woke” AI systems.</a:t>
            </a:r>
            <a:endParaRPr/>
          </a:p>
          <a:p>
            <a:pPr indent="-64135" lvl="0" marL="228600" rtl="0" algn="just">
              <a:lnSpc>
                <a:spcPct val="90000"/>
              </a:lnSpc>
              <a:spcBef>
                <a:spcPts val="1000"/>
              </a:spcBef>
              <a:spcAft>
                <a:spcPts val="0"/>
              </a:spcAft>
              <a:buClr>
                <a:schemeClr val="dk1"/>
              </a:buClr>
              <a:buSzPct val="100000"/>
              <a:buNone/>
            </a:pPr>
            <a:r>
              <a:t/>
            </a:r>
            <a:endParaRPr/>
          </a:p>
          <a:p>
            <a:pPr indent="-228600" lvl="0" marL="228600" rtl="0" algn="just">
              <a:lnSpc>
                <a:spcPct val="90000"/>
              </a:lnSpc>
              <a:spcBef>
                <a:spcPts val="1000"/>
              </a:spcBef>
              <a:spcAft>
                <a:spcPts val="0"/>
              </a:spcAft>
              <a:buClr>
                <a:schemeClr val="dk1"/>
              </a:buClr>
              <a:buSzPct val="100000"/>
              <a:buChar char="•"/>
            </a:pPr>
            <a:r>
              <a:rPr lang="es-CO"/>
              <a:t>Estimates a 10–20% chance AI could “go bad,” posing a “significant existential threat” to humanity. Warns of “civilizational destruction” if AI develops unchecked, misuse for bioweapons.</a:t>
            </a:r>
            <a:endParaRPr/>
          </a:p>
          <a:p>
            <a:pPr indent="-64135" lvl="0" marL="228600" rtl="0" algn="just">
              <a:lnSpc>
                <a:spcPct val="90000"/>
              </a:lnSpc>
              <a:spcBef>
                <a:spcPts val="1000"/>
              </a:spcBef>
              <a:spcAft>
                <a:spcPts val="0"/>
              </a:spcAft>
              <a:buClr>
                <a:schemeClr val="dk1"/>
              </a:buClr>
              <a:buSzPct val="100000"/>
              <a:buNone/>
            </a:pPr>
            <a:r>
              <a:t/>
            </a:r>
            <a:endParaRPr/>
          </a:p>
          <a:p>
            <a:pPr indent="-64135" lvl="0" marL="228600" rtl="0" algn="just">
              <a:lnSpc>
                <a:spcPct val="90000"/>
              </a:lnSpc>
              <a:spcBef>
                <a:spcPts val="1000"/>
              </a:spcBef>
              <a:spcAft>
                <a:spcPts val="0"/>
              </a:spcAft>
              <a:buClr>
                <a:schemeClr val="dk1"/>
              </a:buClr>
              <a:buSzPct val="100000"/>
              <a:buNone/>
            </a:pPr>
            <a:r>
              <a:t/>
            </a:r>
            <a:endParaRPr/>
          </a:p>
          <a:p>
            <a:pPr indent="-64135" lvl="0" marL="228600" rtl="0" algn="just">
              <a:lnSpc>
                <a:spcPct val="90000"/>
              </a:lnSpc>
              <a:spcBef>
                <a:spcPts val="1000"/>
              </a:spcBef>
              <a:spcAft>
                <a:spcPts val="0"/>
              </a:spcAft>
              <a:buClr>
                <a:schemeClr val="dk1"/>
              </a:buClr>
              <a:buSzPct val="100000"/>
              <a:buNone/>
            </a:pPr>
            <a:r>
              <a:t/>
            </a:r>
            <a:endParaRPr/>
          </a:p>
          <a:p>
            <a:pPr indent="-64135" lvl="0" marL="228600" rtl="0" algn="just">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pic>
        <p:nvPicPr>
          <p:cNvPr id="234" name="Google Shape;234;p26"/>
          <p:cNvPicPr preferRelativeResize="0"/>
          <p:nvPr/>
        </p:nvPicPr>
        <p:blipFill rotWithShape="1">
          <a:blip r:embed="rId3">
            <a:alphaModFix/>
          </a:blip>
          <a:srcRect b="0" l="0" r="0" t="0"/>
          <a:stretch/>
        </p:blipFill>
        <p:spPr>
          <a:xfrm>
            <a:off x="894624" y="423443"/>
            <a:ext cx="10402752" cy="601111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pic>
        <p:nvPicPr>
          <p:cNvPr id="239" name="Google Shape;239;p27"/>
          <p:cNvPicPr preferRelativeResize="0"/>
          <p:nvPr/>
        </p:nvPicPr>
        <p:blipFill rotWithShape="1">
          <a:blip r:embed="rId3">
            <a:alphaModFix/>
          </a:blip>
          <a:srcRect b="0" l="0" r="0" t="0"/>
          <a:stretch/>
        </p:blipFill>
        <p:spPr>
          <a:xfrm>
            <a:off x="579864" y="254496"/>
            <a:ext cx="10716322" cy="6436072"/>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pic>
        <p:nvPicPr>
          <p:cNvPr id="244" name="Google Shape;244;p28"/>
          <p:cNvPicPr preferRelativeResize="0"/>
          <p:nvPr/>
        </p:nvPicPr>
        <p:blipFill rotWithShape="1">
          <a:blip r:embed="rId3">
            <a:alphaModFix/>
          </a:blip>
          <a:srcRect b="0" l="0" r="0" t="0"/>
          <a:stretch/>
        </p:blipFill>
        <p:spPr>
          <a:xfrm>
            <a:off x="390293" y="1414181"/>
            <a:ext cx="11259748" cy="430639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s-CO"/>
              <a:t>Anthrop|c: Focus on Security of Ai</a:t>
            </a:r>
            <a:endParaRPr/>
          </a:p>
        </p:txBody>
      </p:sp>
      <p:sp>
        <p:nvSpPr>
          <p:cNvPr id="250" name="Google Shape;250;p2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s-CO"/>
              <a:t>Adolescense of Technology</a:t>
            </a:r>
            <a:endParaRPr/>
          </a:p>
          <a:p>
            <a:pPr indent="0" lvl="0" marL="0" rtl="0" algn="l">
              <a:lnSpc>
                <a:spcPct val="90000"/>
              </a:lnSpc>
              <a:spcBef>
                <a:spcPts val="1000"/>
              </a:spcBef>
              <a:spcAft>
                <a:spcPts val="0"/>
              </a:spcAft>
              <a:buClr>
                <a:schemeClr val="dk1"/>
              </a:buClr>
              <a:buSzPts val="2400"/>
              <a:buNone/>
            </a:pPr>
            <a:r>
              <a:rPr lang="es-CO" sz="2400"/>
              <a:t>Confronting and Overcoming the Risks of Powerful AI, </a:t>
            </a:r>
            <a:endParaRPr/>
          </a:p>
          <a:p>
            <a:pPr indent="0" lvl="0" marL="0" rtl="0" algn="l">
              <a:lnSpc>
                <a:spcPct val="90000"/>
              </a:lnSpc>
              <a:spcBef>
                <a:spcPts val="1000"/>
              </a:spcBef>
              <a:spcAft>
                <a:spcPts val="0"/>
              </a:spcAft>
              <a:buClr>
                <a:schemeClr val="dk1"/>
              </a:buClr>
              <a:buSzPts val="2400"/>
              <a:buNone/>
            </a:pPr>
            <a:r>
              <a:rPr lang="es-CO" sz="2400"/>
              <a:t>Dario Amodei, CEO Anthropic, January 2026</a:t>
            </a:r>
            <a:endParaRPr/>
          </a:p>
          <a:p>
            <a:pPr indent="0" lvl="0" marL="0" rtl="0" algn="l">
              <a:lnSpc>
                <a:spcPct val="90000"/>
              </a:lnSpc>
              <a:spcBef>
                <a:spcPts val="1000"/>
              </a:spcBef>
              <a:spcAft>
                <a:spcPts val="0"/>
              </a:spcAft>
              <a:buClr>
                <a:schemeClr val="dk1"/>
              </a:buClr>
              <a:buSzPts val="2400"/>
              <a:buNone/>
            </a:pPr>
            <a:r>
              <a:t/>
            </a:r>
            <a:endParaRPr sz="2400"/>
          </a:p>
          <a:p>
            <a:pPr indent="0" lvl="0" marL="0" rtl="0" algn="l">
              <a:lnSpc>
                <a:spcPct val="90000"/>
              </a:lnSpc>
              <a:spcBef>
                <a:spcPts val="1000"/>
              </a:spcBef>
              <a:spcAft>
                <a:spcPts val="0"/>
              </a:spcAft>
              <a:buClr>
                <a:schemeClr val="dk1"/>
              </a:buClr>
              <a:buSzPts val="2400"/>
              <a:buNone/>
            </a:pPr>
            <a:r>
              <a:t/>
            </a:r>
            <a:endParaRPr sz="2400"/>
          </a:p>
          <a:p>
            <a:pPr indent="0" lvl="0" marL="0" rtl="0" algn="l">
              <a:lnSpc>
                <a:spcPct val="90000"/>
              </a:lnSpc>
              <a:spcBef>
                <a:spcPts val="1000"/>
              </a:spcBef>
              <a:spcAft>
                <a:spcPts val="0"/>
              </a:spcAft>
              <a:buClr>
                <a:schemeClr val="dk1"/>
              </a:buClr>
              <a:buSzPts val="2800"/>
              <a:buNone/>
            </a:pPr>
            <a:r>
              <a:rPr lang="es-CO" u="sng">
                <a:solidFill>
                  <a:schemeClr val="hlink"/>
                </a:solidFill>
                <a:hlinkClick r:id="rId3"/>
              </a:rPr>
              <a:t>This </a:t>
            </a:r>
            <a:r>
              <a:rPr b="1" lang="es-CO" u="sng">
                <a:solidFill>
                  <a:schemeClr val="hlink"/>
                </a:solidFill>
                <a:hlinkClick r:id="rId4"/>
              </a:rPr>
              <a:t>paper</a:t>
            </a:r>
            <a:r>
              <a:rPr lang="es-CO" u="sng">
                <a:solidFill>
                  <a:schemeClr val="hlink"/>
                </a:solidFill>
                <a:hlinkClick r:id="rId5"/>
              </a:rPr>
              <a:t> provides the first empirical example of a model engaging in alignment faking without being trained to do so</a:t>
            </a:r>
            <a:endParaRPr/>
          </a:p>
        </p:txBody>
      </p:sp>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2025-06-17T11:31:03Z</dcterms:created>
  <dc:creator>John Robert Ballesteros Parra</dc:creator>
</cp:coreProperties>
</file>