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24" r:id="rId3"/>
    <p:sldId id="257" r:id="rId4"/>
    <p:sldId id="259" r:id="rId5"/>
    <p:sldId id="258" r:id="rId6"/>
    <p:sldId id="260" r:id="rId7"/>
    <p:sldId id="263" r:id="rId8"/>
    <p:sldId id="262" r:id="rId9"/>
    <p:sldId id="322" r:id="rId10"/>
    <p:sldId id="321" r:id="rId11"/>
    <p:sldId id="320" r:id="rId12"/>
    <p:sldId id="268" r:id="rId13"/>
    <p:sldId id="269" r:id="rId14"/>
    <p:sldId id="267" r:id="rId15"/>
    <p:sldId id="264" r:id="rId16"/>
    <p:sldId id="266" r:id="rId17"/>
    <p:sldId id="265" r:id="rId18"/>
    <p:sldId id="270" r:id="rId19"/>
    <p:sldId id="323" r:id="rId20"/>
    <p:sldId id="325" r:id="rId21"/>
    <p:sldId id="261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8F3A-C3DD-450C-930C-AB523F17902F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B0971-9687-44D2-89D5-DB2CAE9F067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592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EE9B7-CABD-746B-278C-2D1F4A4E8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4F8D25-22AD-8AE9-B3DB-02750979D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FBF277-B2D3-E75C-8480-87DE26BA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CF453C-7352-C3F0-1410-F375C2B1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F47F3E-5797-6620-D216-3FFDFE84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719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45F93-2BF9-A505-1D43-7BC89F16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767653-D6B2-12AA-D0D7-5FDB44FF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1BE0D-0E0D-F45D-A385-BD8EF0EC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42758A-F641-D59D-1D32-A313A5DD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3465A-E546-4CCE-EB0E-661172E8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240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18047-8CC5-6FA2-D040-353046EC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41E4D7-A95A-B17C-77ED-A3B10A5F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E8CAEF-BA96-C1F6-D1BF-6293111C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1D47F0-87C9-4450-A164-1F09031E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1620A-60E5-90C8-4EAA-45904705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793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F6144-F392-F42F-677B-1AD3538E5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121223-06D9-2F4C-960F-84CB36213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92B5A6-813B-9019-1AE0-539B63F2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D4454F-FFA0-9EC9-32EE-C0280E36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9CFF23-5241-09DD-8D44-E835DFE9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3297E8-59DA-6FB3-C59F-E0167A46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121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FB74A-3F45-A401-5185-B3FDA71E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14BF09-3017-32A9-4806-D710C3B09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82807F-7B5E-7FC3-E3AA-9C432F532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0CD784-B288-3565-DACE-206A526D2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BEEEA4-D2BA-D726-727C-B05BFCD54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5E8492-3834-18FB-1221-81805D04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68A309-517A-F4F6-A869-A4E97341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E09927-71D5-E16B-CF98-C1BA4835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651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1D082-17CD-F97A-A910-55916FCC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B84B8CA-8E73-2863-CB1E-725C48E3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326502-F6F7-044A-0D95-A09485E0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43E8A-A4BB-6E9C-2D9D-69AC11DE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97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0A1F70-3324-C4B2-EA41-315A213E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3B3705-2845-FC5E-D0C6-8EBF5BC9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FC191B-3A45-D9EF-0F0E-88AAEAB3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813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8F423-5C65-F967-32D3-41A960D5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D0BEF7-1CDF-C766-08F1-461E708B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6AD068-A818-D41B-9262-DE9D4C669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FD021B-F581-5B5F-23D7-63A838DE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3E16F-2835-42F6-7870-FCB6EE1C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15993-0A12-A2EB-E1FE-69833D95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459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75D78-1B56-7B43-F358-6D9841C1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B68E53-DAD4-FF48-958F-B9B3A5825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73ED9E-6BAD-AD48-D0D2-50EE78031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69A122-4EEF-2910-D647-6F6C2804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9E3A29-5DC7-1AED-F480-6D7C1AFF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0AA53-8B0B-3F13-98B7-1AFC3830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478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ACB05-3FDA-0552-7806-6A53BC77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800449-5E32-5D21-31FD-A72ECCCB1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331970-BAA8-8466-FB95-021FFA2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93E8D-FBEA-4F6F-8B7E-CAD01226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CEEE0-F1E1-9C57-3878-F0473644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493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FBA2B1-5291-C15F-F34B-826C68AD6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C68EDA-B0A6-2EDB-F741-D522FA3C0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34ECD-FBB7-8221-2B25-265452E6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21BF9-01AD-9D1F-BCA6-F7A9BD0F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FFCFB3-E4D3-8AB6-D33C-17A03620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6245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24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B197D8-C6EE-968B-214C-6B11E904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64DE6-D8EA-84A9-4E15-1233FA46C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E423E-23F4-0E03-D398-F2D885F59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14C36-6751-45EC-9AC1-832A5F440A0A}" type="datetimeFigureOut">
              <a:rPr lang="es-MX" smtClean="0"/>
              <a:t>06/03/2026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A1C7-E394-781B-7DFE-86AB3CA71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3A5FF1-98D8-5CD1-339D-AC23AFB68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173CA-FFBE-461D-A405-D660FF3156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510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1192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pdf/2010.1192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3.0002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0002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205.06230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pdf/2304.0264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3.05499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4.0848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0.07704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1.0624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7.0772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270C1-285F-E291-E0E2-3E3D0855F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475" y="1122363"/>
            <a:ext cx="9829800" cy="2387600"/>
          </a:xfrm>
        </p:spPr>
        <p:txBody>
          <a:bodyPr/>
          <a:lstStyle/>
          <a:p>
            <a:r>
              <a:rPr lang="es-CO" b="1" dirty="0"/>
              <a:t>ViT and </a:t>
            </a:r>
            <a:r>
              <a:rPr lang="es-CO" b="1" dirty="0" err="1"/>
              <a:t>VLMs</a:t>
            </a:r>
            <a:r>
              <a:rPr lang="es-CO" b="1" dirty="0"/>
              <a:t> and Multimodal </a:t>
            </a:r>
            <a:r>
              <a:rPr lang="es-CO" b="1" dirty="0" err="1"/>
              <a:t>LLMs</a:t>
            </a:r>
            <a:endParaRPr lang="es-MX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581586-E614-CFA8-646F-2951AAFE3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Text, Audio, </a:t>
            </a:r>
            <a:r>
              <a:rPr lang="es-CO" dirty="0" err="1"/>
              <a:t>Image</a:t>
            </a:r>
            <a:r>
              <a:rPr lang="es-CO" dirty="0"/>
              <a:t>, Video </a:t>
            </a:r>
            <a:r>
              <a:rPr lang="es-CO" dirty="0" err="1"/>
              <a:t>all</a:t>
            </a:r>
            <a:r>
              <a:rPr lang="es-CO" dirty="0"/>
              <a:t> at once</a:t>
            </a:r>
          </a:p>
          <a:p>
            <a:endParaRPr lang="es-CO" dirty="0"/>
          </a:p>
          <a:p>
            <a:r>
              <a:rPr lang="es-CO" dirty="0"/>
              <a:t>John R. Ballesteros</a:t>
            </a:r>
          </a:p>
          <a:p>
            <a:r>
              <a:rPr lang="es-CO" dirty="0" err="1"/>
              <a:t>Ph.D</a:t>
            </a:r>
            <a:r>
              <a:rPr lang="es-CO" dirty="0"/>
              <a:t> Full </a:t>
            </a:r>
            <a:r>
              <a:rPr lang="es-CO" dirty="0" err="1"/>
              <a:t>Professor</a:t>
            </a:r>
            <a:r>
              <a:rPr lang="es-CO" dirty="0"/>
              <a:t> UNAL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18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93A66-128B-4F76-AE7B-42E5ED34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6453"/>
            <a:ext cx="10972800" cy="1143000"/>
          </a:xfrm>
        </p:spPr>
        <p:txBody>
          <a:bodyPr/>
          <a:lstStyle/>
          <a:p>
            <a:pPr algn="ctr"/>
            <a:r>
              <a:rPr lang="es-CO" sz="4000" b="1" dirty="0" err="1"/>
              <a:t>Vision</a:t>
            </a:r>
            <a:r>
              <a:rPr lang="es-CO" sz="4000" b="1" dirty="0"/>
              <a:t> </a:t>
            </a:r>
            <a:r>
              <a:rPr lang="es-CO" sz="4000" b="1" dirty="0" err="1"/>
              <a:t>Methods</a:t>
            </a:r>
            <a:endParaRPr lang="es-CO" sz="40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582CD1-8F1C-4C13-A267-B02B336C4435}"/>
              </a:ext>
            </a:extLst>
          </p:cNvPr>
          <p:cNvSpPr txBox="1"/>
          <p:nvPr/>
        </p:nvSpPr>
        <p:spPr>
          <a:xfrm>
            <a:off x="326087" y="5977772"/>
            <a:ext cx="907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CNN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5369854-4915-43F7-8B12-7F11A2A198D6}"/>
              </a:ext>
            </a:extLst>
          </p:cNvPr>
          <p:cNvSpPr txBox="1"/>
          <p:nvPr/>
        </p:nvSpPr>
        <p:spPr>
          <a:xfrm>
            <a:off x="9666538" y="5939672"/>
            <a:ext cx="219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RNN &amp; GAN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DB75B18-FD0C-4302-8B7D-286654F043D4}"/>
              </a:ext>
            </a:extLst>
          </p:cNvPr>
          <p:cNvCxnSpPr>
            <a:cxnSpLocks/>
          </p:cNvCxnSpPr>
          <p:nvPr/>
        </p:nvCxnSpPr>
        <p:spPr>
          <a:xfrm>
            <a:off x="1192549" y="6262631"/>
            <a:ext cx="8413904" cy="0"/>
          </a:xfrm>
          <a:prstGeom prst="straightConnector1">
            <a:avLst/>
          </a:prstGeom>
          <a:ln w="4445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D72C5312-25D7-535A-15AB-A12B269C4E7D}"/>
              </a:ext>
            </a:extLst>
          </p:cNvPr>
          <p:cNvGrpSpPr/>
          <p:nvPr/>
        </p:nvGrpSpPr>
        <p:grpSpPr>
          <a:xfrm>
            <a:off x="-119367" y="1497813"/>
            <a:ext cx="12311367" cy="4367213"/>
            <a:chOff x="-119367" y="1497813"/>
            <a:chExt cx="12311367" cy="4367213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7161A76-06BF-6299-24E0-5ECA07EB778C}"/>
                </a:ext>
              </a:extLst>
            </p:cNvPr>
            <p:cNvGrpSpPr/>
            <p:nvPr/>
          </p:nvGrpSpPr>
          <p:grpSpPr>
            <a:xfrm>
              <a:off x="-119367" y="1497813"/>
              <a:ext cx="12311367" cy="4367213"/>
              <a:chOff x="-131939" y="644119"/>
              <a:chExt cx="12311367" cy="4367213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730BB02D-221A-4CAB-BB49-4E96D4D5C1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7578" t="28124" r="6875" b="8194"/>
              <a:stretch/>
            </p:blipFill>
            <p:spPr>
              <a:xfrm>
                <a:off x="-131939" y="644119"/>
                <a:ext cx="10429875" cy="4367213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EC04AC29-E0E4-41ED-B2D2-2B62F162CE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95" t="51550" r="2017" b="10566"/>
              <a:stretch/>
            </p:blipFill>
            <p:spPr>
              <a:xfrm>
                <a:off x="10297936" y="3120525"/>
                <a:ext cx="1530626" cy="1699592"/>
              </a:xfrm>
              <a:prstGeom prst="rect">
                <a:avLst/>
              </a:prstGeom>
            </p:spPr>
          </p:pic>
          <p:pic>
            <p:nvPicPr>
              <p:cNvPr id="9" name="Imagen 8">
                <a:extLst>
                  <a:ext uri="{FF2B5EF4-FFF2-40B4-BE49-F238E27FC236}">
                    <a16:creationId xmlns:a16="http://schemas.microsoft.com/office/drawing/2014/main" id="{811DF3A8-BA28-4A69-BF56-FCDB415E6B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859" t="54357" r="24954" b="10716"/>
              <a:stretch/>
            </p:blipFill>
            <p:spPr>
              <a:xfrm>
                <a:off x="10228363" y="1525575"/>
                <a:ext cx="1530523" cy="1566930"/>
              </a:xfrm>
              <a:prstGeom prst="rect">
                <a:avLst/>
              </a:prstGeom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FE23F79-E6D6-4815-A55C-2B7FA682A3C9}"/>
                  </a:ext>
                </a:extLst>
              </p:cNvPr>
              <p:cNvSpPr txBox="1"/>
              <p:nvPr/>
            </p:nvSpPr>
            <p:spPr>
              <a:xfrm>
                <a:off x="9913307" y="663120"/>
                <a:ext cx="2266121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500" b="1" dirty="0" err="1">
                    <a:solidFill>
                      <a:srgbClr val="FF965A"/>
                    </a:solidFill>
                  </a:rPr>
                  <a:t>Image</a:t>
                </a:r>
                <a:r>
                  <a:rPr lang="es-CO" sz="1500" b="1" dirty="0">
                    <a:solidFill>
                      <a:srgbClr val="FF965A"/>
                    </a:solidFill>
                  </a:rPr>
                  <a:t> </a:t>
                </a:r>
                <a:r>
                  <a:rPr lang="es-CO" sz="1500" b="1" dirty="0" err="1">
                    <a:solidFill>
                      <a:srgbClr val="FF965A"/>
                    </a:solidFill>
                  </a:rPr>
                  <a:t>Generation</a:t>
                </a:r>
                <a:r>
                  <a:rPr lang="es-CO" sz="1500" b="1" dirty="0">
                    <a:solidFill>
                      <a:srgbClr val="FF965A"/>
                    </a:solidFill>
                  </a:rPr>
                  <a:t>/</a:t>
                </a:r>
                <a:r>
                  <a:rPr lang="es-CO" sz="1500" b="1" dirty="0" err="1">
                    <a:solidFill>
                      <a:srgbClr val="FF965A"/>
                    </a:solidFill>
                  </a:rPr>
                  <a:t>Translation</a:t>
                </a:r>
                <a:endParaRPr lang="es-CO" sz="1500" b="1" dirty="0">
                  <a:solidFill>
                    <a:srgbClr val="FF965A"/>
                  </a:solidFill>
                </a:endParaRPr>
              </a:p>
            </p:txBody>
          </p:sp>
        </p:grpSp>
        <p:sp>
          <p:nvSpPr>
            <p:cNvPr id="3" name="Arco 2">
              <a:extLst>
                <a:ext uri="{FF2B5EF4-FFF2-40B4-BE49-F238E27FC236}">
                  <a16:creationId xmlns:a16="http://schemas.microsoft.com/office/drawing/2014/main" id="{B5A3DD5B-B14D-4AD7-B707-7B8370340BA8}"/>
                </a:ext>
              </a:extLst>
            </p:cNvPr>
            <p:cNvSpPr/>
            <p:nvPr/>
          </p:nvSpPr>
          <p:spPr>
            <a:xfrm>
              <a:off x="6275590" y="1597510"/>
              <a:ext cx="2476500" cy="313039"/>
            </a:xfrm>
            <a:prstGeom prst="arc">
              <a:avLst>
                <a:gd name="adj1" fmla="val 10843134"/>
                <a:gd name="adj2" fmla="val 0"/>
              </a:avLst>
            </a:prstGeom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2120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B92DE-161B-BEB0-BEC0-0C7EB3A5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IMAGE IS WORTH 16X16 WORDS: </a:t>
            </a:r>
            <a:r>
              <a:rPr lang="en-US" sz="3600" dirty="0"/>
              <a:t>TRANSFORMERS FOR IMAGE RECOGNITION AT SCALE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F85C1-F833-3EF2-90EC-99383B82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2638424"/>
            <a:ext cx="10515600" cy="3738563"/>
          </a:xfrm>
        </p:spPr>
        <p:txBody>
          <a:bodyPr/>
          <a:lstStyle/>
          <a:p>
            <a:pPr algn="just"/>
            <a:r>
              <a:rPr lang="es-CO" dirty="0"/>
              <a:t>ViT </a:t>
            </a:r>
            <a:r>
              <a:rPr lang="es-CO" dirty="0" err="1"/>
              <a:t>tesselates</a:t>
            </a:r>
            <a:r>
              <a:rPr lang="es-CO" dirty="0"/>
              <a:t> </a:t>
            </a:r>
            <a:r>
              <a:rPr lang="es-CO" dirty="0" err="1"/>
              <a:t>images</a:t>
            </a:r>
            <a:r>
              <a:rPr lang="es-CO" dirty="0"/>
              <a:t> (16x16) in linear </a:t>
            </a:r>
            <a:r>
              <a:rPr lang="es-CO" dirty="0" err="1"/>
              <a:t>sequences</a:t>
            </a:r>
            <a:r>
              <a:rPr lang="es-CO" dirty="0"/>
              <a:t> and inputs </a:t>
            </a:r>
            <a:r>
              <a:rPr lang="es-CO" dirty="0" err="1"/>
              <a:t>them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Transformers in a </a:t>
            </a:r>
            <a:r>
              <a:rPr lang="es-CO" dirty="0" err="1"/>
              <a:t>supervised</a:t>
            </a:r>
            <a:r>
              <a:rPr lang="es-CO" dirty="0"/>
              <a:t> </a:t>
            </a:r>
            <a:r>
              <a:rPr lang="es-CO" dirty="0" err="1"/>
              <a:t>manner</a:t>
            </a:r>
            <a:r>
              <a:rPr lang="es-CO" dirty="0"/>
              <a:t>.</a:t>
            </a:r>
          </a:p>
          <a:p>
            <a:endParaRPr lang="es-CO" dirty="0"/>
          </a:p>
          <a:p>
            <a:pPr algn="just"/>
            <a:r>
              <a:rPr lang="es-CO" dirty="0"/>
              <a:t>ViT </a:t>
            </a:r>
            <a:r>
              <a:rPr lang="es-CO" dirty="0" err="1"/>
              <a:t>applied</a:t>
            </a:r>
            <a:r>
              <a:rPr lang="es-CO" dirty="0"/>
              <a:t> in </a:t>
            </a:r>
            <a:r>
              <a:rPr lang="es-CO" dirty="0" err="1"/>
              <a:t>image</a:t>
            </a:r>
            <a:r>
              <a:rPr lang="es-CO" dirty="0"/>
              <a:t> </a:t>
            </a:r>
            <a:r>
              <a:rPr lang="es-CO" dirty="0" err="1"/>
              <a:t>recognition</a:t>
            </a:r>
            <a:r>
              <a:rPr lang="es-CO" dirty="0"/>
              <a:t> </a:t>
            </a:r>
            <a:r>
              <a:rPr lang="es-CO" dirty="0" err="1"/>
              <a:t>improved</a:t>
            </a:r>
            <a:r>
              <a:rPr lang="es-CO" dirty="0"/>
              <a:t> in performance </a:t>
            </a:r>
            <a:r>
              <a:rPr lang="es-CO" dirty="0" err="1"/>
              <a:t>compared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CNN, </a:t>
            </a:r>
            <a:r>
              <a:rPr lang="es-CO" dirty="0" err="1"/>
              <a:t>specifically</a:t>
            </a:r>
            <a:r>
              <a:rPr lang="es-CO" dirty="0"/>
              <a:t> </a:t>
            </a:r>
            <a:r>
              <a:rPr lang="es-CO" dirty="0" err="1"/>
              <a:t>when</a:t>
            </a:r>
            <a:r>
              <a:rPr lang="es-CO" dirty="0"/>
              <a:t> </a:t>
            </a:r>
            <a:r>
              <a:rPr lang="es-CO" dirty="0" err="1"/>
              <a:t>pre-trained</a:t>
            </a:r>
            <a:r>
              <a:rPr lang="es-CO" dirty="0"/>
              <a:t> </a:t>
            </a:r>
            <a:r>
              <a:rPr lang="es-CO" dirty="0" err="1"/>
              <a:t>over</a:t>
            </a:r>
            <a:r>
              <a:rPr lang="es-CO" dirty="0"/>
              <a:t> </a:t>
            </a:r>
            <a:r>
              <a:rPr lang="es-CO" dirty="0" err="1"/>
              <a:t>billion</a:t>
            </a:r>
            <a:r>
              <a:rPr lang="es-CO" dirty="0"/>
              <a:t> </a:t>
            </a:r>
            <a:r>
              <a:rPr lang="es-CO" dirty="0" err="1"/>
              <a:t>examples</a:t>
            </a:r>
            <a:r>
              <a:rPr lang="es-CO" dirty="0"/>
              <a:t> and </a:t>
            </a:r>
            <a:r>
              <a:rPr lang="es-CO" dirty="0" err="1"/>
              <a:t>computing</a:t>
            </a:r>
            <a:r>
              <a:rPr lang="es-CO" dirty="0"/>
              <a:t> </a:t>
            </a:r>
            <a:r>
              <a:rPr lang="es-CO" dirty="0" err="1"/>
              <a:t>requirements</a:t>
            </a:r>
            <a:r>
              <a:rPr lang="es-CO" dirty="0"/>
              <a:t>.</a:t>
            </a:r>
          </a:p>
          <a:p>
            <a:pPr algn="just"/>
            <a:endParaRPr lang="es-CO" dirty="0"/>
          </a:p>
          <a:p>
            <a:pPr algn="just"/>
            <a:r>
              <a:rPr lang="es-MX" b="1" dirty="0">
                <a:hlinkClick r:id="rId2"/>
              </a:rPr>
              <a:t>ViT-H/14: </a:t>
            </a:r>
            <a:r>
              <a:rPr lang="es-MX" b="1" dirty="0" err="1">
                <a:hlinkClick r:id="rId2"/>
              </a:rPr>
              <a:t>means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vision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transformer</a:t>
            </a:r>
            <a:r>
              <a:rPr lang="es-MX" b="1" dirty="0">
                <a:hlinkClick r:id="rId2"/>
              </a:rPr>
              <a:t> </a:t>
            </a:r>
            <a:r>
              <a:rPr lang="es-MX" b="1" dirty="0" err="1">
                <a:hlinkClick r:id="rId2"/>
              </a:rPr>
              <a:t>huge</a:t>
            </a:r>
            <a:r>
              <a:rPr lang="es-MX" b="1" dirty="0">
                <a:hlinkClick r:id="rId2"/>
              </a:rPr>
              <a:t> 14x14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2582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E90E8FD5-33A0-615C-0B67-B28F9B13F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4" t="6732" r="1584"/>
          <a:stretch>
            <a:fillRect/>
          </a:stretch>
        </p:blipFill>
        <p:spPr>
          <a:xfrm>
            <a:off x="971550" y="138014"/>
            <a:ext cx="10748570" cy="6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9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768C4-4EC3-F072-9FFF-21B97336F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5000"/>
            <a:ext cx="10668000" cy="5880100"/>
          </a:xfrm>
        </p:spPr>
        <p:txBody>
          <a:bodyPr>
            <a:normAutofit/>
          </a:bodyPr>
          <a:lstStyle/>
          <a:p>
            <a:r>
              <a:rPr lang="es-MX" dirty="0"/>
              <a:t>94.55% en CIFAR-100, in </a:t>
            </a:r>
            <a:r>
              <a:rPr lang="es-MX" dirty="0" err="1"/>
              <a:t>ImageNet</a:t>
            </a:r>
            <a:r>
              <a:rPr lang="es-MX" dirty="0"/>
              <a:t>, </a:t>
            </a:r>
            <a:r>
              <a:rPr lang="es-MX" dirty="0" err="1"/>
              <a:t>ViT</a:t>
            </a:r>
            <a:r>
              <a:rPr lang="es-MX" dirty="0"/>
              <a:t>-L/16 </a:t>
            </a:r>
            <a:r>
              <a:rPr lang="es-MX" dirty="0" err="1"/>
              <a:t>scored</a:t>
            </a:r>
            <a:r>
              <a:rPr lang="es-MX" dirty="0"/>
              <a:t> 87.76% vs 87.54%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BiT</a:t>
            </a:r>
            <a:r>
              <a:rPr lang="es-MX" dirty="0"/>
              <a:t>-L</a:t>
            </a:r>
          </a:p>
          <a:p>
            <a:endParaRPr lang="es-MX" dirty="0"/>
          </a:p>
          <a:p>
            <a:pPr algn="just"/>
            <a:r>
              <a:rPr lang="es-MX" dirty="0" err="1"/>
              <a:t>Convolutions</a:t>
            </a:r>
            <a:r>
              <a:rPr lang="es-MX" dirty="0"/>
              <a:t> are </a:t>
            </a:r>
            <a:r>
              <a:rPr lang="es-MX" dirty="0" err="1"/>
              <a:t>better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small</a:t>
            </a:r>
            <a:r>
              <a:rPr lang="es-MX" dirty="0"/>
              <a:t> </a:t>
            </a:r>
            <a:r>
              <a:rPr lang="es-MX" dirty="0" err="1"/>
              <a:t>datasets</a:t>
            </a:r>
            <a:r>
              <a:rPr lang="es-MX" dirty="0"/>
              <a:t> </a:t>
            </a:r>
            <a:r>
              <a:rPr lang="es-MX" dirty="0" err="1"/>
              <a:t>imposing</a:t>
            </a:r>
            <a:r>
              <a:rPr lang="es-MX" dirty="0"/>
              <a:t> </a:t>
            </a:r>
            <a:r>
              <a:rPr lang="es-MX" dirty="0" err="1"/>
              <a:t>induvtive</a:t>
            </a:r>
            <a:r>
              <a:rPr lang="es-MX" dirty="0"/>
              <a:t> </a:t>
            </a:r>
            <a:r>
              <a:rPr lang="es-MX" dirty="0" err="1"/>
              <a:t>biases</a:t>
            </a:r>
            <a:r>
              <a:rPr lang="es-MX" dirty="0"/>
              <a:t>, </a:t>
            </a:r>
            <a:r>
              <a:rPr lang="es-MX" dirty="0" err="1"/>
              <a:t>ViT</a:t>
            </a:r>
            <a:r>
              <a:rPr lang="es-MX" dirty="0"/>
              <a:t> </a:t>
            </a:r>
            <a:r>
              <a:rPr lang="es-MX" dirty="0" err="1"/>
              <a:t>overcome</a:t>
            </a:r>
            <a:r>
              <a:rPr lang="es-MX" dirty="0"/>
              <a:t> </a:t>
            </a:r>
            <a:r>
              <a:rPr lang="es-MX" dirty="0" err="1"/>
              <a:t>this</a:t>
            </a:r>
            <a:r>
              <a:rPr lang="es-MX" dirty="0"/>
              <a:t> </a:t>
            </a:r>
            <a:r>
              <a:rPr lang="es-MX" dirty="0" err="1"/>
              <a:t>problem</a:t>
            </a:r>
            <a:r>
              <a:rPr lang="es-MX" dirty="0"/>
              <a:t> </a:t>
            </a:r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directly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data (</a:t>
            </a:r>
            <a:r>
              <a:rPr lang="es-MX" b="1" dirty="0"/>
              <a:t>100M-300M </a:t>
            </a:r>
            <a:r>
              <a:rPr lang="es-MX" b="1" dirty="0" err="1"/>
              <a:t>images</a:t>
            </a:r>
            <a:r>
              <a:rPr lang="es-MX" b="1" dirty="0"/>
              <a:t>)</a:t>
            </a:r>
          </a:p>
          <a:p>
            <a:pPr algn="just"/>
            <a:endParaRPr lang="es-MX" b="1" dirty="0"/>
          </a:p>
          <a:p>
            <a:pPr algn="just"/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 </a:t>
            </a:r>
            <a:r>
              <a:rPr lang="es-MX" dirty="0" err="1"/>
              <a:t>combining</a:t>
            </a:r>
            <a:r>
              <a:rPr lang="es-MX" dirty="0"/>
              <a:t> CNN and Transformers?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lightly</a:t>
            </a:r>
            <a:r>
              <a:rPr lang="es-MX" dirty="0"/>
              <a:t> </a:t>
            </a:r>
            <a:r>
              <a:rPr lang="es-MX" dirty="0" err="1"/>
              <a:t>surpasses</a:t>
            </a:r>
            <a:r>
              <a:rPr lang="es-MX" dirty="0"/>
              <a:t> </a:t>
            </a:r>
            <a:r>
              <a:rPr lang="es-MX" dirty="0" err="1"/>
              <a:t>ViT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small</a:t>
            </a:r>
            <a:r>
              <a:rPr lang="es-MX" dirty="0"/>
              <a:t>, </a:t>
            </a:r>
            <a:r>
              <a:rPr lang="es-MX" dirty="0" err="1"/>
              <a:t>but</a:t>
            </a:r>
            <a:r>
              <a:rPr lang="es-MX" dirty="0"/>
              <a:t>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large</a:t>
            </a:r>
            <a:r>
              <a:rPr lang="es-MX" dirty="0"/>
              <a:t> </a:t>
            </a:r>
            <a:r>
              <a:rPr lang="es-MX" dirty="0" err="1"/>
              <a:t>datasets</a:t>
            </a:r>
            <a:r>
              <a:rPr lang="es-MX" dirty="0"/>
              <a:t>.</a:t>
            </a:r>
          </a:p>
          <a:p>
            <a:pPr algn="just"/>
            <a:endParaRPr lang="es-MX" dirty="0"/>
          </a:p>
          <a:p>
            <a:pPr algn="just"/>
            <a:r>
              <a:rPr lang="es-MX" dirty="0" err="1"/>
              <a:t>It’s</a:t>
            </a:r>
            <a:r>
              <a:rPr lang="es-MX" dirty="0"/>
              <a:t> </a:t>
            </a:r>
            <a:r>
              <a:rPr lang="es-MX" dirty="0" err="1"/>
              <a:t>good</a:t>
            </a:r>
            <a:r>
              <a:rPr lang="es-MX" dirty="0"/>
              <a:t> </a:t>
            </a:r>
            <a:r>
              <a:rPr lang="es-MX" dirty="0" err="1"/>
              <a:t>practice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fine tune, use a </a:t>
            </a:r>
            <a:r>
              <a:rPr lang="es-MX" dirty="0" err="1"/>
              <a:t>pre-trained</a:t>
            </a:r>
            <a:r>
              <a:rPr lang="es-MX" dirty="0"/>
              <a:t> general </a:t>
            </a:r>
            <a:r>
              <a:rPr lang="es-MX" dirty="0" err="1"/>
              <a:t>model</a:t>
            </a:r>
            <a:r>
              <a:rPr lang="es-MX" dirty="0"/>
              <a:t>,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very</a:t>
            </a:r>
            <a:r>
              <a:rPr lang="es-MX" dirty="0"/>
              <a:t> </a:t>
            </a:r>
            <a:r>
              <a:rPr lang="es-MX" dirty="0" err="1"/>
              <a:t>specific</a:t>
            </a:r>
            <a:r>
              <a:rPr lang="es-MX" dirty="0"/>
              <a:t> </a:t>
            </a:r>
            <a:r>
              <a:rPr lang="es-MX" dirty="0" err="1"/>
              <a:t>high</a:t>
            </a:r>
            <a:r>
              <a:rPr lang="es-MX" dirty="0"/>
              <a:t> </a:t>
            </a:r>
            <a:r>
              <a:rPr lang="es-MX" dirty="0" err="1"/>
              <a:t>resolution</a:t>
            </a:r>
            <a:r>
              <a:rPr lang="es-MX" dirty="0"/>
              <a:t> </a:t>
            </a:r>
            <a:r>
              <a:rPr lang="es-MX" dirty="0" err="1"/>
              <a:t>dataset</a:t>
            </a:r>
            <a:r>
              <a:rPr lang="es-MX" dirty="0"/>
              <a:t>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104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1D21301D-9499-45B6-65D3-F30A1CCB7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1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098EC-1E61-764F-709D-6B5B483C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Vision</a:t>
            </a:r>
            <a:r>
              <a:rPr lang="es-CO" dirty="0"/>
              <a:t> </a:t>
            </a:r>
            <a:r>
              <a:rPr lang="es-CO" dirty="0" err="1"/>
              <a:t>Language</a:t>
            </a:r>
            <a:r>
              <a:rPr lang="es-CO" dirty="0"/>
              <a:t> </a:t>
            </a:r>
            <a:r>
              <a:rPr lang="es-CO" dirty="0" err="1"/>
              <a:t>Models</a:t>
            </a:r>
            <a:r>
              <a:rPr lang="es-CO" dirty="0"/>
              <a:t> (</a:t>
            </a:r>
            <a:r>
              <a:rPr lang="es-CO" dirty="0" err="1"/>
              <a:t>VLMs</a:t>
            </a:r>
            <a:r>
              <a:rPr lang="es-CO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E2D509-71B0-A35D-6437-972BDBB4F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effectLst/>
              </a:rPr>
              <a:t>AI systems designed as a unified framework for multiple vision tasks, including object detection and segmentation, with a focus on efficiency and versatility.</a:t>
            </a: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934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24F88-1D2E-C581-BA0E-8A5EF576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900"/>
            <a:ext cx="10515600" cy="40195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sourced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by</a:t>
            </a:r>
            <a:r>
              <a:rPr lang="es-MX" dirty="0">
                <a:effectLst/>
              </a:rPr>
              <a:t> </a:t>
            </a:r>
            <a:r>
              <a:rPr lang="en-US" dirty="0">
                <a:effectLst/>
              </a:rPr>
              <a:t>OpenAI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r>
              <a:rPr lang="en-US" dirty="0"/>
              <a:t>V</a:t>
            </a:r>
            <a:r>
              <a:rPr lang="en-US" dirty="0">
                <a:effectLst/>
              </a:rPr>
              <a:t>ision-language model that embeds text and images into a shared space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Enables zero-shot classification (classes not explicitly seen in training) and cross-modal retrieval.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223151-B9F0-9921-6A35-126F7EB9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8475" cy="1325563"/>
          </a:xfrm>
        </p:spPr>
        <p:txBody>
          <a:bodyPr/>
          <a:lstStyle/>
          <a:p>
            <a:pPr algn="just"/>
            <a:r>
              <a:rPr lang="es-MX" dirty="0">
                <a:effectLst/>
                <a:hlinkClick r:id="rId2"/>
              </a:rPr>
              <a:t>CLIP (Contrastive </a:t>
            </a:r>
            <a:r>
              <a:rPr lang="es-MX" dirty="0" err="1">
                <a:effectLst/>
                <a:hlinkClick r:id="rId2"/>
              </a:rPr>
              <a:t>Language-Image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Pretraining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225664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E3ECD5-9844-4E25-D3EB-1C485683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47218"/>
            <a:ext cx="12079386" cy="5830114"/>
          </a:xfrm>
          <a:prstGeom prst="rect">
            <a:avLst/>
          </a:prstGeom>
        </p:spPr>
      </p:pic>
      <p:sp>
        <p:nvSpPr>
          <p:cNvPr id="4" name="CuadroTexto 3">
            <a:hlinkClick r:id="rId3"/>
            <a:extLst>
              <a:ext uri="{FF2B5EF4-FFF2-40B4-BE49-F238E27FC236}">
                <a16:creationId xmlns:a16="http://schemas.microsoft.com/office/drawing/2014/main" id="{A70E35B9-E3B3-48A2-7848-5CC8DB82791D}"/>
              </a:ext>
            </a:extLst>
          </p:cNvPr>
          <p:cNvSpPr txBox="1"/>
          <p:nvPr/>
        </p:nvSpPr>
        <p:spPr>
          <a:xfrm>
            <a:off x="241554" y="6344057"/>
            <a:ext cx="474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https://arxiv.org/pdf/2103.00020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50EA90-56F6-A622-FB3F-E78A1720079D}"/>
              </a:ext>
            </a:extLst>
          </p:cNvPr>
          <p:cNvSpPr txBox="1"/>
          <p:nvPr/>
        </p:nvSpPr>
        <p:spPr>
          <a:xfrm>
            <a:off x="4324350" y="5697726"/>
            <a:ext cx="7964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Trained on a dataset of 400 million (image, text) pairs collected from the internet.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87A616-E7D1-DAF4-A45D-A0AAB43E422D}"/>
              </a:ext>
            </a:extLst>
          </p:cNvPr>
          <p:cNvSpPr txBox="1"/>
          <p:nvPr/>
        </p:nvSpPr>
        <p:spPr>
          <a:xfrm>
            <a:off x="9292481" y="6344057"/>
            <a:ext cx="2785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Alec</a:t>
            </a:r>
            <a:r>
              <a:rPr lang="es-CO" dirty="0"/>
              <a:t> Radford et al, 2021</a:t>
            </a:r>
          </a:p>
        </p:txBody>
      </p:sp>
    </p:spTree>
    <p:extLst>
      <p:ext uri="{BB962C8B-B14F-4D97-AF65-F5344CB8AC3E}">
        <p14:creationId xmlns:p14="http://schemas.microsoft.com/office/powerpoint/2010/main" val="356859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36D17E2-3F2D-A5BC-21E3-8B6B9D39D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87" y="146304"/>
            <a:ext cx="7859740" cy="6446520"/>
          </a:xfrm>
        </p:spPr>
      </p:pic>
    </p:spTree>
    <p:extLst>
      <p:ext uri="{BB962C8B-B14F-4D97-AF65-F5344CB8AC3E}">
        <p14:creationId xmlns:p14="http://schemas.microsoft.com/office/powerpoint/2010/main" val="209238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0C25F-4E98-E13C-C596-A0B107E3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Applications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529DD-9FC6-6659-F454-8F6F2A470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effectLst/>
                <a:latin typeface="Roboto" panose="02000000000000000000" pitchFamily="2" charset="0"/>
              </a:rPr>
              <a:t>Create an image classification model for:</a:t>
            </a:r>
          </a:p>
          <a:p>
            <a:pPr marL="0" indent="0" algn="l">
              <a:buNone/>
            </a:pPr>
            <a:endParaRPr lang="en-US" b="0" i="0" dirty="0"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people with mask or not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a person wearing glasses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oboto" panose="02000000000000000000" pitchFamily="2" charset="0"/>
              </a:rPr>
              <a:t>is there 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fachade</a:t>
            </a:r>
            <a:r>
              <a:rPr lang="en-US" b="0" i="0" dirty="0">
                <a:effectLst/>
                <a:latin typeface="Roboto" panose="02000000000000000000" pitchFamily="2" charset="0"/>
              </a:rPr>
              <a:t>?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37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7C314-EB66-6BCC-6CBF-E2743605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01325" cy="1325563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effectLst/>
                <a:hlinkClick r:id="rId2"/>
              </a:rPr>
              <a:t>OWL-</a:t>
            </a:r>
            <a:r>
              <a:rPr lang="en-US" sz="4000" dirty="0" err="1">
                <a:effectLst/>
                <a:hlinkClick r:id="rId2"/>
              </a:rPr>
              <a:t>ViT</a:t>
            </a:r>
            <a:r>
              <a:rPr lang="en-US" sz="4000" dirty="0">
                <a:effectLst/>
                <a:hlinkClick r:id="rId2"/>
              </a:rPr>
              <a:t>: Open-World Localization with Vision Transformers</a:t>
            </a:r>
            <a:endParaRPr lang="es-MX" sz="4000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40CDBE-FED7-1AC4-2E58-FA71824C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</a:rPr>
              <a:t>Open-sourced by Google Research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Vision-language model based on CLIP. Enables zero-shot detection of objects based on free-form text prompts (e.g., “detect a dog”).</a:t>
            </a:r>
          </a:p>
          <a:p>
            <a:pPr marL="0" indent="0" algn="just">
              <a:buNone/>
            </a:pPr>
            <a:endParaRPr lang="en-US" dirty="0">
              <a:effectLst/>
            </a:endParaRPr>
          </a:p>
          <a:p>
            <a:pPr marL="0" indent="0" algn="just">
              <a:buNone/>
            </a:pPr>
            <a:r>
              <a:rPr lang="en-US" dirty="0">
                <a:effectLst/>
              </a:rPr>
              <a:t>Can generate bounding boxes, which SAM can use to produce segmentation masks. Detection relies on accurate text prompts, and ambiguous or poorly phrased prompts may reduce performance.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45167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63238-E8C2-433E-8BE8-46221D63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4000" dirty="0">
                <a:hlinkClick r:id="rId2"/>
              </a:rPr>
              <a:t>SAM (</a:t>
            </a:r>
            <a:r>
              <a:rPr lang="es-CO" sz="4000" dirty="0" err="1">
                <a:hlinkClick r:id="rId2"/>
              </a:rPr>
              <a:t>Segment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Anything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Model</a:t>
            </a:r>
            <a:r>
              <a:rPr lang="es-CO" sz="4000" dirty="0">
                <a:hlinkClick r:id="rId2"/>
              </a:rPr>
              <a:t> = </a:t>
            </a:r>
            <a:r>
              <a:rPr lang="es-CO" sz="4000" dirty="0" err="1">
                <a:hlinkClick r:id="rId2"/>
              </a:rPr>
              <a:t>Spatial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Attention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Model</a:t>
            </a:r>
            <a:r>
              <a:rPr lang="es-CO" sz="4000" dirty="0">
                <a:hlinkClick r:id="rId2"/>
              </a:rPr>
              <a:t>), </a:t>
            </a:r>
            <a:r>
              <a:rPr lang="es-CO" sz="4000" dirty="0" err="1">
                <a:hlinkClick r:id="rId2"/>
              </a:rPr>
              <a:t>Version</a:t>
            </a:r>
            <a:r>
              <a:rPr lang="es-CO" sz="4000" dirty="0">
                <a:hlinkClick r:id="rId2"/>
              </a:rPr>
              <a:t> 3 </a:t>
            </a:r>
            <a:r>
              <a:rPr lang="es-CO" sz="4000" dirty="0" err="1">
                <a:hlinkClick r:id="rId2"/>
              </a:rPr>
              <a:t>now</a:t>
            </a:r>
            <a:r>
              <a:rPr lang="es-CO" sz="4000" dirty="0">
                <a:hlinkClick r:id="rId2"/>
              </a:rPr>
              <a:t> </a:t>
            </a:r>
            <a:r>
              <a:rPr lang="es-CO" sz="4000" dirty="0" err="1">
                <a:hlinkClick r:id="rId2"/>
              </a:rPr>
              <a:t>Available</a:t>
            </a:r>
            <a:r>
              <a:rPr lang="es-CO" sz="4000" dirty="0">
                <a:hlinkClick r:id="rId2"/>
              </a:rPr>
              <a:t> !</a:t>
            </a:r>
            <a:endParaRPr lang="es-MX" sz="4000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D1DFD6-D7E9-7F70-DB7C-242562C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561" y="2141537"/>
            <a:ext cx="10515600" cy="4351338"/>
          </a:xfrm>
        </p:spPr>
        <p:txBody>
          <a:bodyPr/>
          <a:lstStyle/>
          <a:p>
            <a:r>
              <a:rPr lang="es-CO" dirty="0"/>
              <a:t>Open </a:t>
            </a:r>
            <a:r>
              <a:rPr lang="es-CO" dirty="0" err="1"/>
              <a:t>source</a:t>
            </a:r>
            <a:endParaRPr lang="es-CO" dirty="0"/>
          </a:p>
          <a:p>
            <a:endParaRPr lang="es-CO" dirty="0"/>
          </a:p>
          <a:p>
            <a:r>
              <a:rPr lang="es-CO" dirty="0"/>
              <a:t>Meta </a:t>
            </a:r>
            <a:r>
              <a:rPr lang="es-CO" dirty="0" err="1"/>
              <a:t>Ai</a:t>
            </a:r>
            <a:endParaRPr lang="es-CO" dirty="0"/>
          </a:p>
          <a:p>
            <a:endParaRPr lang="es-MX" dirty="0"/>
          </a:p>
          <a:p>
            <a:r>
              <a:rPr lang="es-MX" dirty="0" err="1"/>
              <a:t>Instance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endParaRPr lang="es-MX" dirty="0"/>
          </a:p>
          <a:p>
            <a:endParaRPr lang="es-MX" dirty="0"/>
          </a:p>
          <a:p>
            <a:r>
              <a:rPr lang="es-MX" dirty="0"/>
              <a:t>Zero </a:t>
            </a:r>
            <a:r>
              <a:rPr lang="es-MX" dirty="0" err="1"/>
              <a:t>Shot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592A81-53C4-018F-FFF7-AB814A5E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19" y="2141537"/>
            <a:ext cx="5149049" cy="377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467A1-EDB8-8B65-035A-2AFAEE85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effectLst/>
                <a:hlinkClick r:id="rId2"/>
              </a:rPr>
              <a:t>Grounding</a:t>
            </a:r>
            <a:r>
              <a:rPr lang="es-MX" dirty="0">
                <a:effectLst/>
                <a:hlinkClick r:id="rId2"/>
              </a:rPr>
              <a:t> DINO </a:t>
            </a:r>
            <a:r>
              <a:rPr lang="es-MX" dirty="0" err="1">
                <a:effectLst/>
                <a:hlinkClick r:id="rId2"/>
              </a:rPr>
              <a:t>By</a:t>
            </a:r>
            <a:r>
              <a:rPr lang="es-MX" dirty="0">
                <a:effectLst/>
                <a:hlinkClick r:id="rId2"/>
              </a:rPr>
              <a:t> Google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A74174-28F8-DB69-2D41-BBC6F154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</a:t>
            </a:r>
            <a:endParaRPr lang="es-MX" dirty="0">
              <a:effectLst/>
            </a:endParaRPr>
          </a:p>
          <a:p>
            <a:endParaRPr lang="es-MX" dirty="0">
              <a:effectLst/>
            </a:endParaRPr>
          </a:p>
          <a:p>
            <a:r>
              <a:rPr lang="en-US" b="1" dirty="0"/>
              <a:t>DINO</a:t>
            </a:r>
            <a:r>
              <a:rPr lang="en-US" dirty="0"/>
              <a:t> stands for </a:t>
            </a:r>
            <a:r>
              <a:rPr lang="en-US" b="1" dirty="0"/>
              <a:t>Self-</a:t>
            </a:r>
            <a:r>
              <a:rPr lang="en-US" b="1" dirty="0" err="1"/>
              <a:t>DIstillation</a:t>
            </a:r>
            <a:r>
              <a:rPr lang="en-US" b="1" dirty="0"/>
              <a:t> with NO labels</a:t>
            </a:r>
            <a:r>
              <a:rPr lang="en-US" dirty="0"/>
              <a:t> — it's the name of the original vision Transformer detector model developed by Facebook Research in 2021. </a:t>
            </a:r>
          </a:p>
          <a:p>
            <a:endParaRPr lang="es-MX" dirty="0"/>
          </a:p>
          <a:p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novel categories described in natural language without any fine-tuning, outperforming prior open-vocabulary detectors.</a:t>
            </a:r>
            <a:endParaRPr lang="es-MX" dirty="0">
              <a:effectLst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2737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3B5702-043F-DD7B-37B2-65311D0C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23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MX" altLang="es-MX" dirty="0">
                <a:latin typeface="Arial" panose="020B0604020202020204" pitchFamily="34" charset="0"/>
              </a:rPr>
              <a:t>Open-</a:t>
            </a:r>
            <a:r>
              <a:rPr lang="es-MX" altLang="es-MX" dirty="0" err="1">
                <a:latin typeface="Arial" panose="020B0604020202020204" pitchFamily="34" charset="0"/>
              </a:rPr>
              <a:t>sourced</a:t>
            </a: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</a:rPr>
              <a:t>by</a:t>
            </a:r>
            <a:r>
              <a:rPr lang="es-MX" altLang="es-MX" dirty="0">
                <a:latin typeface="Arial" panose="020B0604020202020204" pitchFamily="34" charset="0"/>
              </a:rPr>
              <a:t> </a:t>
            </a:r>
            <a:r>
              <a:rPr lang="es-MX" altLang="es-MX" dirty="0" err="1">
                <a:latin typeface="Arial" panose="020B0604020202020204" pitchFamily="34" charset="0"/>
              </a:rPr>
              <a:t>Microfost</a:t>
            </a:r>
            <a:endParaRPr lang="es-MX" altLang="es-MX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s-MX" altLang="es-MX" dirty="0"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altLang="es-MX" dirty="0">
                <a:latin typeface="Arial" panose="020B0604020202020204" pitchFamily="34" charset="0"/>
              </a:rPr>
              <a:t>Combines Vicuna-13B </a:t>
            </a:r>
            <a:r>
              <a:rPr lang="es-MX" altLang="es-MX" dirty="0" err="1">
                <a:latin typeface="Arial" panose="020B0604020202020204" pitchFamily="34" charset="0"/>
              </a:rPr>
              <a:t>with</a:t>
            </a:r>
            <a:r>
              <a:rPr lang="es-MX" altLang="es-MX" dirty="0">
                <a:latin typeface="Arial" panose="020B0604020202020204" pitchFamily="34" charset="0"/>
              </a:rPr>
              <a:t> ViT-L/14.</a:t>
            </a:r>
          </a:p>
          <a:p>
            <a:pPr marL="0" indent="0" algn="just">
              <a:buNone/>
            </a:pPr>
            <a:endParaRPr lang="es-MX" dirty="0"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dirty="0">
                <a:effectLst/>
              </a:rPr>
              <a:t>General-purpose visual and language understanding.</a:t>
            </a:r>
            <a:r>
              <a:rPr lang="en-US" dirty="0"/>
              <a:t> 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natural conversation about image content, visual QA, and detailed scene description at low training cost.</a:t>
            </a:r>
            <a:endParaRPr lang="en-US" dirty="0">
              <a:effectLst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0F5ED3D-D304-DEC2-26BC-41F9232C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 err="1">
                <a:effectLst/>
                <a:hlinkClick r:id="rId2"/>
              </a:rPr>
              <a:t>LLaVA</a:t>
            </a:r>
            <a:r>
              <a:rPr lang="es-MX" dirty="0">
                <a:effectLst/>
                <a:hlinkClick r:id="rId2"/>
              </a:rPr>
              <a:t> (</a:t>
            </a:r>
            <a:r>
              <a:rPr lang="es-MX" dirty="0" err="1">
                <a:effectLst/>
                <a:hlinkClick r:id="rId2"/>
              </a:rPr>
              <a:t>Large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Language</a:t>
            </a:r>
            <a:r>
              <a:rPr lang="es-MX" dirty="0">
                <a:effectLst/>
                <a:hlinkClick r:id="rId2"/>
              </a:rPr>
              <a:t> and </a:t>
            </a:r>
            <a:r>
              <a:rPr lang="es-MX" dirty="0" err="1">
                <a:effectLst/>
                <a:hlinkClick r:id="rId2"/>
              </a:rPr>
              <a:t>Vision</a:t>
            </a:r>
            <a:r>
              <a:rPr lang="es-MX" dirty="0">
                <a:effectLst/>
                <a:hlinkClick r:id="rId2"/>
              </a:rPr>
              <a:t> </a:t>
            </a:r>
            <a:r>
              <a:rPr lang="es-MX" dirty="0" err="1">
                <a:effectLst/>
                <a:hlinkClick r:id="rId2"/>
              </a:rPr>
              <a:t>Assistant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00725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58013-7C90-96D6-E336-538BDF58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ffectLst/>
                <a:hlinkClick r:id="rId2"/>
              </a:rPr>
              <a:t>Apple </a:t>
            </a:r>
            <a:r>
              <a:rPr lang="es-MX" dirty="0" err="1">
                <a:effectLst/>
                <a:hlinkClick r:id="rId2"/>
              </a:rPr>
              <a:t>Ferret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0B17F-FCA4-DA32-C6C0-45B14C4C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O</a:t>
            </a:r>
            <a:r>
              <a:rPr lang="en-US" dirty="0">
                <a:effectLst/>
              </a:rPr>
              <a:t>pen-source MLLM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</a:t>
            </a:r>
            <a:r>
              <a:rPr lang="en-US" dirty="0">
                <a:effectLst/>
              </a:rPr>
              <a:t>ocus on spatial understanding through referring and grounding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effectLst/>
              </a:rPr>
              <a:t>Enables precise recognition of image regions. 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text to exact pixel locations, </a:t>
            </a:r>
            <a:r>
              <a:rPr lang="en-US" dirty="0"/>
              <a:t>can handle inputs like </a:t>
            </a:r>
            <a:r>
              <a:rPr lang="en-US" i="1" dirty="0"/>
              <a:t>"what is the object at coordinates [120, 340]?"</a:t>
            </a:r>
            <a:endParaRPr lang="es-MX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9242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6D4E2-8EBC-EB1C-FDA8-2904D4B91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O</a:t>
            </a:r>
            <a:r>
              <a:rPr lang="es-MX" dirty="0">
                <a:effectLst/>
              </a:rPr>
              <a:t>pen-</a:t>
            </a:r>
            <a:r>
              <a:rPr lang="es-MX" dirty="0" err="1">
                <a:effectLst/>
              </a:rPr>
              <a:t>source</a:t>
            </a:r>
            <a:r>
              <a:rPr lang="es-MX" dirty="0">
                <a:effectLst/>
              </a:rPr>
              <a:t>, </a:t>
            </a:r>
            <a:r>
              <a:rPr lang="es-MX" dirty="0" err="1">
                <a:effectLst/>
              </a:rPr>
              <a:t>one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model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different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tasks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by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prompts</a:t>
            </a:r>
            <a:r>
              <a:rPr lang="es-MX" dirty="0">
                <a:effectLst/>
              </a:rPr>
              <a:t>.</a:t>
            </a:r>
            <a:endParaRPr lang="es-MX" dirty="0"/>
          </a:p>
          <a:p>
            <a:pPr marL="0" indent="0" algn="just">
              <a:buNone/>
            </a:pPr>
            <a:endParaRPr lang="es-MX" dirty="0">
              <a:effectLst/>
            </a:endParaRPr>
          </a:p>
          <a:p>
            <a:pPr marL="0" indent="0" algn="just">
              <a:buNone/>
            </a:pPr>
            <a:r>
              <a:rPr lang="es-MX" dirty="0"/>
              <a:t>P</a:t>
            </a:r>
            <a:r>
              <a:rPr lang="en-US" dirty="0" err="1">
                <a:effectLst/>
              </a:rPr>
              <a:t>rocesses</a:t>
            </a:r>
            <a:r>
              <a:rPr lang="en-US" dirty="0">
                <a:effectLst/>
              </a:rPr>
              <a:t> text prompts for task-specific detection (e.g., “Detect all people in the image”).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Supports instance and semantic segmentation out-of-the-box, making it versatile for segmentation tasks on datasets like COCO.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898E682-0B0B-3021-BAF6-B14C8877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MX" dirty="0">
                <a:effectLst/>
                <a:hlinkClick r:id="rId2"/>
              </a:rPr>
              <a:t>Florence-2 (Microsoft)</a:t>
            </a:r>
            <a:endParaRPr lang="es-MX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1580968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54132-CF6D-F8B4-7ADF-C49E2F8F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effectLst/>
                <a:hlinkClick r:id="rId2"/>
              </a:rPr>
              <a:t>PaliGemma</a:t>
            </a:r>
            <a:r>
              <a:rPr lang="es-MX" dirty="0">
                <a:effectLst/>
                <a:hlinkClick r:id="rId2"/>
              </a:rPr>
              <a:t> (Google </a:t>
            </a:r>
            <a:r>
              <a:rPr lang="es-MX" dirty="0" err="1">
                <a:effectLst/>
                <a:hlinkClick r:id="rId2"/>
              </a:rPr>
              <a:t>DeepMind</a:t>
            </a:r>
            <a:r>
              <a:rPr lang="es-MX" dirty="0">
                <a:effectLst/>
                <a:hlinkClick r:id="rId2"/>
              </a:rPr>
              <a:t>)</a:t>
            </a:r>
            <a:endParaRPr lang="es-MX" dirty="0">
              <a:hlinkClick r:id="rId2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6077C5-D1EA-909C-4B32-44BB45A81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effectLst/>
              </a:rPr>
              <a:t>Open </a:t>
            </a:r>
            <a:r>
              <a:rPr lang="es-MX" dirty="0" err="1">
                <a:effectLst/>
              </a:rPr>
              <a:t>source</a:t>
            </a:r>
            <a:endParaRPr lang="es-MX" dirty="0">
              <a:effectLst/>
            </a:endParaRPr>
          </a:p>
          <a:p>
            <a:pPr marL="0" indent="0">
              <a:buNone/>
            </a:pPr>
            <a:endParaRPr lang="es-MX" dirty="0">
              <a:effectLst/>
            </a:endParaRPr>
          </a:p>
          <a:p>
            <a:r>
              <a:rPr lang="es-MX" dirty="0" err="1"/>
              <a:t>O</a:t>
            </a:r>
            <a:r>
              <a:rPr lang="es-MX" dirty="0" err="1">
                <a:effectLst/>
              </a:rPr>
              <a:t>bject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detection</a:t>
            </a:r>
            <a:r>
              <a:rPr lang="es-MX" dirty="0"/>
              <a:t> and </a:t>
            </a:r>
            <a:r>
              <a:rPr lang="es-MX" dirty="0" err="1"/>
              <a:t>segmentation</a:t>
            </a:r>
            <a:endParaRPr lang="es-MX" dirty="0"/>
          </a:p>
          <a:p>
            <a:endParaRPr lang="es-MX" dirty="0">
              <a:effectLst/>
            </a:endParaRPr>
          </a:p>
          <a:p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</a:t>
            </a:r>
            <a:r>
              <a:rPr lang="en-US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</a:t>
            </a:r>
            <a:r>
              <a:rPr lang="en-US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vision encoder with Gemma language model into a compact, optimized for fine-tuning.</a:t>
            </a:r>
            <a:endParaRPr lang="es-MX" dirty="0">
              <a:effectLst/>
            </a:endParaRP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396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57F46C3-A099-CC56-0063-0A285719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5" y="485775"/>
            <a:ext cx="1192051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1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8768"/>
          </a:xfrm>
          <a:prstGeom prst="rect">
            <a:avLst/>
          </a:prstGeom>
          <a:solidFill>
            <a:srgbClr val="14BDBE"/>
          </a:solidFill>
          <a:ln w="12700">
            <a:solidFill>
              <a:srgbClr val="14BDB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87680" y="18288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8290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primary strength — one phrase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280160"/>
          <a:ext cx="11460480" cy="4478528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By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⭐ Core Strength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Primary Use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D7377"/>
                          </a:solidFill>
                        </a:rPr>
                        <a:t>ViT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Research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Scalable image understanding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Image classification at scale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7F5A"/>
                          </a:solidFill>
                        </a:rPr>
                        <a:t>CLIP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OpenAI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Zero-shot cross-modal understanding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Zero-shot classification, image 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4A3080"/>
                          </a:solidFill>
                        </a:rPr>
                        <a:t>OWL-ViT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Research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Text-prompted bounding box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Open-world object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</a:rPr>
                        <a:t>SAM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Meta AI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Universal zero-shot segmentation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Instance segmentation, mask generation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3A6B"/>
                          </a:solidFill>
                        </a:rPr>
                        <a:t>Grounding DINO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IDEA Research / Google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Language-grounded open-set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Open-vocabulary object detection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35400"/>
                          </a:solidFill>
                        </a:rPr>
                        <a:t>LLaVA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Open-source (UW/Microsoft)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Conversational visual reasoning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Visual QA, image chat, scene description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55555"/>
                          </a:solidFill>
                        </a:rPr>
                        <a:t>Apple Ferret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Apple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Fine-grained spatial referring &amp; grounding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Precise region recognition, spatial QA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78D4"/>
                          </a:solidFill>
                        </a:rPr>
                        <a:t>Florence-2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Microsoft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Unified multi-task vision via prompts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Detection, segmentation, captioning — all in one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7F5A"/>
                          </a:solidFill>
                        </a:rPr>
                        <a:t>PaliGemma</a:t>
                      </a:r>
                      <a:endParaRPr lang="en-US" sz="15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i="1" dirty="0">
                          <a:solidFill>
                            <a:srgbClr val="8A9BB0"/>
                          </a:solidFill>
                        </a:rPr>
                        <a:t>Google DeepMind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Efficient open multimodal foundation model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BDBE"/>
                          </a:solidFill>
                        </a:rPr>
                        <a:t>Detection, segmentation, VQA, fine-tuning</a:t>
                      </a:r>
                      <a:endParaRPr lang="en-US" sz="13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6693408"/>
            <a:ext cx="12192000" cy="487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6559296"/>
            <a:ext cx="121920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 ·  John R. Ballesteros, Ph.D  ·  UNAL</a:t>
            </a:r>
            <a:endParaRPr lang="en-US" sz="10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5E9C5-5822-97CE-4921-735264D5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Multimodal </a:t>
            </a:r>
            <a:r>
              <a:rPr lang="es-CO" dirty="0" err="1"/>
              <a:t>Large</a:t>
            </a:r>
            <a:r>
              <a:rPr lang="es-CO" dirty="0"/>
              <a:t> </a:t>
            </a:r>
            <a:r>
              <a:rPr lang="es-CO" dirty="0" err="1"/>
              <a:t>Language</a:t>
            </a:r>
            <a:r>
              <a:rPr lang="es-CO" dirty="0"/>
              <a:t> </a:t>
            </a:r>
            <a:r>
              <a:rPr lang="es-CO" dirty="0" err="1"/>
              <a:t>Models</a:t>
            </a:r>
            <a:r>
              <a:rPr lang="es-CO" dirty="0"/>
              <a:t> (</a:t>
            </a:r>
            <a:r>
              <a:rPr lang="es-CO" dirty="0" err="1"/>
              <a:t>MLLMs</a:t>
            </a:r>
            <a:r>
              <a:rPr lang="es-CO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71B553-AAA2-89BB-FA55-F24E7DA81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125"/>
            <a:ext cx="10515600" cy="13938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effectLst/>
              </a:rPr>
              <a:t>AI systems that process and generate multiple data types: text, images, audio or video for image captioning, visual question answering, and cross-modal reasoning.</a:t>
            </a:r>
            <a:endParaRPr lang="es-MX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D849846E-3D32-5187-ED53-96A41C09B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5" t="4341" r="10781" b="11806"/>
          <a:stretch>
            <a:fillRect/>
          </a:stretch>
        </p:blipFill>
        <p:spPr>
          <a:xfrm>
            <a:off x="1533525" y="3028950"/>
            <a:ext cx="7588917" cy="364358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46E3964-EC44-0D98-A058-C03D2E3256B4}"/>
              </a:ext>
            </a:extLst>
          </p:cNvPr>
          <p:cNvSpPr txBox="1"/>
          <p:nvPr/>
        </p:nvSpPr>
        <p:spPr>
          <a:xfrm>
            <a:off x="9258301" y="6057900"/>
            <a:ext cx="2707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err="1"/>
              <a:t>Taken</a:t>
            </a:r>
            <a:r>
              <a:rPr lang="es-CO" sz="1600" dirty="0"/>
              <a:t> </a:t>
            </a:r>
            <a:r>
              <a:rPr lang="es-CO" sz="1600" dirty="0" err="1"/>
              <a:t>from</a:t>
            </a:r>
            <a:r>
              <a:rPr lang="es-CO" sz="1600" dirty="0"/>
              <a:t> </a:t>
            </a:r>
            <a:r>
              <a:rPr lang="es-CO" sz="1600" dirty="0" err="1"/>
              <a:t>OpenAi</a:t>
            </a:r>
            <a:r>
              <a:rPr lang="es-CO" sz="1600" dirty="0"/>
              <a:t> 2024 </a:t>
            </a:r>
            <a:r>
              <a:rPr lang="es-CO" sz="1600" dirty="0" err="1"/>
              <a:t>technical</a:t>
            </a:r>
            <a:r>
              <a:rPr lang="es-CO" sz="1600" dirty="0"/>
              <a:t> </a:t>
            </a:r>
            <a:r>
              <a:rPr lang="es-CO" sz="1600" dirty="0" err="1"/>
              <a:t>document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82636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9392</TotalTime>
  <Words>795</Words>
  <Application>Microsoft Office PowerPoint</Application>
  <PresentationFormat>Panorámica</PresentationFormat>
  <Paragraphs>135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Roboto</vt:lpstr>
      <vt:lpstr>Tema de Office</vt:lpstr>
      <vt:lpstr>ViT and VLMs and Multimodal LLMs</vt:lpstr>
      <vt:lpstr>Vision Methods</vt:lpstr>
      <vt:lpstr>AN IMAGE IS WORTH 16X16 WORDS: TRANSFORMERS FOR IMAGE RECOGNITION AT SCALE</vt:lpstr>
      <vt:lpstr>Presentación de PowerPoint</vt:lpstr>
      <vt:lpstr>Presentación de PowerPoint</vt:lpstr>
      <vt:lpstr>Presentación de PowerPoint</vt:lpstr>
      <vt:lpstr>Vision Language Models (VLMs)</vt:lpstr>
      <vt:lpstr>CLIP (Contrastive Language-Image Pretraining)</vt:lpstr>
      <vt:lpstr>Presentación de PowerPoint</vt:lpstr>
      <vt:lpstr>Presentación de PowerPoint</vt:lpstr>
      <vt:lpstr>Applications</vt:lpstr>
      <vt:lpstr>OWL-ViT: Open-World Localization with Vision Transformers</vt:lpstr>
      <vt:lpstr>SAM (Segment Anything Model = Spatial Attention Model), Version 3 now Available !</vt:lpstr>
      <vt:lpstr>Grounding DINO By Google</vt:lpstr>
      <vt:lpstr>LLaVA (Large Language and Vision Assistant)</vt:lpstr>
      <vt:lpstr>Apple Ferret</vt:lpstr>
      <vt:lpstr>Florence-2 (Microsoft)</vt:lpstr>
      <vt:lpstr>PaliGemma (Google DeepMind)</vt:lpstr>
      <vt:lpstr>Presentación de PowerPoint</vt:lpstr>
      <vt:lpstr>Presentación de PowerPoint</vt:lpstr>
      <vt:lpstr>Multimodal Large Language Models (MLLMs)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67</cp:revision>
  <dcterms:created xsi:type="dcterms:W3CDTF">2025-06-28T12:39:21Z</dcterms:created>
  <dcterms:modified xsi:type="dcterms:W3CDTF">2026-03-06T18:25:00Z</dcterms:modified>
</cp:coreProperties>
</file>