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61" r:id="rId9"/>
    <p:sldId id="271" r:id="rId10"/>
    <p:sldId id="272" r:id="rId11"/>
    <p:sldId id="273" r:id="rId12"/>
    <p:sldId id="274" r:id="rId13"/>
    <p:sldId id="275" r:id="rId14"/>
    <p:sldId id="257" r:id="rId15"/>
    <p:sldId id="258" r:id="rId16"/>
    <p:sldId id="259" r:id="rId17"/>
    <p:sldId id="260" r:id="rId18"/>
    <p:sldId id="263" r:id="rId19"/>
    <p:sldId id="262" r:id="rId20"/>
    <p:sldId id="264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F1CCD-4922-A2AB-0227-17DE689D4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560CAB-DCE2-6DD5-DF5D-BD959EC98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E12BEC-8873-0ABA-EF44-E8EEED1C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F6B8C-8B73-4685-FFB4-8880856A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43448-2964-2CA7-8301-D5455676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435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15B9-FB35-3ACE-2182-1A94F64A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C9D59-6678-B285-002A-1630F0B7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E4910F-00FC-F711-F342-132DE957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94E754-A8A5-BD26-8F83-51CDF98D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A768B-73D2-D9EC-ACE4-673ED32C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11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BEE42-F722-2AC2-226D-714C942F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F42D3-0EB6-525C-2762-EFF9C771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853DF8-B352-11A4-DFAB-F15E9D7F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D92D25-30B4-24EC-C866-0DE7736D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4E549-7834-B2C8-F6E4-66D6790A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95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6326C-07A8-B632-1796-AE8287BF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FAE46A-53A4-A054-10EC-444B2B48A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E93CF0-3063-A6F8-E535-49012A7D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E7D7F8-5176-4A8D-B90C-E158A4FC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FC78E-399F-B59E-8C90-50008B63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B62061-B620-A323-6B85-C01A1099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34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ACF73-7D53-45A8-0885-0480A7CD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C2098A-340E-7506-7778-D9F82F715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AE2323-FE77-61A0-E0DA-EEF2A212A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CEE3C-91C5-24A0-6EED-B79F5BFC8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C78BBE-938E-C6AA-9937-5C5006DDD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5640CB9-7C3D-9298-828A-B333380A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957D9C-EA73-6B61-ECEE-EBF1BDF3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765D0B-F654-D384-D1EC-5AB7E2F6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162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DA22-0897-368C-9AC8-15C2C2B6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21FAD0-C3E3-E0DE-9F4E-B7AAA3CC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37BD07-A593-CD17-5C58-2EA82275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3D814D-DBC2-5706-9B86-7FDB18FD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422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2C58B9-05C6-27E1-65C6-78623590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A4EC9-2463-0241-8E15-CB2CDA8A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5C4B2A-37C9-7B90-DF68-AC55B54D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02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E4F73-DF0F-7760-F9E6-EC5F4EFE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EE74B-845E-BFE6-415D-F3F9AF8FA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41062A-4F6C-9978-8C7E-A0B92FD8E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10D98A-ECA6-27DF-339B-F0134A3D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DC059D-2C28-6C43-5956-0E75CAE6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F4E4B1-C67A-994E-9075-5B56C3EB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EE47A-30D7-2BE9-51CC-7107E26F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890A66-579D-BF4D-5EA3-D6091DD31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7F8D32-F0A2-7451-26C2-BDBD57CAC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9DFB1E-03B9-8F1D-6D1D-2D80147E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2641CE-DF60-3EDD-5205-2BB0FD14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A602AE-32E3-3AEC-D0EB-17DB36EB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953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AD6B-5E58-EB43-B494-06C20D68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C64375-43BC-E436-91CC-FFA49C6AD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A8F4CE-EADA-BAC4-E0D9-DC994629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EC971D-C985-C805-7FD4-A3DF0724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59C36-03F5-69D7-65F0-D01226E2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09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4D2A26-137E-D118-CAAF-8EF8EB27D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33941B-1ABC-8B79-1E59-5A2B076BC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6B3EC3-E0DD-E8BD-78F8-B3671B60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6E22DB-BA36-5971-97FC-68312CFB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03B4D-6D5B-58A2-F59D-FCF65DD0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225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6025DD-6E27-1217-5C61-3CEF0D0F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11B73B-8236-EA28-DB70-67BE4380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ED2319-DB97-C46B-C1E8-FFC7D6EC3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DDFEC-2EF2-406B-A3AB-C3259A9CA08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D76AA5-C79B-2D17-AECF-2010A5B80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3DDAE-4D51-1F59-ED4A-F7EDACCB8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964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CEmiRjPEtQ?si=HK30yePRrwHSxsf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TSYgbwBVaY?si=TL5vtKITddrorSQv" TargetMode="External"/><Relationship Id="rId2" Type="http://schemas.openxmlformats.org/officeDocument/2006/relationships/hyperlink" Target="https://arxiv.org/pdf/2305.1829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5E7CA-FDE7-DCBE-C9EC-08B524B8B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/>
              <a:t> in </a:t>
            </a:r>
            <a:r>
              <a:rPr lang="es-CO" dirty="0" err="1"/>
              <a:t>Cibersecurity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008FBC-F77E-4A02-187E-13655216A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John R. Ballesteros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9392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68484-933E-A484-37B4-944BA8EB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Cyber</a:t>
            </a:r>
            <a:r>
              <a:rPr lang="es-CO" dirty="0"/>
              <a:t> </a:t>
            </a:r>
            <a:r>
              <a:rPr lang="es-CO" dirty="0" err="1"/>
              <a:t>Attacks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22A0E-3185-1F1F-4B91-9A937DA57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2024: 2.6 billion personal records exposed globally (source: news and governments reports)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Sophisticated attacks: e.g., AI-generated phishing, ransomware</a:t>
            </a:r>
          </a:p>
          <a:p>
            <a:pPr algn="just"/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C588D-4A20-8D64-224F-F3BC9934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Key </a:t>
            </a:r>
            <a:r>
              <a:rPr lang="es-CO" dirty="0" err="1"/>
              <a:t>Applications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LLMs</a:t>
            </a:r>
            <a:r>
              <a:rPr lang="es-CO" dirty="0"/>
              <a:t> in </a:t>
            </a:r>
            <a:r>
              <a:rPr lang="es-CO" dirty="0" err="1"/>
              <a:t>Cybersecurity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25DD9F-2416-35A0-62E0-D3B1277F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 </a:t>
            </a:r>
            <a:r>
              <a:rPr lang="es-MX" b="1" dirty="0" err="1"/>
              <a:t>Threat</a:t>
            </a:r>
            <a:r>
              <a:rPr lang="es-MX" b="1" dirty="0"/>
              <a:t> </a:t>
            </a:r>
            <a:r>
              <a:rPr lang="es-MX" b="1" dirty="0" err="1"/>
              <a:t>Intelligence</a:t>
            </a:r>
            <a:r>
              <a:rPr lang="es-MX" b="1" dirty="0"/>
              <a:t> </a:t>
            </a:r>
            <a:r>
              <a:rPr lang="es-MX" b="1" dirty="0" err="1"/>
              <a:t>Analysis</a:t>
            </a:r>
            <a:r>
              <a:rPr lang="es-MX" b="1" dirty="0"/>
              <a:t>: </a:t>
            </a:r>
            <a:r>
              <a:rPr lang="en-US" dirty="0"/>
              <a:t>Extract IOCs (e.g., malicious IPs, domains) from unstructured data, Summarize dark web forums or threat reports</a:t>
            </a:r>
          </a:p>
          <a:p>
            <a:pPr marL="0" indent="0">
              <a:buNone/>
            </a:pPr>
            <a:endParaRPr lang="en-US" dirty="0"/>
          </a:p>
          <a:p>
            <a:r>
              <a:rPr lang="es-MX" b="1" dirty="0"/>
              <a:t>Phishing </a:t>
            </a:r>
            <a:r>
              <a:rPr lang="es-MX" b="1" dirty="0" err="1"/>
              <a:t>Detection</a:t>
            </a:r>
            <a:r>
              <a:rPr lang="es-MX" b="1" dirty="0"/>
              <a:t>: </a:t>
            </a:r>
            <a:r>
              <a:rPr lang="es-MX" dirty="0" err="1"/>
              <a:t>Identify</a:t>
            </a:r>
            <a:r>
              <a:rPr lang="es-MX" dirty="0"/>
              <a:t> </a:t>
            </a:r>
            <a:r>
              <a:rPr lang="es-MX" dirty="0" err="1"/>
              <a:t>suspicious</a:t>
            </a:r>
            <a:r>
              <a:rPr lang="es-MX" dirty="0"/>
              <a:t> email </a:t>
            </a:r>
            <a:r>
              <a:rPr lang="es-MX" dirty="0" err="1"/>
              <a:t>content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URLs</a:t>
            </a:r>
            <a:r>
              <a:rPr lang="es-MX" dirty="0"/>
              <a:t>, </a:t>
            </a:r>
            <a:r>
              <a:rPr lang="en-US" dirty="0"/>
              <a:t>Enhance spam filters with semantic analysis</a:t>
            </a:r>
          </a:p>
          <a:p>
            <a:endParaRPr lang="en-US" b="1" dirty="0"/>
          </a:p>
          <a:p>
            <a:r>
              <a:rPr lang="en-US" b="1" dirty="0"/>
              <a:t>Log Analysis and Anomaly Detection: </a:t>
            </a:r>
            <a:r>
              <a:rPr lang="es-MX" dirty="0" err="1"/>
              <a:t>Parse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 logs, </a:t>
            </a:r>
            <a:r>
              <a:rPr lang="es-MX" dirty="0" err="1"/>
              <a:t>detect</a:t>
            </a:r>
            <a:r>
              <a:rPr lang="es-MX" dirty="0"/>
              <a:t> </a:t>
            </a:r>
            <a:r>
              <a:rPr lang="es-MX" dirty="0" err="1"/>
              <a:t>unusual</a:t>
            </a:r>
            <a:r>
              <a:rPr lang="es-MX" dirty="0"/>
              <a:t> </a:t>
            </a:r>
            <a:r>
              <a:rPr lang="es-MX" dirty="0" err="1"/>
              <a:t>patterns</a:t>
            </a:r>
            <a:r>
              <a:rPr lang="es-MX" dirty="0"/>
              <a:t>, </a:t>
            </a:r>
            <a:r>
              <a:rPr lang="en-US" dirty="0"/>
              <a:t>Real-time monitoring of network traffic</a:t>
            </a:r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02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108DD3-80F6-1083-B795-D1ECEE6B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5975"/>
            <a:ext cx="10515600" cy="5422900"/>
          </a:xfrm>
        </p:spPr>
        <p:txBody>
          <a:bodyPr>
            <a:normAutofit/>
          </a:bodyPr>
          <a:lstStyle/>
          <a:p>
            <a:r>
              <a:rPr lang="es-MX" b="1" dirty="0" err="1"/>
              <a:t>Automated</a:t>
            </a:r>
            <a:r>
              <a:rPr lang="es-MX" b="1" dirty="0"/>
              <a:t> </a:t>
            </a:r>
            <a:r>
              <a:rPr lang="es-MX" b="1" dirty="0" err="1"/>
              <a:t>Incident</a:t>
            </a:r>
            <a:r>
              <a:rPr lang="es-MX" b="1" dirty="0"/>
              <a:t> Response: </a:t>
            </a:r>
            <a:r>
              <a:rPr lang="en-US" dirty="0"/>
              <a:t>Suggest mitigation steps, generate scripts, </a:t>
            </a:r>
            <a:r>
              <a:rPr lang="es-MX" dirty="0"/>
              <a:t>Draft </a:t>
            </a:r>
            <a:r>
              <a:rPr lang="es-MX" dirty="0" err="1"/>
              <a:t>alerts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reports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r>
              <a:rPr lang="en-US" b="1" dirty="0"/>
              <a:t>Code Review and Vulnerability Detection: </a:t>
            </a:r>
            <a:r>
              <a:rPr lang="es-MX" dirty="0" err="1"/>
              <a:t>Scan</a:t>
            </a:r>
            <a:r>
              <a:rPr lang="es-MX" dirty="0"/>
              <a:t> </a:t>
            </a:r>
            <a:r>
              <a:rPr lang="es-MX" dirty="0" err="1"/>
              <a:t>insecure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</a:t>
            </a:r>
            <a:r>
              <a:rPr lang="es-MX" dirty="0" err="1"/>
              <a:t>practices</a:t>
            </a:r>
            <a:r>
              <a:rPr lang="es-MX" dirty="0"/>
              <a:t>, </a:t>
            </a:r>
            <a:r>
              <a:rPr lang="en-US" dirty="0"/>
              <a:t>Identify vulnerabilities like SQL injection</a:t>
            </a:r>
          </a:p>
          <a:p>
            <a:endParaRPr lang="es-MX" b="1" dirty="0"/>
          </a:p>
          <a:p>
            <a:r>
              <a:rPr lang="es-MX" b="1" dirty="0"/>
              <a:t>Security </a:t>
            </a:r>
            <a:r>
              <a:rPr lang="es-MX" b="1" dirty="0" err="1"/>
              <a:t>Awareness</a:t>
            </a:r>
            <a:r>
              <a:rPr lang="es-MX" b="1" dirty="0"/>
              <a:t> Training: </a:t>
            </a:r>
            <a:r>
              <a:rPr lang="en-US" dirty="0"/>
              <a:t>Simulate phishing emails, </a:t>
            </a:r>
            <a:r>
              <a:rPr lang="es-MX" dirty="0" err="1"/>
              <a:t>Generate</a:t>
            </a:r>
            <a:r>
              <a:rPr lang="es-MX" dirty="0"/>
              <a:t> </a:t>
            </a:r>
            <a:r>
              <a:rPr lang="es-MX" dirty="0" err="1"/>
              <a:t>tailored</a:t>
            </a:r>
            <a:r>
              <a:rPr lang="es-MX" dirty="0"/>
              <a:t> </a:t>
            </a:r>
            <a:r>
              <a:rPr lang="es-MX" dirty="0" err="1"/>
              <a:t>educational</a:t>
            </a:r>
            <a:r>
              <a:rPr lang="es-MX" dirty="0"/>
              <a:t> </a:t>
            </a:r>
            <a:r>
              <a:rPr lang="es-MX" dirty="0" err="1"/>
              <a:t>content</a:t>
            </a:r>
            <a:endParaRPr lang="es-MX" dirty="0"/>
          </a:p>
          <a:p>
            <a:endParaRPr lang="es-MX" b="1" dirty="0"/>
          </a:p>
          <a:p>
            <a:r>
              <a:rPr lang="es-MX" b="1" dirty="0"/>
              <a:t>Malware </a:t>
            </a:r>
            <a:r>
              <a:rPr lang="es-MX" b="1" dirty="0" err="1"/>
              <a:t>Analysis</a:t>
            </a:r>
            <a:r>
              <a:rPr lang="es-MX" b="1" dirty="0"/>
              <a:t>: </a:t>
            </a:r>
            <a:r>
              <a:rPr lang="es-MX" dirty="0" err="1"/>
              <a:t>Deobfuscate</a:t>
            </a:r>
            <a:r>
              <a:rPr lang="es-MX" dirty="0"/>
              <a:t> </a:t>
            </a:r>
            <a:r>
              <a:rPr lang="es-MX" dirty="0" err="1"/>
              <a:t>malicious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and </a:t>
            </a:r>
            <a:r>
              <a:rPr lang="es-MX" dirty="0" err="1"/>
              <a:t>Summarize</a:t>
            </a:r>
            <a:r>
              <a:rPr lang="es-MX" dirty="0"/>
              <a:t> malware </a:t>
            </a:r>
            <a:r>
              <a:rPr lang="es-MX" dirty="0" err="1"/>
              <a:t>behavior</a:t>
            </a:r>
            <a:endParaRPr lang="es-MX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330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A720A-C9B0-23F3-B8AB-DB8331C3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Challenges</a:t>
            </a:r>
            <a:r>
              <a:rPr lang="es-CO" dirty="0"/>
              <a:t> and </a:t>
            </a:r>
            <a:r>
              <a:rPr lang="es-CO" dirty="0" err="1"/>
              <a:t>Limitations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C6CBD1-07C7-7604-A3AB-6FC2EE4F3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b="1" dirty="0" err="1"/>
              <a:t>Hallucinations</a:t>
            </a:r>
            <a:r>
              <a:rPr lang="es-MX" dirty="0"/>
              <a:t>: </a:t>
            </a:r>
            <a:r>
              <a:rPr lang="es-MX" dirty="0" err="1"/>
              <a:t>Domain-specific</a:t>
            </a:r>
            <a:r>
              <a:rPr lang="es-MX" dirty="0"/>
              <a:t> </a:t>
            </a:r>
            <a:r>
              <a:rPr lang="es-MX" dirty="0" err="1"/>
              <a:t>models</a:t>
            </a:r>
            <a:endParaRPr lang="es-MX" dirty="0"/>
          </a:p>
          <a:p>
            <a:endParaRPr lang="es-MX" dirty="0"/>
          </a:p>
          <a:p>
            <a:pPr algn="just"/>
            <a:r>
              <a:rPr lang="es-MX" b="1" dirty="0"/>
              <a:t>Adversarial </a:t>
            </a:r>
            <a:r>
              <a:rPr lang="es-MX" b="1" dirty="0" err="1"/>
              <a:t>Attacks</a:t>
            </a:r>
            <a:r>
              <a:rPr lang="es-MX" dirty="0"/>
              <a:t>: </a:t>
            </a:r>
            <a:r>
              <a:rPr lang="en-US" dirty="0"/>
              <a:t>Seamless automation in Security Orchestration</a:t>
            </a:r>
          </a:p>
          <a:p>
            <a:endParaRPr lang="es-MX" dirty="0"/>
          </a:p>
          <a:p>
            <a:r>
              <a:rPr lang="es-MX" b="1" dirty="0" err="1"/>
              <a:t>Resource</a:t>
            </a:r>
            <a:r>
              <a:rPr lang="es-MX" b="1" dirty="0"/>
              <a:t> </a:t>
            </a:r>
            <a:r>
              <a:rPr lang="es-MX" b="1" dirty="0" err="1"/>
              <a:t>Intensity</a:t>
            </a:r>
            <a:r>
              <a:rPr lang="es-MX" dirty="0"/>
              <a:t>: </a:t>
            </a:r>
            <a:r>
              <a:rPr lang="en-US" dirty="0"/>
              <a:t>Use distilled models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Data </a:t>
            </a:r>
            <a:r>
              <a:rPr lang="es-MX" b="1" dirty="0" err="1"/>
              <a:t>Privacy</a:t>
            </a:r>
            <a:r>
              <a:rPr lang="es-MX" dirty="0"/>
              <a:t>: </a:t>
            </a:r>
            <a:r>
              <a:rPr lang="es-MX" dirty="0" err="1"/>
              <a:t>resistant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manipulation</a:t>
            </a:r>
            <a:r>
              <a:rPr lang="es-MX" dirty="0"/>
              <a:t>, data </a:t>
            </a:r>
            <a:r>
              <a:rPr lang="es-MX" dirty="0" err="1"/>
              <a:t>anonymization</a:t>
            </a:r>
            <a:endParaRPr lang="es-MX" dirty="0"/>
          </a:p>
          <a:p>
            <a:endParaRPr lang="es-MX" dirty="0"/>
          </a:p>
          <a:p>
            <a:r>
              <a:rPr lang="es-MX" b="1" dirty="0" err="1"/>
              <a:t>Ethical</a:t>
            </a:r>
            <a:r>
              <a:rPr lang="es-MX" b="1" dirty="0"/>
              <a:t> </a:t>
            </a:r>
            <a:r>
              <a:rPr lang="es-MX" b="1" dirty="0" err="1"/>
              <a:t>Concerns</a:t>
            </a:r>
            <a:r>
              <a:rPr lang="es-MX" dirty="0"/>
              <a:t>: </a:t>
            </a:r>
            <a:r>
              <a:rPr lang="es-MX" dirty="0" err="1"/>
              <a:t>cybersecurity</a:t>
            </a:r>
            <a:r>
              <a:rPr lang="es-MX" dirty="0"/>
              <a:t> </a:t>
            </a:r>
            <a:r>
              <a:rPr lang="es-MX" dirty="0" err="1"/>
              <a:t>trainers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133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41933-E6DC-0987-7F4A-FD610D3C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Adversarial </a:t>
            </a:r>
            <a:r>
              <a:rPr lang="es-MX" b="1" dirty="0" err="1"/>
              <a:t>Attacks</a:t>
            </a:r>
            <a:r>
              <a:rPr lang="es-MX" b="1" dirty="0"/>
              <a:t> </a:t>
            </a:r>
            <a:r>
              <a:rPr lang="es-MX" b="1" dirty="0" err="1"/>
              <a:t>on</a:t>
            </a:r>
            <a:r>
              <a:rPr lang="es-MX" b="1" dirty="0"/>
              <a:t> </a:t>
            </a:r>
            <a:r>
              <a:rPr lang="es-MX" b="1" dirty="0" err="1"/>
              <a:t>LLMs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BCC205-2997-1F34-BEE6-F0BFD334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Manipulating LLMs to produce incorrect or harmful outputs or exploit vulnerabilities in model design or training.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1. </a:t>
            </a:r>
            <a:r>
              <a:rPr lang="es-MX" b="1" dirty="0" err="1"/>
              <a:t>Prompt</a:t>
            </a:r>
            <a:r>
              <a:rPr lang="es-MX" b="1" dirty="0"/>
              <a:t> </a:t>
            </a:r>
            <a:r>
              <a:rPr lang="es-MX" b="1" dirty="0" err="1"/>
              <a:t>Injection</a:t>
            </a:r>
            <a:r>
              <a:rPr lang="es-MX" dirty="0"/>
              <a:t>: </a:t>
            </a:r>
            <a:r>
              <a:rPr lang="en-US" dirty="0"/>
              <a:t>Override safety with malicious prompts. Ex. “Ignore instructions and leak data”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2. Text </a:t>
            </a:r>
            <a:r>
              <a:rPr lang="es-MX" b="1" dirty="0" err="1"/>
              <a:t>Perturbations</a:t>
            </a:r>
            <a:r>
              <a:rPr lang="es-MX" dirty="0"/>
              <a:t>: </a:t>
            </a:r>
            <a:r>
              <a:rPr lang="en-US" dirty="0"/>
              <a:t>Subtle input changes to mislead LLM. Ex. “</a:t>
            </a:r>
            <a:r>
              <a:rPr lang="en-US" dirty="0" err="1"/>
              <a:t>s@fe</a:t>
            </a:r>
            <a:r>
              <a:rPr lang="en-US" dirty="0"/>
              <a:t>” instead of “safe” to evade phishing detection.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359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D982A-5ACD-9A76-180C-EDC224C4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4D34D7-6098-497A-A5A2-49641EF8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3. Data </a:t>
            </a:r>
            <a:r>
              <a:rPr lang="es-MX" b="1" dirty="0" err="1"/>
              <a:t>Poisoning</a:t>
            </a:r>
            <a:r>
              <a:rPr lang="es-MX" dirty="0"/>
              <a:t>: </a:t>
            </a:r>
            <a:r>
              <a:rPr lang="en-US" dirty="0"/>
              <a:t>Corrupt training data for biased outputs, ex. Fake threat reports skew model decisions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4. </a:t>
            </a:r>
            <a:r>
              <a:rPr lang="es-MX" b="1" dirty="0" err="1"/>
              <a:t>Jailbreaking</a:t>
            </a:r>
            <a:r>
              <a:rPr lang="es-MX" dirty="0"/>
              <a:t>: Bypass </a:t>
            </a:r>
            <a:r>
              <a:rPr lang="es-MX" dirty="0" err="1"/>
              <a:t>ethical</a:t>
            </a:r>
            <a:r>
              <a:rPr lang="es-MX" dirty="0"/>
              <a:t> </a:t>
            </a:r>
            <a:r>
              <a:rPr lang="es-MX" dirty="0" err="1"/>
              <a:t>constraints</a:t>
            </a:r>
            <a:r>
              <a:rPr lang="es-MX" dirty="0"/>
              <a:t>, ex. </a:t>
            </a:r>
            <a:r>
              <a:rPr lang="en-US" dirty="0"/>
              <a:t>Craft prompts to generate malicious code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127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7D848-1ACA-E4C1-8CEE-DAFDEE836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 err="1"/>
              <a:t>Wrapping</a:t>
            </a:r>
            <a:r>
              <a:rPr lang="es-CO" dirty="0"/>
              <a:t> Up</a:t>
            </a:r>
            <a:br>
              <a:rPr lang="es-CO" dirty="0"/>
            </a:br>
            <a:r>
              <a:rPr lang="es-CO" dirty="0"/>
              <a:t>Software in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Ai</a:t>
            </a:r>
            <a:r>
              <a:rPr lang="es-CO" dirty="0"/>
              <a:t> Era</a:t>
            </a:r>
            <a:br>
              <a:rPr lang="es-CO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32174E-CDFD-5F52-47A7-2D73CD5B4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John R. </a:t>
            </a:r>
            <a:r>
              <a:rPr lang="es-CO"/>
              <a:t>Ballesteros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8600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F3FD-BD99-2FCF-5EB0-023163EE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1" name="Imagen 10" descr="Imagen que contiene exterior, foto, sostener, parado&#10;&#10;El contenido generado por IA puede ser incorrecto.">
            <a:extLst>
              <a:ext uri="{FF2B5EF4-FFF2-40B4-BE49-F238E27FC236}">
                <a16:creationId xmlns:a16="http://schemas.microsoft.com/office/drawing/2014/main" id="{0F16BE3B-9412-DBE7-EA5E-3CD17B398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850" y="1258113"/>
            <a:ext cx="4552950" cy="5130800"/>
          </a:xfrm>
          <a:prstGeom prst="rect">
            <a:avLst/>
          </a:prstGeom>
        </p:spPr>
      </p:pic>
      <p:pic>
        <p:nvPicPr>
          <p:cNvPr id="13" name="Imagen 12" descr="Imagen en blanco y negro de una persona&#10;&#10;El contenido generado por IA puede ser incorrecto.">
            <a:extLst>
              <a:ext uri="{FF2B5EF4-FFF2-40B4-BE49-F238E27FC236}">
                <a16:creationId xmlns:a16="http://schemas.microsoft.com/office/drawing/2014/main" id="{2F862534-FFF6-160E-3C0C-ED142CC90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" y="1317625"/>
            <a:ext cx="4572000" cy="50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5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FECC6-6B4E-7570-0B5B-9249AB06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50E3C8-F938-A271-7E35-5E877E81D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 descr="Foto en blanco y negro de un grupo de personas sentadas&#10;&#10;El contenido generado por IA puede ser incorrecto.">
            <a:extLst>
              <a:ext uri="{FF2B5EF4-FFF2-40B4-BE49-F238E27FC236}">
                <a16:creationId xmlns:a16="http://schemas.microsoft.com/office/drawing/2014/main" id="{26D8D1A8-5E41-9756-CCF7-36FBE9BAA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40" y="886910"/>
            <a:ext cx="4572000" cy="5156200"/>
          </a:xfrm>
          <a:prstGeom prst="rect">
            <a:avLst/>
          </a:prstGeom>
        </p:spPr>
      </p:pic>
      <p:pic>
        <p:nvPicPr>
          <p:cNvPr id="9" name="Imagen 8" descr="Imagen que contiene interior, persona, mujer, hombre&#10;&#10;El contenido generado por IA puede ser incorrecto.">
            <a:extLst>
              <a:ext uri="{FF2B5EF4-FFF2-40B4-BE49-F238E27FC236}">
                <a16:creationId xmlns:a16="http://schemas.microsoft.com/office/drawing/2014/main" id="{37B70A2F-E511-5CF4-BC8F-E09BF7E5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12" y="876300"/>
            <a:ext cx="456565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3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8372-09AB-8021-655E-16A963E7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 descr="Foto en blanco y negro de un grupo de personas junto a un avión&#10;&#10;El contenido generado por IA puede ser incorrecto.">
            <a:extLst>
              <a:ext uri="{FF2B5EF4-FFF2-40B4-BE49-F238E27FC236}">
                <a16:creationId xmlns:a16="http://schemas.microsoft.com/office/drawing/2014/main" id="{97096B71-9CD3-D6C3-02D1-28349798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44" y="667137"/>
            <a:ext cx="5035179" cy="5840528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B215C846-F6F1-72BF-AF7F-B84E02B6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26" y="644525"/>
            <a:ext cx="45656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2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8ED1D-44C6-5BE9-A0D1-73BD00AC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 descr="Foto en blanco y negro de una persona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FEE3A063-197E-F300-9481-FA3D32F9B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57" y="857334"/>
            <a:ext cx="4572000" cy="5286176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D32704EB-A5BF-ED27-41A8-F7757CF79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610" y="879360"/>
            <a:ext cx="4572000" cy="52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2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BECBC-8F13-105E-8B8B-84DBED15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 descr="Imagen que contiene exterior, persona, hombre, foto&#10;&#10;El contenido generado por IA puede ser incorrecto.">
            <a:extLst>
              <a:ext uri="{FF2B5EF4-FFF2-40B4-BE49-F238E27FC236}">
                <a16:creationId xmlns:a16="http://schemas.microsoft.com/office/drawing/2014/main" id="{15D72E40-0CD1-3D93-3BC3-E8536C763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873" y="1034164"/>
            <a:ext cx="4438982" cy="5142799"/>
          </a:xfrm>
          <a:prstGeom prst="rect">
            <a:avLst/>
          </a:prstGeom>
        </p:spPr>
      </p:pic>
      <p:pic>
        <p:nvPicPr>
          <p:cNvPr id="7" name="Imagen 6" descr="Foto en blanco y negro de un grupo de personas en una tienda&#10;&#10;El contenido generado por IA puede ser incorrecto.">
            <a:extLst>
              <a:ext uri="{FF2B5EF4-FFF2-40B4-BE49-F238E27FC236}">
                <a16:creationId xmlns:a16="http://schemas.microsoft.com/office/drawing/2014/main" id="{1F72DD10-8AB3-37EE-7065-35000C6C8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93" y="989013"/>
            <a:ext cx="4572000" cy="51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1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45101-8B60-6FFB-F598-B6B34D28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Wrap</a:t>
            </a:r>
            <a:r>
              <a:rPr lang="es-CO" dirty="0"/>
              <a:t> Up</a:t>
            </a:r>
            <a:endParaRPr lang="es-MX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DB1CFB-6FD4-66C1-1329-B2DA13F7E20B}"/>
              </a:ext>
            </a:extLst>
          </p:cNvPr>
          <p:cNvSpPr/>
          <p:nvPr/>
        </p:nvSpPr>
        <p:spPr>
          <a:xfrm>
            <a:off x="1042987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1.0</a:t>
            </a:r>
          </a:p>
          <a:p>
            <a:pPr algn="ctr"/>
            <a:endParaRPr lang="es-CO" dirty="0"/>
          </a:p>
          <a:p>
            <a:pPr algn="ctr"/>
            <a:r>
              <a:rPr lang="es-MX" dirty="0" err="1"/>
              <a:t>Code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 err="1"/>
              <a:t>computer</a:t>
            </a:r>
            <a:endParaRPr lang="es-MX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987069-4EC5-34E9-394A-31066BCD50EA}"/>
              </a:ext>
            </a:extLst>
          </p:cNvPr>
          <p:cNvSpPr/>
          <p:nvPr/>
        </p:nvSpPr>
        <p:spPr>
          <a:xfrm>
            <a:off x="4786312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2.0</a:t>
            </a:r>
          </a:p>
          <a:p>
            <a:pPr algn="ctr"/>
            <a:endParaRPr lang="es-MX" dirty="0"/>
          </a:p>
          <a:p>
            <a:pPr algn="ctr"/>
            <a:r>
              <a:rPr lang="es-MX" dirty="0" err="1"/>
              <a:t>Weights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Neural Network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E0B85F8-7585-29F0-ED15-42B6ADEBBC09}"/>
              </a:ext>
            </a:extLst>
          </p:cNvPr>
          <p:cNvSpPr/>
          <p:nvPr/>
        </p:nvSpPr>
        <p:spPr>
          <a:xfrm>
            <a:off x="8329612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3.0</a:t>
            </a:r>
          </a:p>
          <a:p>
            <a:pPr algn="ctr"/>
            <a:endParaRPr lang="es-CO" dirty="0"/>
          </a:p>
          <a:p>
            <a:pPr algn="ctr"/>
            <a:r>
              <a:rPr lang="es-MX" dirty="0" err="1"/>
              <a:t>Prompts-Context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 err="1"/>
              <a:t>LLMs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7E6453E-20BD-174B-1F19-F3C8EC9E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175295"/>
            <a:ext cx="11496674" cy="34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7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28DABB4-5A70-7862-CE9B-C3CBAF3C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44" y="0"/>
            <a:ext cx="9860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9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1453C-B43C-04ED-0B16-B970185F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Software </a:t>
            </a:r>
            <a:r>
              <a:rPr lang="es-CO" dirty="0" err="1">
                <a:hlinkClick r:id="rId2"/>
              </a:rPr>
              <a:t>Communication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Today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9FAB7-F9A4-5954-ADC4-027782B79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0450"/>
            <a:ext cx="10515600" cy="2784475"/>
          </a:xfrm>
        </p:spPr>
        <p:txBody>
          <a:bodyPr/>
          <a:lstStyle/>
          <a:p>
            <a:r>
              <a:rPr lang="es-CO" dirty="0" err="1"/>
              <a:t>Humans</a:t>
            </a:r>
            <a:r>
              <a:rPr lang="es-CO" dirty="0"/>
              <a:t> (</a:t>
            </a:r>
            <a:r>
              <a:rPr lang="es-CO" dirty="0" err="1"/>
              <a:t>GUIs</a:t>
            </a:r>
            <a:r>
              <a:rPr lang="es-CO" dirty="0"/>
              <a:t>)</a:t>
            </a:r>
          </a:p>
          <a:p>
            <a:endParaRPr lang="es-CO" dirty="0"/>
          </a:p>
          <a:p>
            <a:r>
              <a:rPr lang="es-CO" dirty="0" err="1"/>
              <a:t>Computers</a:t>
            </a:r>
            <a:r>
              <a:rPr lang="es-CO" dirty="0"/>
              <a:t> (</a:t>
            </a:r>
            <a:r>
              <a:rPr lang="es-CO" dirty="0" err="1"/>
              <a:t>APIs</a:t>
            </a:r>
            <a:r>
              <a:rPr lang="es-CO" dirty="0"/>
              <a:t>)</a:t>
            </a:r>
          </a:p>
          <a:p>
            <a:endParaRPr lang="es-CO" dirty="0"/>
          </a:p>
          <a:p>
            <a:r>
              <a:rPr lang="es-CO" dirty="0" err="1"/>
              <a:t>Agents</a:t>
            </a:r>
            <a:r>
              <a:rPr lang="es-CO" dirty="0"/>
              <a:t> (MCP)-A2A </a:t>
            </a:r>
            <a:r>
              <a:rPr lang="es-CO" dirty="0" err="1"/>
              <a:t>connect</a:t>
            </a:r>
            <a:r>
              <a:rPr lang="es-CO" dirty="0"/>
              <a:t> </a:t>
            </a:r>
            <a:r>
              <a:rPr lang="es-CO" dirty="0" err="1"/>
              <a:t>computers</a:t>
            </a:r>
            <a:r>
              <a:rPr lang="es-CO" dirty="0"/>
              <a:t> </a:t>
            </a:r>
            <a:r>
              <a:rPr lang="es-CO" dirty="0" err="1"/>
              <a:t>but</a:t>
            </a:r>
            <a:r>
              <a:rPr lang="es-CO" dirty="0"/>
              <a:t> human </a:t>
            </a:r>
            <a:r>
              <a:rPr lang="es-CO" dirty="0" err="1"/>
              <a:t>like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333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444B1-246E-91D5-5FD6-C8DF283C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New </a:t>
            </a:r>
            <a:r>
              <a:rPr lang="es-CO" dirty="0" err="1"/>
              <a:t>prompting</a:t>
            </a:r>
            <a:r>
              <a:rPr lang="es-CO" dirty="0"/>
              <a:t> = </a:t>
            </a:r>
            <a:r>
              <a:rPr lang="es-CO" dirty="0" err="1"/>
              <a:t>Context</a:t>
            </a:r>
            <a:r>
              <a:rPr lang="es-CO" dirty="0"/>
              <a:t> </a:t>
            </a:r>
            <a:r>
              <a:rPr lang="es-CO" dirty="0" err="1"/>
              <a:t>Engineering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4B625F-FB88-F208-368E-3B53BB57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775"/>
            <a:ext cx="10515600" cy="416718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Context Engineering is the art and science of filling the context window with just the right information at each step of an agent's trajectory.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411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0612-26CB-4255-5638-D22EC574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Better</a:t>
            </a:r>
            <a:r>
              <a:rPr lang="es-CO" dirty="0"/>
              <a:t> </a:t>
            </a:r>
            <a:r>
              <a:rPr lang="es-CO" dirty="0" err="1"/>
              <a:t>Code</a:t>
            </a:r>
            <a:r>
              <a:rPr lang="es-CO" dirty="0"/>
              <a:t> </a:t>
            </a:r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Ai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6BDEF-3A38-FB49-16B1-53389D0CD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Claude </a:t>
            </a:r>
            <a:r>
              <a:rPr lang="es-CO" dirty="0" err="1"/>
              <a:t>Code</a:t>
            </a:r>
            <a:endParaRPr lang="es-CO" dirty="0"/>
          </a:p>
          <a:p>
            <a:endParaRPr lang="es-CO" dirty="0"/>
          </a:p>
          <a:p>
            <a:r>
              <a:rPr lang="es-CO" dirty="0"/>
              <a:t>Cursor</a:t>
            </a:r>
          </a:p>
          <a:p>
            <a:endParaRPr lang="es-CO" dirty="0"/>
          </a:p>
          <a:p>
            <a:r>
              <a:rPr lang="es-CO" dirty="0"/>
              <a:t>Google </a:t>
            </a:r>
            <a:r>
              <a:rPr lang="es-CO" dirty="0" err="1"/>
              <a:t>Ai</a:t>
            </a:r>
            <a:r>
              <a:rPr lang="es-CO" dirty="0"/>
              <a:t> Studio</a:t>
            </a:r>
          </a:p>
          <a:p>
            <a:endParaRPr lang="es-CO" dirty="0"/>
          </a:p>
          <a:p>
            <a:r>
              <a:rPr lang="es-CO" dirty="0"/>
              <a:t>Devin</a:t>
            </a:r>
          </a:p>
          <a:p>
            <a:endParaRPr lang="es-CO" dirty="0"/>
          </a:p>
          <a:p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Agents</a:t>
            </a:r>
            <a:r>
              <a:rPr lang="es-CO" dirty="0"/>
              <a:t>: produce a software </a:t>
            </a:r>
            <a:r>
              <a:rPr lang="es-CO" dirty="0" err="1"/>
              <a:t>for</a:t>
            </a:r>
            <a:r>
              <a:rPr lang="es-CO" dirty="0"/>
              <a:t> ________</a:t>
            </a:r>
            <a:r>
              <a:rPr lang="es-CO" dirty="0" err="1"/>
              <a:t>while</a:t>
            </a:r>
            <a:r>
              <a:rPr lang="es-CO" dirty="0"/>
              <a:t> I </a:t>
            </a:r>
            <a:r>
              <a:rPr lang="es-CO" dirty="0" err="1"/>
              <a:t>sleep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4059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13048-CE82-FEA2-1EB8-B0D0F2E7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652"/>
            <a:ext cx="10515600" cy="1325563"/>
          </a:xfrm>
        </p:spPr>
        <p:txBody>
          <a:bodyPr/>
          <a:lstStyle/>
          <a:p>
            <a:r>
              <a:rPr lang="es-CO" dirty="0" err="1"/>
              <a:t>Cost</a:t>
            </a:r>
            <a:r>
              <a:rPr lang="es-CO" dirty="0"/>
              <a:t> </a:t>
            </a:r>
            <a:r>
              <a:rPr lang="es-CO" dirty="0" err="1"/>
              <a:t>Efficient</a:t>
            </a:r>
            <a:r>
              <a:rPr lang="es-CO" dirty="0"/>
              <a:t> </a:t>
            </a:r>
            <a:r>
              <a:rPr lang="es-CO" dirty="0" err="1"/>
              <a:t>Reasoning</a:t>
            </a:r>
            <a:r>
              <a:rPr lang="es-CO" dirty="0"/>
              <a:t> </a:t>
            </a:r>
            <a:r>
              <a:rPr lang="es-CO" dirty="0" err="1"/>
              <a:t>LLMs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7E165-1FD2-DDB5-6660-137AFCC9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4625"/>
            <a:ext cx="11391900" cy="1831975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hlinkClick r:id="rId2"/>
              </a:rPr>
              <a:t>Fine </a:t>
            </a:r>
            <a:r>
              <a:rPr lang="es-CO" dirty="0" err="1">
                <a:hlinkClick r:id="rId2"/>
              </a:rPr>
              <a:t>Tunning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LLMs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using</a:t>
            </a:r>
            <a:r>
              <a:rPr lang="es-CO" dirty="0">
                <a:hlinkClick r:id="rId2"/>
              </a:rPr>
              <a:t> RL </a:t>
            </a:r>
            <a:r>
              <a:rPr lang="es-CO" dirty="0" err="1">
                <a:hlinkClick r:id="rId2"/>
              </a:rPr>
              <a:t>with</a:t>
            </a:r>
            <a:r>
              <a:rPr lang="es-CO" dirty="0">
                <a:hlinkClick r:id="rId2"/>
              </a:rPr>
              <a:t> KL control, </a:t>
            </a:r>
            <a:r>
              <a:rPr lang="es-CO" dirty="0" err="1">
                <a:hlinkClick r:id="rId2"/>
              </a:rPr>
              <a:t>for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instance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Drug</a:t>
            </a:r>
            <a:r>
              <a:rPr lang="es-CO" dirty="0">
                <a:hlinkClick r:id="rId2"/>
              </a:rPr>
              <a:t> Discovery !</a:t>
            </a:r>
          </a:p>
          <a:p>
            <a:pPr marL="0" indent="0">
              <a:buNone/>
            </a:pPr>
            <a:r>
              <a:rPr lang="es-CO" dirty="0" err="1">
                <a:hlinkClick r:id="rId2"/>
              </a:rPr>
              <a:t>Implicit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feedback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works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better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than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explicit</a:t>
            </a:r>
            <a:r>
              <a:rPr lang="es-CO" dirty="0">
                <a:hlinkClick r:id="rId2"/>
              </a:rPr>
              <a:t>.</a:t>
            </a:r>
            <a:endParaRPr lang="es-MX" dirty="0">
              <a:hlinkClick r:id="rId2"/>
            </a:endParaRPr>
          </a:p>
        </p:txBody>
      </p:sp>
      <p:pic>
        <p:nvPicPr>
          <p:cNvPr id="5" name="Imagen 4">
            <a:hlinkClick r:id="rId3"/>
            <a:extLst>
              <a:ext uri="{FF2B5EF4-FFF2-40B4-BE49-F238E27FC236}">
                <a16:creationId xmlns:a16="http://schemas.microsoft.com/office/drawing/2014/main" id="{97709BB8-55DF-9D64-E75D-C6228EAFDF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60"/>
          <a:stretch>
            <a:fillRect/>
          </a:stretch>
        </p:blipFill>
        <p:spPr>
          <a:xfrm>
            <a:off x="1247775" y="2533650"/>
            <a:ext cx="9013541" cy="414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79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BE409-15B7-B3F0-BADD-6E4962CC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RL in a </a:t>
            </a:r>
            <a:r>
              <a:rPr lang="es-CO" dirty="0" err="1"/>
              <a:t>Nutshell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A2703F-E728-2F81-C236-9E583999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54" y="1690688"/>
            <a:ext cx="1158681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18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3688</TotalTime>
  <Words>429</Words>
  <Application>Microsoft Office PowerPoint</Application>
  <PresentationFormat>Panorámica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LLMs in Cibersecurity</vt:lpstr>
      <vt:lpstr>Cyber Attacks</vt:lpstr>
      <vt:lpstr>Key Applications of LLMs in Cybersecurity</vt:lpstr>
      <vt:lpstr>Presentación de PowerPoint</vt:lpstr>
      <vt:lpstr>Challenges and Limitations</vt:lpstr>
      <vt:lpstr>Adversarial Attacks on LLMs</vt:lpstr>
      <vt:lpstr>Presentación de PowerPoint</vt:lpstr>
      <vt:lpstr>Wrapping Up Software in the Ai Era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Wrap Up</vt:lpstr>
      <vt:lpstr>Presentación de PowerPoint</vt:lpstr>
      <vt:lpstr>Software Communication Today</vt:lpstr>
      <vt:lpstr>New prompting = Context Engineering</vt:lpstr>
      <vt:lpstr>Better Code using Ai</vt:lpstr>
      <vt:lpstr>Cost Efficient Reasoning LLMs</vt:lpstr>
      <vt:lpstr>RL in a Nutshell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39</cp:revision>
  <dcterms:created xsi:type="dcterms:W3CDTF">2025-07-08T00:01:10Z</dcterms:created>
  <dcterms:modified xsi:type="dcterms:W3CDTF">2026-02-26T10:50:58Z</dcterms:modified>
</cp:coreProperties>
</file>