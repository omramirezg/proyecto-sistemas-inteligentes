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5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61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DAC103-7D95-9B37-80CC-A0E28B255D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F1DF41-BFB3-1DC8-7ED3-5449AA17A1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85393FC-D3B5-1345-6836-17211CAF3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145F-6D7D-49FD-9C98-0DFFC70A8E7F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DA09CD-E891-079F-01D4-FBE3D4E8C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6F2D3A-1C92-BBAA-43F4-ABF6CB952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519A9-70AF-4EFD-BC96-4545BAB14C0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70410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FA10A0-0CC0-3612-4EB8-EA82FD4F1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4183CE-15BE-A0EE-26F6-07BE09B90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214AD1-2FBF-D20A-03CE-53E7FC013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145F-6D7D-49FD-9C98-0DFFC70A8E7F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04D1C0-5593-86B8-1092-B14241F07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3F6106-DF25-F3B3-3639-BB5B7E4EE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519A9-70AF-4EFD-BC96-4545BAB14C0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24419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BD2A14-E93F-6FA1-81DB-CF4509510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D7BBF34-FC65-F70E-C409-95168B3C0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BE40DF-04C0-3163-F353-D9E13A14A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145F-6D7D-49FD-9C98-0DFFC70A8E7F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36C57B-DFA3-9493-17D4-306D4F017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ED0A24-9EB9-872E-DA07-F50E2D0AB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519A9-70AF-4EFD-BC96-4545BAB14C0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1009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D7263D-3E33-EAF9-AAB9-8965B7CC4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E1A78D-DAB7-ADE7-0681-EF4732BE6B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11CEE70-13CE-1B0F-28FC-3EAC8B39A0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2AF11CE-44FA-E205-B912-C5094420B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145F-6D7D-49FD-9C98-0DFFC70A8E7F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FA6FCC-7E12-E8FB-B85B-D3FE42C02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4C76E1B-74D7-4EE3-C273-333D508B5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519A9-70AF-4EFD-BC96-4545BAB14C0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49531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D91FAF-19DA-24DC-6F0A-B80122D10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C6B69EC-290F-F1E7-EE91-BE609C09E8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CF8C4C7-05B3-4BC7-7BED-AAAD4F2CEE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C9B109D-F899-13E1-E99F-300F7F2BD7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7EFD6A2-210D-2FD4-C94A-73AD33D493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D5BB295-9A5E-8533-D3BB-3262684C2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145F-6D7D-49FD-9C98-0DFFC70A8E7F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FD8565E-D719-F6EC-1B0E-08E05C75C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D5AB503-AE43-C837-4861-0A1269106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519A9-70AF-4EFD-BC96-4545BAB14C0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89385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DAE901-6E1C-207E-B282-D2305EBF6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42D66AB-9BE8-D7EF-E87F-C5E59EDCD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145F-6D7D-49FD-9C98-0DFFC70A8E7F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2A34818-5A1F-AF7C-8482-CD90DEFAA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283A229-A482-1EE6-B2AA-1716C28DB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519A9-70AF-4EFD-BC96-4545BAB14C0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8734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401A4A2-6172-1C1F-66C4-282DDDA57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145F-6D7D-49FD-9C98-0DFFC70A8E7F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104672-D52F-B386-119B-0FD6B02D2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C634735-2315-135A-60DB-8448E3BA8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519A9-70AF-4EFD-BC96-4545BAB14C0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04948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06FBAA-DE82-D1E0-1E58-63D28B881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6D6068-B576-303D-9D7C-183FA14D5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F2DB502-E96A-29F9-04AC-12C2156782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63BAC82-788F-3690-23A4-051D25C73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145F-6D7D-49FD-9C98-0DFFC70A8E7F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BD664A0-934F-CCE8-6769-8A9D00ADD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0C9780C-D4C7-B24E-5702-A4470E6F4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519A9-70AF-4EFD-BC96-4545BAB14C0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04704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2ECDFF-D2F0-4086-FA53-5380C7583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680D097-E0CA-3A48-F6BF-FEB5D5819E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2FD90C3-E2AF-8C9B-68E9-0F112BAF82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F16D547-1B6E-4A2F-8467-4E3FB1C4E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145F-6D7D-49FD-9C98-0DFFC70A8E7F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BE2D9A1-8BE9-F894-EF60-4BCFA03A9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5E3FE25-CDA8-E58E-FD1B-604DF576B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519A9-70AF-4EFD-BC96-4545BAB14C0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0894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EE02B0-30D6-3B7A-5A25-6DF2BB535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ADCFC4A-64CA-60D3-D569-691E968D29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FBE931-429E-BF4A-4E45-EA2843D4D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145F-6D7D-49FD-9C98-0DFFC70A8E7F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FA5EAF-80BD-200A-67EC-314A08C76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8A1F64-7BB3-56FC-454B-EB1024CB5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519A9-70AF-4EFD-BC96-4545BAB14C0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69780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D12FA81-5173-E9D8-A1EF-E672BF8BC3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905FC82-A53B-1619-B9D3-048BA19A8E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387D7B-C32E-2BE1-F86D-F189549F6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145F-6D7D-49FD-9C98-0DFFC70A8E7F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A44A7E-62C8-6871-8E44-1FF841EAE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50FD34-C3DE-FF78-418F-720E111F7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519A9-70AF-4EFD-BC96-4545BAB14C0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97140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408A42F-2C38-8CB6-37F8-55B65B49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FA565B-4394-2554-1056-2FE7A6D937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FEECCF-251D-8AAC-C5B2-FAD96AAD47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42145F-6D7D-49FD-9C98-0DFFC70A8E7F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07A280-2559-5730-06E5-1D39C24835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2C9F9E-F464-4A80-508D-28D3D35123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E519A9-70AF-4EFD-BC96-4545BAB14C0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82689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mailto:jriospe@unal.edu.co" TargetMode="External"/><Relationship Id="rId2" Type="http://schemas.openxmlformats.org/officeDocument/2006/relationships/hyperlink" Target="http://www.medium.com/@jrballestero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inkedin.com/in/jesusriosp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drive/folders/1SJWpj8h7ep70M62wHDrVutE7SlKk8BY2WfZn04R5ShntYPYumUVY3_j05o_aBt3-Vr5A738X?usp=drive_link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52B2B4-7D54-E1A7-D622-B690985A47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5113"/>
            <a:ext cx="9144000" cy="2387600"/>
          </a:xfrm>
        </p:spPr>
        <p:txBody>
          <a:bodyPr/>
          <a:lstStyle/>
          <a:p>
            <a:r>
              <a:rPr lang="es-CO" dirty="0"/>
              <a:t>Sistemas Inteligentes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941AA50-E9DA-640C-0148-E83C138695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44788"/>
            <a:ext cx="9144000" cy="1655762"/>
          </a:xfrm>
        </p:spPr>
        <p:txBody>
          <a:bodyPr>
            <a:normAutofit fontScale="25000" lnSpcReduction="20000"/>
          </a:bodyPr>
          <a:lstStyle/>
          <a:p>
            <a:r>
              <a:rPr lang="es-MX" sz="14400" b="1" dirty="0"/>
              <a:t>Generative &amp; </a:t>
            </a:r>
            <a:r>
              <a:rPr lang="es-MX" sz="14400" b="1" dirty="0" err="1"/>
              <a:t>Agentic</a:t>
            </a:r>
            <a:r>
              <a:rPr lang="es-MX" sz="14400" b="1" dirty="0"/>
              <a:t> AI</a:t>
            </a:r>
          </a:p>
          <a:p>
            <a:endParaRPr lang="es-MX" sz="4400" b="1" dirty="0"/>
          </a:p>
          <a:p>
            <a:r>
              <a:rPr lang="es-MX" sz="11200" dirty="0"/>
              <a:t>John R Ballesteros</a:t>
            </a:r>
          </a:p>
          <a:p>
            <a:r>
              <a:rPr lang="es-MX" sz="11200" dirty="0"/>
              <a:t>Profesor Titular UN</a:t>
            </a:r>
          </a:p>
          <a:p>
            <a:r>
              <a:rPr lang="es-MX" sz="11200" dirty="0"/>
              <a:t>jballes@unal.edu.co</a:t>
            </a:r>
          </a:p>
          <a:p>
            <a:endParaRPr lang="es-MX" sz="4400" dirty="0"/>
          </a:p>
        </p:txBody>
      </p:sp>
    </p:spTree>
    <p:extLst>
      <p:ext uri="{BB962C8B-B14F-4D97-AF65-F5344CB8AC3E}">
        <p14:creationId xmlns:p14="http://schemas.microsoft.com/office/powerpoint/2010/main" val="1274633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9BA149-8DC8-5889-74D1-B2B803700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Course</a:t>
            </a:r>
            <a:r>
              <a:rPr lang="es-MX" dirty="0"/>
              <a:t> </a:t>
            </a:r>
            <a:r>
              <a:rPr lang="es-MX" dirty="0" err="1"/>
              <a:t>Description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B62076-8B92-A3F0-FA30-0803BFCD4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This course is designed for people seeking to deepen their understanding of generative AI, with a focus on multi-modal large language models (LLMs).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44165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36DB84-98C1-A778-0A03-B1766AE78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Contents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62C1CF-17BD-B9E5-7758-137825A56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Origin and evolution of Generative AI, Generative and non-generative models, explicit and implicit models.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Key concepts such as latent space, word and sentence embeddings, vector databases, Retrieval-Augmented Generation (RAG), and LLMs.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Prompt and Context Engineering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Fine-tuning, pruning, and applications of multi-modal LLMs in text related problems and image classification, detection, and segmentation.</a:t>
            </a:r>
          </a:p>
        </p:txBody>
      </p:sp>
    </p:spTree>
    <p:extLst>
      <p:ext uri="{BB962C8B-B14F-4D97-AF65-F5344CB8AC3E}">
        <p14:creationId xmlns:p14="http://schemas.microsoft.com/office/powerpoint/2010/main" val="3803334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A49F32-B54B-4557-E21D-23AF88441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Methodology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2DADB2-9E38-C30F-BD5E-1DD15FC05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/>
              <a:t>Lectures</a:t>
            </a:r>
          </a:p>
          <a:p>
            <a:pPr>
              <a:buFontTx/>
              <a:buChar char="-"/>
            </a:pPr>
            <a:r>
              <a:rPr lang="en-US" dirty="0"/>
              <a:t>Exercises (2 to 3 people)</a:t>
            </a:r>
          </a:p>
          <a:p>
            <a:pPr>
              <a:buFontTx/>
              <a:buChar char="-"/>
            </a:pPr>
            <a:r>
              <a:rPr lang="en-US" dirty="0"/>
              <a:t>Quizzes and Readings</a:t>
            </a:r>
          </a:p>
          <a:p>
            <a:pPr>
              <a:buFontTx/>
              <a:buChar char="-"/>
            </a:pPr>
            <a:r>
              <a:rPr lang="en-US" dirty="0"/>
              <a:t>Projects (2 to 3 people) </a:t>
            </a:r>
            <a:r>
              <a:rPr lang="en-US" dirty="0">
                <a:sym typeface="Wingdings" panose="05000000000000000000" pitchFamily="2" charset="2"/>
              </a:rPr>
              <a:t> portfolio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Participants will gain theoretical knowledge and practical skills to build and “deploy” GenAI applications.</a:t>
            </a:r>
            <a:endParaRPr lang="es-MX" dirty="0"/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94382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105826-33D9-431C-2540-F52FF96B7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Prerequisites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21F185-F081-26BE-6BFD-A9A58E8E3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Basic knowledge of programming (Python)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Familiarity with basic machine learning concepts (e.g., supervised and unsupervised learning, </a:t>
            </a:r>
            <a:r>
              <a:rPr lang="en-US"/>
              <a:t>loss functions and metrics)</a:t>
            </a: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Comfort with mathematical concepts like vector addition and basic probability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37954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A98182-3AAA-C659-3DFA-EDB6302E7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850" y="69850"/>
            <a:ext cx="10515600" cy="1325563"/>
          </a:xfrm>
        </p:spPr>
        <p:txBody>
          <a:bodyPr/>
          <a:lstStyle/>
          <a:p>
            <a:r>
              <a:rPr lang="es-MX" dirty="0" err="1"/>
              <a:t>Course</a:t>
            </a:r>
            <a:r>
              <a:rPr lang="es-MX" dirty="0"/>
              <a:t> </a:t>
            </a:r>
            <a:r>
              <a:rPr lang="es-MX" dirty="0" err="1"/>
              <a:t>Structure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04DF8F-F8DE-7ECF-CC16-64CAEE744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450" y="1500188"/>
            <a:ext cx="11239500" cy="5067299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s-MX" b="1" dirty="0"/>
              <a:t>Module 1: </a:t>
            </a:r>
            <a:r>
              <a:rPr lang="es-MX" dirty="0" err="1"/>
              <a:t>Introduction</a:t>
            </a:r>
            <a:r>
              <a:rPr lang="es-MX" dirty="0"/>
              <a:t> </a:t>
            </a:r>
            <a:r>
              <a:rPr lang="es-MX" dirty="0" err="1"/>
              <a:t>to</a:t>
            </a:r>
            <a:r>
              <a:rPr lang="es-MX" dirty="0"/>
              <a:t> Generative AI</a:t>
            </a:r>
          </a:p>
          <a:p>
            <a:pPr marL="0" indent="0" algn="just">
              <a:buNone/>
            </a:pPr>
            <a:endParaRPr lang="en-US" dirty="0"/>
          </a:p>
          <a:p>
            <a:pPr algn="just">
              <a:buFontTx/>
              <a:buChar char="-"/>
            </a:pPr>
            <a:r>
              <a:rPr lang="en-US" dirty="0"/>
              <a:t>Lecture 1: Introduction. Course Structure and Basics –</a:t>
            </a:r>
          </a:p>
          <a:p>
            <a:pPr algn="just">
              <a:buFontTx/>
              <a:buChar char="-"/>
            </a:pPr>
            <a:r>
              <a:rPr lang="en-US" dirty="0"/>
              <a:t>Lecture 2: Brief history of AI and the rise of generative AI.  Generative vs. non-generative AI, examples and use cases</a:t>
            </a:r>
          </a:p>
          <a:p>
            <a:pPr algn="just">
              <a:buFontTx/>
              <a:buChar char="-"/>
            </a:pPr>
            <a:r>
              <a:rPr lang="en-US" dirty="0"/>
              <a:t>Lecture 3: Latent Variable, Latent Space, Explicit and Implicit Generative Models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Exercise 1: Identify examples of generative and non-generative AI in real-world application</a:t>
            </a:r>
          </a:p>
          <a:p>
            <a:pPr marL="0" indent="0" algn="just">
              <a:buNone/>
            </a:pPr>
            <a:r>
              <a:rPr lang="en-US" dirty="0"/>
              <a:t>Exercise 2,3: Visualize latent space for a simple generative model (e.g., VAE), Stable </a:t>
            </a:r>
            <a:r>
              <a:rPr lang="en-US" dirty="0" err="1"/>
              <a:t>Diffussion</a:t>
            </a: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Quiz 1: Multiple-choice questions on the history and differences between generative and non-generative AI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Reading 1:– “A Brief History of Generative AI” (DATAVERSITY)– “Generative vs. Non-Generative </a:t>
            </a:r>
          </a:p>
          <a:p>
            <a:pPr marL="0" indent="0" algn="just">
              <a:buNone/>
            </a:pPr>
            <a:r>
              <a:rPr lang="en-US" dirty="0"/>
              <a:t>AI: </a:t>
            </a:r>
            <a:r>
              <a:rPr lang="en-US" dirty="0" err="1"/>
              <a:t>TheStrengthsofBothApproaches</a:t>
            </a:r>
            <a:r>
              <a:rPr lang="en-US" dirty="0"/>
              <a:t>” (</a:t>
            </a:r>
            <a:r>
              <a:rPr lang="en-US" dirty="0" err="1"/>
              <a:t>Dataforest</a:t>
            </a:r>
            <a:r>
              <a:rPr lang="en-US" dirty="0"/>
              <a:t>)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09378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3BA5AC-0D0D-85F5-C59C-CB315FCD5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4074"/>
            <a:ext cx="10515600" cy="5699125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b="1" dirty="0"/>
              <a:t>Module 2: </a:t>
            </a:r>
            <a:r>
              <a:rPr lang="en-US" dirty="0"/>
              <a:t>Foundations of the Generative AI-Transformers and LLMs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- Lecture 4: Word and sentence embeddings–LLMs</a:t>
            </a:r>
          </a:p>
          <a:p>
            <a:pPr marL="0" indent="0" algn="just">
              <a:buNone/>
            </a:pPr>
            <a:endParaRPr lang="en-US" dirty="0"/>
          </a:p>
          <a:p>
            <a:pPr algn="just">
              <a:buFontTx/>
              <a:buChar char="-"/>
            </a:pPr>
            <a:r>
              <a:rPr lang="en-US" dirty="0"/>
              <a:t>Lecture 5: Deep dive into transformer architecture and attention mechanisms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Exercise 4: Implement word embeddings using the </a:t>
            </a:r>
            <a:r>
              <a:rPr lang="en-US" dirty="0" err="1"/>
              <a:t>Gensim</a:t>
            </a:r>
            <a:r>
              <a:rPr lang="en-US" dirty="0"/>
              <a:t> library.</a:t>
            </a:r>
          </a:p>
          <a:p>
            <a:pPr marL="0" indent="0" algn="just">
              <a:buNone/>
            </a:pPr>
            <a:endParaRPr lang="es-MX" dirty="0"/>
          </a:p>
          <a:p>
            <a:pPr marL="0" indent="0" algn="just">
              <a:buNone/>
            </a:pPr>
            <a:r>
              <a:rPr lang="es-MX" dirty="0"/>
              <a:t>Quiz 2: </a:t>
            </a:r>
            <a:r>
              <a:rPr lang="es-MX" dirty="0" err="1"/>
              <a:t>Questions</a:t>
            </a:r>
            <a:r>
              <a:rPr lang="es-MX" dirty="0"/>
              <a:t> </a:t>
            </a:r>
            <a:r>
              <a:rPr lang="es-MX" dirty="0" err="1"/>
              <a:t>on</a:t>
            </a:r>
            <a:r>
              <a:rPr lang="es-MX" dirty="0"/>
              <a:t> </a:t>
            </a:r>
            <a:r>
              <a:rPr lang="es-MX" dirty="0" err="1"/>
              <a:t>latent</a:t>
            </a:r>
            <a:r>
              <a:rPr lang="es-MX" dirty="0"/>
              <a:t> </a:t>
            </a:r>
            <a:r>
              <a:rPr lang="es-MX" dirty="0" err="1"/>
              <a:t>space</a:t>
            </a:r>
            <a:r>
              <a:rPr lang="es-MX" dirty="0"/>
              <a:t>, </a:t>
            </a:r>
            <a:r>
              <a:rPr lang="es-MX" dirty="0" err="1"/>
              <a:t>embeddings</a:t>
            </a:r>
            <a:r>
              <a:rPr lang="es-MX" dirty="0"/>
              <a:t>, and </a:t>
            </a:r>
            <a:r>
              <a:rPr lang="es-MX" dirty="0" err="1"/>
              <a:t>transformer</a:t>
            </a:r>
            <a:r>
              <a:rPr lang="es-MX" dirty="0"/>
              <a:t> ar </a:t>
            </a:r>
            <a:r>
              <a:rPr lang="es-MX" dirty="0" err="1"/>
              <a:t>chitecture</a:t>
            </a:r>
            <a:endParaRPr lang="es-MX" dirty="0"/>
          </a:p>
          <a:p>
            <a:pPr marL="0" indent="0" algn="just">
              <a:buNone/>
            </a:pPr>
            <a:endParaRPr lang="es-MX" dirty="0"/>
          </a:p>
          <a:p>
            <a:pPr marL="0" indent="0" algn="just">
              <a:buNone/>
            </a:pPr>
            <a:r>
              <a:rPr lang="en-US" dirty="0"/>
              <a:t>Readings 2:– “GenAI Course” (tokenization, embeddings, transformers)– “Generative AI Models Explained” (</a:t>
            </a:r>
            <a:r>
              <a:rPr lang="en-US" dirty="0" err="1"/>
              <a:t>AltexSoft</a:t>
            </a:r>
            <a:r>
              <a:rPr lang="en-US" dirty="0"/>
              <a:t>)</a:t>
            </a:r>
            <a:endParaRPr lang="es-MX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63355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EED9750E-0CA4-9AEB-A072-2C9A8430E4AD}"/>
              </a:ext>
            </a:extLst>
          </p:cNvPr>
          <p:cNvSpPr txBox="1">
            <a:spLocks/>
          </p:cNvSpPr>
          <p:nvPr/>
        </p:nvSpPr>
        <p:spPr>
          <a:xfrm>
            <a:off x="561975" y="1219200"/>
            <a:ext cx="11239500" cy="506729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MX" b="1" dirty="0"/>
              <a:t>Module 3: </a:t>
            </a:r>
            <a:r>
              <a:rPr lang="es-MX" dirty="0" err="1"/>
              <a:t>Prompt</a:t>
            </a:r>
            <a:r>
              <a:rPr lang="es-MX" dirty="0"/>
              <a:t> and </a:t>
            </a:r>
            <a:r>
              <a:rPr lang="es-MX" dirty="0" err="1"/>
              <a:t>Context</a:t>
            </a:r>
            <a:r>
              <a:rPr lang="es-MX" dirty="0"/>
              <a:t> </a:t>
            </a:r>
            <a:r>
              <a:rPr lang="es-MX" dirty="0" err="1"/>
              <a:t>Engineering</a:t>
            </a:r>
            <a:endParaRPr lang="es-MX" dirty="0"/>
          </a:p>
          <a:p>
            <a:pPr marL="0" indent="0" algn="just">
              <a:buFont typeface="Arial" panose="020B0604020202020204" pitchFamily="34" charset="0"/>
              <a:buNone/>
            </a:pPr>
            <a:endParaRPr lang="en-US" dirty="0"/>
          </a:p>
          <a:p>
            <a:pPr algn="just">
              <a:buFontTx/>
              <a:buChar char="-"/>
            </a:pPr>
            <a:r>
              <a:rPr lang="en-US" dirty="0"/>
              <a:t>Lecture 5: Prompt Engineering, definition, types, </a:t>
            </a:r>
            <a:r>
              <a:rPr lang="en-US" dirty="0" err="1"/>
              <a:t>Metaprompt</a:t>
            </a:r>
            <a:r>
              <a:rPr lang="en-US" dirty="0"/>
              <a:t>, examples and use cases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US" dirty="0"/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dirty="0"/>
              <a:t>Exercise 5: Extract information from a document, use prompts to do data analysis, Grok3, ChatGPT, Claude 4, Gemini 2.5.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US" dirty="0"/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dirty="0"/>
              <a:t>Quiz 3: Basics of Prompt Engineering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US" dirty="0"/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dirty="0"/>
              <a:t>Readings 3:– “prompt engineering”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54788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4C7413-C2F5-03A7-2FE9-37C918345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1550" y="644525"/>
            <a:ext cx="10515600" cy="59944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Module 4: </a:t>
            </a:r>
            <a:r>
              <a:rPr lang="en-US" dirty="0"/>
              <a:t>Topics in GenAI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– Lecture 6: Vector databases</a:t>
            </a:r>
          </a:p>
          <a:p>
            <a:pPr marL="0" indent="0">
              <a:buNone/>
            </a:pPr>
            <a:r>
              <a:rPr lang="en-US" dirty="0"/>
              <a:t>– Lecture 7: RAG</a:t>
            </a:r>
          </a:p>
          <a:p>
            <a:pPr marL="0" indent="0">
              <a:buNone/>
            </a:pPr>
            <a:r>
              <a:rPr lang="en-US" dirty="0"/>
              <a:t>– Lecture 8: Fine-tuning LLMs</a:t>
            </a:r>
          </a:p>
          <a:p>
            <a:pPr marL="0" indent="0">
              <a:buNone/>
            </a:pPr>
            <a:r>
              <a:rPr lang="en-US" dirty="0"/>
              <a:t>– Lecture 9: Pruning and Quantization methods for efficient LLMs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 err="1"/>
              <a:t>Exercise</a:t>
            </a:r>
            <a:r>
              <a:rPr lang="es-MX" dirty="0"/>
              <a:t> 4: Set up a vector </a:t>
            </a:r>
            <a:r>
              <a:rPr lang="es-MX" dirty="0" err="1"/>
              <a:t>database</a:t>
            </a:r>
            <a:r>
              <a:rPr lang="es-MX" dirty="0"/>
              <a:t> (</a:t>
            </a:r>
            <a:r>
              <a:rPr lang="es-MX" dirty="0" err="1"/>
              <a:t>e.g</a:t>
            </a:r>
            <a:r>
              <a:rPr lang="es-MX" dirty="0"/>
              <a:t>., </a:t>
            </a:r>
            <a:r>
              <a:rPr lang="es-MX" dirty="0" err="1"/>
              <a:t>ChromaDB</a:t>
            </a:r>
            <a:r>
              <a:rPr lang="es-MX" dirty="0"/>
              <a:t>) and </a:t>
            </a:r>
            <a:r>
              <a:rPr lang="es-MX" dirty="0" err="1"/>
              <a:t>perform</a:t>
            </a:r>
            <a:r>
              <a:rPr lang="es-MX" dirty="0"/>
              <a:t> </a:t>
            </a:r>
            <a:r>
              <a:rPr lang="es-MX" dirty="0" err="1"/>
              <a:t>similarity</a:t>
            </a:r>
            <a:r>
              <a:rPr lang="es-MX" dirty="0"/>
              <a:t> </a:t>
            </a:r>
            <a:r>
              <a:rPr lang="es-MX" dirty="0" err="1"/>
              <a:t>searches</a:t>
            </a:r>
            <a:endParaRPr lang="es-MX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 err="1"/>
              <a:t>Exercise</a:t>
            </a:r>
            <a:r>
              <a:rPr lang="es-MX" dirty="0"/>
              <a:t> 5: </a:t>
            </a:r>
            <a:r>
              <a:rPr lang="es-MX" dirty="0" err="1"/>
              <a:t>Build</a:t>
            </a:r>
            <a:r>
              <a:rPr lang="es-MX" dirty="0"/>
              <a:t> a simple RAG </a:t>
            </a:r>
            <a:r>
              <a:rPr lang="es-MX" dirty="0" err="1"/>
              <a:t>system</a:t>
            </a:r>
            <a:r>
              <a:rPr lang="es-MX" dirty="0"/>
              <a:t> </a:t>
            </a:r>
            <a:r>
              <a:rPr lang="es-MX" dirty="0" err="1"/>
              <a:t>using</a:t>
            </a:r>
            <a:r>
              <a:rPr lang="es-MX" dirty="0"/>
              <a:t> a </a:t>
            </a:r>
            <a:r>
              <a:rPr lang="es-MX" dirty="0" err="1"/>
              <a:t>pre-trained</a:t>
            </a:r>
            <a:r>
              <a:rPr lang="es-MX" dirty="0"/>
              <a:t> LLM and a vector </a:t>
            </a:r>
            <a:r>
              <a:rPr lang="es-MX" dirty="0" err="1"/>
              <a:t>database</a:t>
            </a:r>
            <a:endParaRPr lang="es-MX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 err="1"/>
              <a:t>Exercise</a:t>
            </a:r>
            <a:r>
              <a:rPr lang="es-MX" dirty="0"/>
              <a:t> 6: Fine-tune a </a:t>
            </a:r>
            <a:r>
              <a:rPr lang="es-MX" dirty="0" err="1"/>
              <a:t>small</a:t>
            </a:r>
            <a:r>
              <a:rPr lang="es-MX" dirty="0"/>
              <a:t> LLM </a:t>
            </a:r>
            <a:r>
              <a:rPr lang="es-MX" dirty="0" err="1"/>
              <a:t>on</a:t>
            </a:r>
            <a:r>
              <a:rPr lang="es-MX" dirty="0"/>
              <a:t> a </a:t>
            </a:r>
            <a:r>
              <a:rPr lang="es-MX" dirty="0" err="1"/>
              <a:t>custom</a:t>
            </a:r>
            <a:r>
              <a:rPr lang="es-MX" dirty="0"/>
              <a:t> </a:t>
            </a:r>
            <a:r>
              <a:rPr lang="es-MX" dirty="0" err="1"/>
              <a:t>dataset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95735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2E1022-9DAA-9BDE-E8E5-E1ED60005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275" y="482600"/>
            <a:ext cx="10839450" cy="6051550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Quiz 4: Questions on vector databases, RAG, fine-tuning, and pruning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s-MX" dirty="0" err="1"/>
              <a:t>Readings</a:t>
            </a:r>
            <a:r>
              <a:rPr lang="es-MX" dirty="0"/>
              <a:t> 4: Week2 and 5 </a:t>
            </a:r>
            <a:r>
              <a:rPr lang="es-MX" dirty="0" err="1"/>
              <a:t>materials</a:t>
            </a:r>
            <a:r>
              <a:rPr lang="es-MX" dirty="0"/>
              <a:t> </a:t>
            </a:r>
            <a:r>
              <a:rPr lang="es-MX" dirty="0" err="1"/>
              <a:t>from</a:t>
            </a:r>
            <a:r>
              <a:rPr lang="es-MX" dirty="0"/>
              <a:t> </a:t>
            </a:r>
            <a:r>
              <a:rPr lang="es-MX" dirty="0" err="1"/>
              <a:t>the</a:t>
            </a:r>
            <a:r>
              <a:rPr lang="es-MX" dirty="0"/>
              <a:t> “GenAICourse”(</a:t>
            </a:r>
            <a:r>
              <a:rPr lang="es-MX" dirty="0" err="1"/>
              <a:t>RAG,vectordatabases</a:t>
            </a:r>
            <a:r>
              <a:rPr lang="es-MX" dirty="0"/>
              <a:t>, fine-</a:t>
            </a:r>
            <a:r>
              <a:rPr lang="es-MX" dirty="0" err="1"/>
              <a:t>tuning</a:t>
            </a:r>
            <a:r>
              <a:rPr lang="es-MX" dirty="0"/>
              <a:t>)–</a:t>
            </a:r>
          </a:p>
          <a:p>
            <a:pPr marL="0" indent="0" algn="just">
              <a:buNone/>
            </a:pPr>
            <a:r>
              <a:rPr lang="es-MX" dirty="0"/>
              <a:t> </a:t>
            </a:r>
          </a:p>
          <a:p>
            <a:pPr marL="0" indent="0" algn="just">
              <a:buNone/>
            </a:pPr>
            <a:r>
              <a:rPr lang="es-MX" dirty="0"/>
              <a:t>“A Simple and </a:t>
            </a:r>
            <a:r>
              <a:rPr lang="es-MX" dirty="0" err="1"/>
              <a:t>Effective</a:t>
            </a:r>
            <a:r>
              <a:rPr lang="es-MX" dirty="0"/>
              <a:t> </a:t>
            </a:r>
            <a:r>
              <a:rPr lang="es-MX" dirty="0" err="1"/>
              <a:t>Pruning</a:t>
            </a:r>
            <a:r>
              <a:rPr lang="es-MX" dirty="0"/>
              <a:t> </a:t>
            </a:r>
            <a:r>
              <a:rPr lang="es-MX" dirty="0" err="1"/>
              <a:t>Approach</a:t>
            </a:r>
            <a:r>
              <a:rPr lang="es-MX" dirty="0"/>
              <a:t> </a:t>
            </a:r>
            <a:r>
              <a:rPr lang="es-MX" dirty="0" err="1"/>
              <a:t>for</a:t>
            </a:r>
            <a:r>
              <a:rPr lang="es-MX" dirty="0"/>
              <a:t> </a:t>
            </a:r>
            <a:r>
              <a:rPr lang="es-MX" dirty="0" err="1"/>
              <a:t>Large</a:t>
            </a:r>
            <a:r>
              <a:rPr lang="es-MX" dirty="0"/>
              <a:t> </a:t>
            </a:r>
            <a:r>
              <a:rPr lang="es-MX" dirty="0" err="1"/>
              <a:t>Language</a:t>
            </a:r>
            <a:r>
              <a:rPr lang="es-MX" dirty="0"/>
              <a:t> </a:t>
            </a:r>
            <a:r>
              <a:rPr lang="es-MX" dirty="0" err="1"/>
              <a:t>Models</a:t>
            </a:r>
            <a:r>
              <a:rPr lang="es-MX" dirty="0"/>
              <a:t>” (Wanda </a:t>
            </a:r>
            <a:r>
              <a:rPr lang="es-MX" dirty="0" err="1"/>
              <a:t>pruning</a:t>
            </a:r>
            <a:r>
              <a:rPr lang="es-MX" dirty="0"/>
              <a:t> </a:t>
            </a:r>
            <a:r>
              <a:rPr lang="es-MX" dirty="0" err="1"/>
              <a:t>method</a:t>
            </a:r>
            <a:r>
              <a:rPr lang="es-MX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00144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DE6D44-BED2-DD77-D3B0-3D6556FA7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875" y="533400"/>
            <a:ext cx="11144250" cy="5949950"/>
          </a:xfrm>
        </p:spPr>
        <p:txBody>
          <a:bodyPr>
            <a:normAutofit fontScale="92500"/>
          </a:bodyPr>
          <a:lstStyle/>
          <a:p>
            <a:pPr algn="just"/>
            <a:r>
              <a:rPr lang="es-MX" b="1" dirty="0"/>
              <a:t>Module 4: </a:t>
            </a:r>
            <a:r>
              <a:rPr lang="es-MX" dirty="0" err="1"/>
              <a:t>Multi-modal</a:t>
            </a:r>
            <a:r>
              <a:rPr lang="es-MX" dirty="0"/>
              <a:t> </a:t>
            </a:r>
            <a:r>
              <a:rPr lang="es-MX" dirty="0" err="1"/>
              <a:t>LLMs</a:t>
            </a:r>
            <a:endParaRPr lang="es-MX" dirty="0"/>
          </a:p>
          <a:p>
            <a:pPr marL="0" indent="0" algn="just">
              <a:buNone/>
            </a:pPr>
            <a:endParaRPr lang="es-MX" dirty="0"/>
          </a:p>
          <a:p>
            <a:pPr marL="0" indent="0" algn="just">
              <a:buNone/>
            </a:pPr>
            <a:r>
              <a:rPr lang="en-US" dirty="0"/>
              <a:t>– Lecture 10: Multi-modal LLMs and their architecture</a:t>
            </a:r>
          </a:p>
          <a:p>
            <a:pPr marL="0" indent="0" algn="just">
              <a:buNone/>
            </a:pPr>
            <a:r>
              <a:rPr lang="en-US" dirty="0"/>
              <a:t>– Lecture 11: Multi-modal LLMs for classification, detection and segmentation tasks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s-MX" dirty="0" err="1"/>
              <a:t>Exercise</a:t>
            </a:r>
            <a:r>
              <a:rPr lang="es-MX" dirty="0"/>
              <a:t> 7: Use a </a:t>
            </a:r>
            <a:r>
              <a:rPr lang="es-MX" dirty="0" err="1"/>
              <a:t>multi-modal</a:t>
            </a:r>
            <a:r>
              <a:rPr lang="es-MX" dirty="0"/>
              <a:t> LLM </a:t>
            </a:r>
            <a:r>
              <a:rPr lang="es-MX" dirty="0" err="1"/>
              <a:t>to</a:t>
            </a:r>
            <a:r>
              <a:rPr lang="es-MX" dirty="0"/>
              <a:t> </a:t>
            </a:r>
            <a:r>
              <a:rPr lang="es-MX" dirty="0" err="1"/>
              <a:t>classify</a:t>
            </a:r>
            <a:r>
              <a:rPr lang="es-MX" dirty="0"/>
              <a:t> </a:t>
            </a:r>
            <a:r>
              <a:rPr lang="es-MX" dirty="0" err="1"/>
              <a:t>images</a:t>
            </a:r>
            <a:r>
              <a:rPr lang="es-MX" dirty="0"/>
              <a:t> </a:t>
            </a:r>
            <a:r>
              <a:rPr lang="es-MX" dirty="0" err="1"/>
              <a:t>with</a:t>
            </a:r>
            <a:r>
              <a:rPr lang="es-MX" dirty="0"/>
              <a:t> </a:t>
            </a:r>
            <a:r>
              <a:rPr lang="es-MX" dirty="0" err="1"/>
              <a:t>text</a:t>
            </a:r>
            <a:r>
              <a:rPr lang="es-MX" dirty="0"/>
              <a:t> </a:t>
            </a:r>
            <a:r>
              <a:rPr lang="es-MX" dirty="0" err="1"/>
              <a:t>descriptions</a:t>
            </a:r>
            <a:endParaRPr lang="es-MX" dirty="0"/>
          </a:p>
          <a:p>
            <a:pPr marL="0" indent="0" algn="just">
              <a:buNone/>
            </a:pPr>
            <a:endParaRPr lang="es-MX" dirty="0"/>
          </a:p>
          <a:p>
            <a:pPr marL="0" indent="0" algn="just">
              <a:buNone/>
            </a:pPr>
            <a:r>
              <a:rPr lang="es-MX" dirty="0" err="1"/>
              <a:t>Exercise</a:t>
            </a:r>
            <a:r>
              <a:rPr lang="es-MX" dirty="0"/>
              <a:t> 8: </a:t>
            </a:r>
            <a:r>
              <a:rPr lang="es-MX" dirty="0" err="1"/>
              <a:t>Implement</a:t>
            </a:r>
            <a:r>
              <a:rPr lang="es-MX" dirty="0"/>
              <a:t> a </a:t>
            </a:r>
            <a:r>
              <a:rPr lang="es-MX" dirty="0" err="1"/>
              <a:t>detection</a:t>
            </a:r>
            <a:r>
              <a:rPr lang="es-MX" dirty="0"/>
              <a:t> </a:t>
            </a:r>
            <a:r>
              <a:rPr lang="es-MX" dirty="0" err="1"/>
              <a:t>task</a:t>
            </a:r>
            <a:r>
              <a:rPr lang="es-MX" dirty="0"/>
              <a:t> </a:t>
            </a:r>
            <a:r>
              <a:rPr lang="es-MX" dirty="0" err="1"/>
              <a:t>using</a:t>
            </a:r>
            <a:r>
              <a:rPr lang="es-MX" dirty="0"/>
              <a:t> a </a:t>
            </a:r>
            <a:r>
              <a:rPr lang="es-MX" dirty="0" err="1"/>
              <a:t>multi-modal</a:t>
            </a:r>
            <a:r>
              <a:rPr lang="es-MX" dirty="0"/>
              <a:t> </a:t>
            </a:r>
            <a:r>
              <a:rPr lang="es-MX" dirty="0" err="1"/>
              <a:t>model</a:t>
            </a:r>
            <a:r>
              <a:rPr lang="es-MX" dirty="0"/>
              <a:t> (</a:t>
            </a:r>
            <a:r>
              <a:rPr lang="es-MX" dirty="0" err="1"/>
              <a:t>e.g</a:t>
            </a:r>
            <a:r>
              <a:rPr lang="es-MX" dirty="0"/>
              <a:t>., </a:t>
            </a:r>
            <a:r>
              <a:rPr lang="es-MX" dirty="0" err="1"/>
              <a:t>object</a:t>
            </a:r>
            <a:r>
              <a:rPr lang="es-MX" dirty="0"/>
              <a:t> </a:t>
            </a:r>
            <a:r>
              <a:rPr lang="es-MX" dirty="0" err="1"/>
              <a:t>detection</a:t>
            </a:r>
            <a:r>
              <a:rPr lang="es-MX" dirty="0"/>
              <a:t> </a:t>
            </a:r>
            <a:r>
              <a:rPr lang="es-MX" dirty="0" err="1"/>
              <a:t>with</a:t>
            </a:r>
            <a:r>
              <a:rPr lang="es-MX" dirty="0"/>
              <a:t> </a:t>
            </a:r>
            <a:r>
              <a:rPr lang="es-MX" dirty="0" err="1"/>
              <a:t>text</a:t>
            </a:r>
            <a:r>
              <a:rPr lang="es-MX" dirty="0"/>
              <a:t> </a:t>
            </a:r>
            <a:r>
              <a:rPr lang="es-MX" dirty="0" err="1"/>
              <a:t>prompts</a:t>
            </a:r>
            <a:r>
              <a:rPr lang="es-MX" dirty="0"/>
              <a:t>)</a:t>
            </a:r>
          </a:p>
          <a:p>
            <a:pPr marL="0" indent="0" algn="just">
              <a:buNone/>
            </a:pPr>
            <a:endParaRPr lang="es-MX" dirty="0"/>
          </a:p>
          <a:p>
            <a:pPr marL="0" indent="0" algn="just">
              <a:buNone/>
            </a:pPr>
            <a:r>
              <a:rPr lang="es-MX" dirty="0" err="1"/>
              <a:t>Exercise</a:t>
            </a:r>
            <a:r>
              <a:rPr lang="es-MX" dirty="0"/>
              <a:t> 9: </a:t>
            </a:r>
            <a:r>
              <a:rPr lang="es-MX" dirty="0" err="1"/>
              <a:t>Doing</a:t>
            </a:r>
            <a:r>
              <a:rPr lang="es-MX" dirty="0"/>
              <a:t> </a:t>
            </a:r>
            <a:r>
              <a:rPr lang="es-MX" dirty="0" err="1"/>
              <a:t>semantic</a:t>
            </a:r>
            <a:r>
              <a:rPr lang="es-MX" dirty="0"/>
              <a:t> </a:t>
            </a:r>
            <a:r>
              <a:rPr lang="es-MX" dirty="0" err="1"/>
              <a:t>segmentation</a:t>
            </a:r>
            <a:r>
              <a:rPr lang="es-MX" dirty="0"/>
              <a:t> </a:t>
            </a:r>
            <a:r>
              <a:rPr lang="es-MX" dirty="0" err="1"/>
              <a:t>with</a:t>
            </a:r>
            <a:r>
              <a:rPr lang="es-MX" dirty="0"/>
              <a:t> a </a:t>
            </a:r>
            <a:r>
              <a:rPr lang="es-MX" dirty="0" err="1"/>
              <a:t>multi-modal</a:t>
            </a:r>
            <a:r>
              <a:rPr lang="es-MX" dirty="0"/>
              <a:t> </a:t>
            </a:r>
            <a:r>
              <a:rPr lang="es-MX" dirty="0" err="1"/>
              <a:t>model</a:t>
            </a:r>
            <a:r>
              <a:rPr lang="es-MX" dirty="0"/>
              <a:t> (</a:t>
            </a:r>
            <a:r>
              <a:rPr lang="es-MX" dirty="0" err="1"/>
              <a:t>e.g</a:t>
            </a:r>
            <a:r>
              <a:rPr lang="es-MX" dirty="0"/>
              <a:t>., </a:t>
            </a:r>
            <a:r>
              <a:rPr lang="es-MX" dirty="0" err="1"/>
              <a:t>object</a:t>
            </a:r>
            <a:r>
              <a:rPr lang="es-MX" dirty="0"/>
              <a:t> </a:t>
            </a:r>
            <a:r>
              <a:rPr lang="es-MX" dirty="0" err="1"/>
              <a:t>segmentation</a:t>
            </a:r>
            <a:r>
              <a:rPr lang="es-MX" dirty="0"/>
              <a:t> </a:t>
            </a:r>
            <a:r>
              <a:rPr lang="es-MX" dirty="0" err="1"/>
              <a:t>with</a:t>
            </a:r>
            <a:r>
              <a:rPr lang="es-MX" dirty="0"/>
              <a:t> </a:t>
            </a:r>
            <a:r>
              <a:rPr lang="es-MX" dirty="0" err="1"/>
              <a:t>text</a:t>
            </a:r>
            <a:r>
              <a:rPr lang="es-MX" dirty="0"/>
              <a:t> </a:t>
            </a:r>
            <a:r>
              <a:rPr lang="es-MX" dirty="0" err="1"/>
              <a:t>prompts</a:t>
            </a:r>
            <a:r>
              <a:rPr lang="es-MX" dirty="0"/>
              <a:t>)</a:t>
            </a:r>
          </a:p>
          <a:p>
            <a:pPr marL="0" indent="0" algn="just">
              <a:buNone/>
            </a:pPr>
            <a:endParaRPr lang="es-MX" dirty="0"/>
          </a:p>
          <a:p>
            <a:pPr marL="0" indent="0" algn="just">
              <a:buNone/>
            </a:pPr>
            <a:endParaRPr lang="es-MX" dirty="0"/>
          </a:p>
          <a:p>
            <a:pPr marL="0" indent="0" algn="just">
              <a:buNone/>
            </a:pPr>
            <a:endParaRPr lang="es-MX" dirty="0"/>
          </a:p>
          <a:p>
            <a:pPr marL="0" indent="0" algn="just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39434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D681AD-8AD0-7FB8-824B-B3CAABBE6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/>
              <a:t>Quiz 5: </a:t>
            </a:r>
            <a:r>
              <a:rPr lang="es-MX" dirty="0" err="1"/>
              <a:t>Questions</a:t>
            </a:r>
            <a:r>
              <a:rPr lang="es-MX" dirty="0"/>
              <a:t> </a:t>
            </a:r>
            <a:r>
              <a:rPr lang="es-MX" dirty="0" err="1"/>
              <a:t>on</a:t>
            </a:r>
            <a:r>
              <a:rPr lang="es-MX" dirty="0"/>
              <a:t> </a:t>
            </a:r>
            <a:r>
              <a:rPr lang="es-MX" dirty="0" err="1"/>
              <a:t>multi-modal</a:t>
            </a:r>
            <a:r>
              <a:rPr lang="es-MX" dirty="0"/>
              <a:t> </a:t>
            </a:r>
            <a:r>
              <a:rPr lang="es-MX" dirty="0" err="1"/>
              <a:t>LLMs</a:t>
            </a:r>
            <a:r>
              <a:rPr lang="es-MX" dirty="0"/>
              <a:t> and </a:t>
            </a:r>
            <a:r>
              <a:rPr lang="es-MX" dirty="0" err="1"/>
              <a:t>their</a:t>
            </a:r>
            <a:r>
              <a:rPr lang="es-MX" dirty="0"/>
              <a:t> </a:t>
            </a:r>
            <a:r>
              <a:rPr lang="es-MX" dirty="0" err="1"/>
              <a:t>applications</a:t>
            </a:r>
            <a:endParaRPr lang="es-MX" dirty="0"/>
          </a:p>
          <a:p>
            <a:pPr marL="0" indent="0" algn="just">
              <a:buNone/>
            </a:pPr>
            <a:endParaRPr lang="es-MX" dirty="0"/>
          </a:p>
          <a:p>
            <a:pPr marL="0" indent="0" algn="just">
              <a:buNone/>
            </a:pPr>
            <a:r>
              <a:rPr lang="es-MX" dirty="0" err="1"/>
              <a:t>Readings</a:t>
            </a:r>
            <a:r>
              <a:rPr lang="es-MX" dirty="0"/>
              <a:t> 5:– NVIDIA Multimodal Generative AI </a:t>
            </a:r>
            <a:r>
              <a:rPr lang="es-MX" dirty="0" err="1"/>
              <a:t>Certification</a:t>
            </a:r>
            <a:r>
              <a:rPr lang="es-MX" dirty="0"/>
              <a:t> </a:t>
            </a:r>
            <a:r>
              <a:rPr lang="es-MX" dirty="0" err="1"/>
              <a:t>resources</a:t>
            </a:r>
            <a:r>
              <a:rPr lang="es-MX" dirty="0"/>
              <a:t> (</a:t>
            </a:r>
            <a:r>
              <a:rPr lang="es-MX" dirty="0" err="1"/>
              <a:t>focus</a:t>
            </a:r>
            <a:r>
              <a:rPr lang="es-MX" dirty="0"/>
              <a:t> </a:t>
            </a:r>
            <a:r>
              <a:rPr lang="es-MX" dirty="0" err="1"/>
              <a:t>on</a:t>
            </a:r>
            <a:r>
              <a:rPr lang="es-MX" dirty="0"/>
              <a:t> </a:t>
            </a:r>
            <a:r>
              <a:rPr lang="es-MX" dirty="0" err="1"/>
              <a:t>multi-modal</a:t>
            </a:r>
            <a:r>
              <a:rPr lang="es-MX" dirty="0"/>
              <a:t> data and </a:t>
            </a:r>
            <a:r>
              <a:rPr lang="es-MX" dirty="0" err="1"/>
              <a:t>applications</a:t>
            </a:r>
            <a:r>
              <a:rPr lang="es-MX" dirty="0"/>
              <a:t>)– “</a:t>
            </a:r>
            <a:r>
              <a:rPr lang="es-MX" dirty="0" err="1"/>
              <a:t>Building</a:t>
            </a:r>
            <a:r>
              <a:rPr lang="es-MX" dirty="0"/>
              <a:t> AI </a:t>
            </a:r>
            <a:r>
              <a:rPr lang="es-MX" dirty="0" err="1"/>
              <a:t>Agents</a:t>
            </a:r>
            <a:r>
              <a:rPr lang="es-MX" dirty="0"/>
              <a:t> </a:t>
            </a:r>
            <a:r>
              <a:rPr lang="es-MX" dirty="0" err="1"/>
              <a:t>with</a:t>
            </a:r>
            <a:r>
              <a:rPr lang="es-MX" dirty="0"/>
              <a:t> Multimodal </a:t>
            </a:r>
            <a:r>
              <a:rPr lang="es-MX" dirty="0" err="1"/>
              <a:t>Models</a:t>
            </a:r>
            <a:r>
              <a:rPr lang="es-MX" dirty="0"/>
              <a:t>” (NVIDIA </a:t>
            </a:r>
            <a:r>
              <a:rPr lang="es-MX" dirty="0" err="1"/>
              <a:t>course</a:t>
            </a:r>
            <a:r>
              <a:rPr lang="es-MX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91019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617F07-50B0-DDA5-D693-684700F68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520825"/>
            <a:ext cx="10515600" cy="540385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s-MX" dirty="0"/>
              <a:t>– Project </a:t>
            </a:r>
            <a:r>
              <a:rPr lang="es-MX" dirty="0" err="1"/>
              <a:t>Type</a:t>
            </a:r>
            <a:r>
              <a:rPr lang="es-MX" dirty="0"/>
              <a:t> 1: </a:t>
            </a:r>
            <a:r>
              <a:rPr lang="es-MX" dirty="0" err="1"/>
              <a:t>Build</a:t>
            </a:r>
            <a:r>
              <a:rPr lang="es-MX" dirty="0"/>
              <a:t> a </a:t>
            </a:r>
            <a:r>
              <a:rPr lang="es-MX" dirty="0" err="1"/>
              <a:t>chatbot</a:t>
            </a:r>
            <a:r>
              <a:rPr lang="es-MX" dirty="0"/>
              <a:t> </a:t>
            </a:r>
            <a:r>
              <a:rPr lang="es-MX" dirty="0" err="1"/>
              <a:t>using</a:t>
            </a:r>
            <a:r>
              <a:rPr lang="es-MX" dirty="0"/>
              <a:t> a vector </a:t>
            </a:r>
            <a:r>
              <a:rPr lang="es-MX" dirty="0" err="1"/>
              <a:t>database</a:t>
            </a:r>
            <a:r>
              <a:rPr lang="es-MX" dirty="0"/>
              <a:t>, RAG-</a:t>
            </a:r>
            <a:r>
              <a:rPr lang="es-MX" dirty="0" err="1"/>
              <a:t>powered</a:t>
            </a:r>
            <a:r>
              <a:rPr lang="es-MX" dirty="0"/>
              <a:t> and a LLM.</a:t>
            </a:r>
          </a:p>
          <a:p>
            <a:pPr marL="0" indent="0" algn="just">
              <a:buNone/>
            </a:pPr>
            <a:endParaRPr lang="es-MX" dirty="0"/>
          </a:p>
          <a:p>
            <a:pPr marL="0" indent="0" algn="just">
              <a:buNone/>
            </a:pPr>
            <a:r>
              <a:rPr lang="es-MX" dirty="0"/>
              <a:t>– Project </a:t>
            </a:r>
            <a:r>
              <a:rPr lang="es-MX" dirty="0" err="1"/>
              <a:t>Type</a:t>
            </a:r>
            <a:r>
              <a:rPr lang="es-MX" dirty="0"/>
              <a:t> 2: Fine-tune a LLM </a:t>
            </a:r>
            <a:r>
              <a:rPr lang="es-MX" dirty="0" err="1"/>
              <a:t>for</a:t>
            </a:r>
            <a:r>
              <a:rPr lang="es-MX" dirty="0"/>
              <a:t> a </a:t>
            </a:r>
            <a:r>
              <a:rPr lang="es-MX" dirty="0" err="1"/>
              <a:t>specific</a:t>
            </a:r>
            <a:r>
              <a:rPr lang="es-MX" dirty="0"/>
              <a:t> </a:t>
            </a:r>
            <a:r>
              <a:rPr lang="es-MX" dirty="0" err="1"/>
              <a:t>task</a:t>
            </a:r>
            <a:r>
              <a:rPr lang="es-MX" dirty="0"/>
              <a:t> (</a:t>
            </a:r>
            <a:r>
              <a:rPr lang="es-MX" dirty="0" err="1"/>
              <a:t>e.g</a:t>
            </a:r>
            <a:r>
              <a:rPr lang="es-MX" dirty="0"/>
              <a:t>., </a:t>
            </a:r>
            <a:r>
              <a:rPr lang="es-MX" dirty="0" err="1"/>
              <a:t>sentiment</a:t>
            </a:r>
            <a:r>
              <a:rPr lang="es-MX" dirty="0"/>
              <a:t> </a:t>
            </a:r>
            <a:r>
              <a:rPr lang="es-MX" dirty="0" err="1"/>
              <a:t>analysis</a:t>
            </a:r>
            <a:r>
              <a:rPr lang="es-MX" dirty="0"/>
              <a:t>, </a:t>
            </a:r>
            <a:r>
              <a:rPr lang="es-MX" dirty="0" err="1"/>
              <a:t>or</a:t>
            </a:r>
            <a:r>
              <a:rPr lang="es-MX" dirty="0"/>
              <a:t> </a:t>
            </a:r>
            <a:r>
              <a:rPr lang="es-MX" dirty="0" err="1"/>
              <a:t>question</a:t>
            </a:r>
            <a:r>
              <a:rPr lang="es-MX" dirty="0"/>
              <a:t> and </a:t>
            </a:r>
            <a:r>
              <a:rPr lang="es-MX" dirty="0" err="1"/>
              <a:t>answer</a:t>
            </a:r>
            <a:r>
              <a:rPr lang="es-MX" dirty="0"/>
              <a:t>).</a:t>
            </a:r>
          </a:p>
          <a:p>
            <a:pPr marL="0" indent="0" algn="just">
              <a:buNone/>
            </a:pPr>
            <a:endParaRPr lang="es-MX" dirty="0"/>
          </a:p>
          <a:p>
            <a:pPr marL="0" indent="0" algn="just">
              <a:buNone/>
            </a:pPr>
            <a:r>
              <a:rPr lang="es-MX" dirty="0"/>
              <a:t>– Project </a:t>
            </a:r>
            <a:r>
              <a:rPr lang="es-MX" dirty="0" err="1"/>
              <a:t>Type</a:t>
            </a:r>
            <a:r>
              <a:rPr lang="es-MX" dirty="0"/>
              <a:t> 3: </a:t>
            </a:r>
            <a:r>
              <a:rPr lang="es-MX" dirty="0" err="1"/>
              <a:t>Develop</a:t>
            </a:r>
            <a:r>
              <a:rPr lang="es-MX" dirty="0"/>
              <a:t> </a:t>
            </a:r>
            <a:r>
              <a:rPr lang="es-MX" dirty="0" err="1"/>
              <a:t>an</a:t>
            </a:r>
            <a:r>
              <a:rPr lang="es-MX" dirty="0"/>
              <a:t> </a:t>
            </a:r>
            <a:r>
              <a:rPr lang="es-MX" dirty="0" err="1"/>
              <a:t>application</a:t>
            </a:r>
            <a:r>
              <a:rPr lang="es-MX" dirty="0"/>
              <a:t> </a:t>
            </a:r>
            <a:r>
              <a:rPr lang="es-MX" dirty="0" err="1"/>
              <a:t>using</a:t>
            </a:r>
            <a:r>
              <a:rPr lang="es-MX" dirty="0"/>
              <a:t> a </a:t>
            </a:r>
            <a:r>
              <a:rPr lang="es-MX" dirty="0" err="1"/>
              <a:t>multi-modal</a:t>
            </a:r>
            <a:r>
              <a:rPr lang="es-MX" dirty="0"/>
              <a:t> LLM </a:t>
            </a:r>
            <a:r>
              <a:rPr lang="es-MX" dirty="0" err="1"/>
              <a:t>for</a:t>
            </a:r>
            <a:r>
              <a:rPr lang="es-MX" dirty="0"/>
              <a:t> </a:t>
            </a:r>
            <a:r>
              <a:rPr lang="es-MX" dirty="0" err="1"/>
              <a:t>image</a:t>
            </a:r>
            <a:r>
              <a:rPr lang="es-MX" dirty="0"/>
              <a:t> </a:t>
            </a:r>
            <a:r>
              <a:rPr lang="es-MX" dirty="0" err="1"/>
              <a:t>classification</a:t>
            </a:r>
            <a:r>
              <a:rPr lang="es-MX" dirty="0"/>
              <a:t>, </a:t>
            </a:r>
            <a:r>
              <a:rPr lang="es-MX" dirty="0" err="1"/>
              <a:t>detection</a:t>
            </a:r>
            <a:r>
              <a:rPr lang="es-MX" dirty="0"/>
              <a:t> </a:t>
            </a:r>
            <a:r>
              <a:rPr lang="es-MX" dirty="0" err="1"/>
              <a:t>or</a:t>
            </a:r>
            <a:r>
              <a:rPr lang="es-MX" dirty="0"/>
              <a:t> </a:t>
            </a:r>
            <a:r>
              <a:rPr lang="es-MX" dirty="0" err="1"/>
              <a:t>segmentation</a:t>
            </a:r>
            <a:r>
              <a:rPr lang="es-MX" dirty="0"/>
              <a:t> </a:t>
            </a:r>
            <a:r>
              <a:rPr lang="es-MX" dirty="0" err="1"/>
              <a:t>with</a:t>
            </a:r>
            <a:r>
              <a:rPr lang="es-MX" dirty="0"/>
              <a:t> </a:t>
            </a:r>
            <a:r>
              <a:rPr lang="es-MX" dirty="0" err="1"/>
              <a:t>text</a:t>
            </a:r>
            <a:r>
              <a:rPr lang="es-MX" dirty="0"/>
              <a:t> </a:t>
            </a:r>
            <a:r>
              <a:rPr lang="es-MX" dirty="0" err="1"/>
              <a:t>prompts</a:t>
            </a:r>
            <a:r>
              <a:rPr lang="es-MX" dirty="0"/>
              <a:t>.</a:t>
            </a:r>
          </a:p>
          <a:p>
            <a:pPr marL="0" indent="0" algn="just">
              <a:buNone/>
            </a:pPr>
            <a:endParaRPr lang="es-MX" dirty="0"/>
          </a:p>
          <a:p>
            <a:pPr marL="0" indent="0" algn="just">
              <a:buNone/>
            </a:pPr>
            <a:r>
              <a:rPr lang="es-MX" dirty="0"/>
              <a:t>– Project </a:t>
            </a:r>
            <a:r>
              <a:rPr lang="es-MX" dirty="0" err="1"/>
              <a:t>Type</a:t>
            </a:r>
            <a:r>
              <a:rPr lang="es-MX" dirty="0"/>
              <a:t> 4: </a:t>
            </a:r>
            <a:r>
              <a:rPr lang="es-MX" dirty="0" err="1"/>
              <a:t>Create</a:t>
            </a:r>
            <a:r>
              <a:rPr lang="es-MX" dirty="0"/>
              <a:t> </a:t>
            </a:r>
            <a:r>
              <a:rPr lang="es-MX" dirty="0" err="1"/>
              <a:t>an</a:t>
            </a:r>
            <a:r>
              <a:rPr lang="es-MX" dirty="0"/>
              <a:t> </a:t>
            </a:r>
            <a:r>
              <a:rPr lang="es-MX" dirty="0" err="1"/>
              <a:t>application</a:t>
            </a:r>
            <a:r>
              <a:rPr lang="es-MX" dirty="0"/>
              <a:t> </a:t>
            </a:r>
            <a:r>
              <a:rPr lang="es-MX" dirty="0" err="1"/>
              <a:t>based</a:t>
            </a:r>
            <a:r>
              <a:rPr lang="es-MX" dirty="0"/>
              <a:t> </a:t>
            </a:r>
            <a:r>
              <a:rPr lang="es-MX" dirty="0" err="1"/>
              <a:t>on</a:t>
            </a:r>
            <a:r>
              <a:rPr lang="es-MX" dirty="0"/>
              <a:t> </a:t>
            </a:r>
            <a:r>
              <a:rPr lang="es-MX" dirty="0" err="1"/>
              <a:t>the</a:t>
            </a:r>
            <a:r>
              <a:rPr lang="es-MX" dirty="0"/>
              <a:t> </a:t>
            </a:r>
            <a:r>
              <a:rPr lang="es-MX" dirty="0" err="1"/>
              <a:t>integration</a:t>
            </a:r>
            <a:r>
              <a:rPr lang="es-MX" dirty="0"/>
              <a:t> </a:t>
            </a:r>
            <a:r>
              <a:rPr lang="es-MX" dirty="0" err="1"/>
              <a:t>of</a:t>
            </a:r>
            <a:r>
              <a:rPr lang="es-MX" dirty="0"/>
              <a:t> </a:t>
            </a:r>
            <a:r>
              <a:rPr lang="es-MX" dirty="0" err="1"/>
              <a:t>different</a:t>
            </a:r>
            <a:r>
              <a:rPr lang="es-MX" dirty="0"/>
              <a:t> </a:t>
            </a:r>
            <a:r>
              <a:rPr lang="es-MX" dirty="0" err="1"/>
              <a:t>Agents</a:t>
            </a:r>
            <a:r>
              <a:rPr lang="es-MX" dirty="0"/>
              <a:t> </a:t>
            </a:r>
            <a:r>
              <a:rPr lang="es-MX" dirty="0" err="1"/>
              <a:t>to</a:t>
            </a:r>
            <a:r>
              <a:rPr lang="es-MX" dirty="0"/>
              <a:t> </a:t>
            </a:r>
            <a:r>
              <a:rPr lang="es-MX" dirty="0" err="1"/>
              <a:t>automate</a:t>
            </a:r>
            <a:r>
              <a:rPr lang="es-MX" dirty="0"/>
              <a:t> </a:t>
            </a:r>
            <a:r>
              <a:rPr lang="es-MX" dirty="0" err="1"/>
              <a:t>tasks</a:t>
            </a:r>
            <a:r>
              <a:rPr lang="es-MX" dirty="0"/>
              <a:t>.</a:t>
            </a:r>
          </a:p>
          <a:p>
            <a:pPr marL="0" indent="0" algn="just">
              <a:buNone/>
            </a:pPr>
            <a:endParaRPr lang="es-MX" dirty="0"/>
          </a:p>
          <a:p>
            <a:pPr marL="0" indent="0" algn="just">
              <a:buNone/>
            </a:pPr>
            <a:endParaRPr lang="es-MX" dirty="0"/>
          </a:p>
          <a:p>
            <a:pPr marL="0" indent="0" algn="just">
              <a:buNone/>
            </a:pPr>
            <a:endParaRPr lang="es-MX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4FA0050-7D0A-DD1A-775F-91416D0CA5F7}"/>
              </a:ext>
            </a:extLst>
          </p:cNvPr>
          <p:cNvSpPr txBox="1"/>
          <p:nvPr/>
        </p:nvSpPr>
        <p:spPr>
          <a:xfrm>
            <a:off x="866776" y="353496"/>
            <a:ext cx="9782174" cy="705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s-MX" sz="4400" dirty="0" err="1">
                <a:latin typeface="+mj-lt"/>
                <a:ea typeface="+mj-ea"/>
                <a:cs typeface="+mj-cs"/>
              </a:rPr>
              <a:t>Projects</a:t>
            </a:r>
            <a:r>
              <a:rPr lang="es-MX" sz="4400" dirty="0">
                <a:latin typeface="+mj-lt"/>
                <a:ea typeface="+mj-ea"/>
                <a:cs typeface="+mj-cs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5514684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2FA067-733F-F15A-A4C0-3D09BD360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171450"/>
            <a:ext cx="10515600" cy="839788"/>
          </a:xfrm>
        </p:spPr>
        <p:txBody>
          <a:bodyPr/>
          <a:lstStyle/>
          <a:p>
            <a:r>
              <a:rPr lang="es-MX" dirty="0" err="1"/>
              <a:t>Learning</a:t>
            </a:r>
            <a:r>
              <a:rPr lang="es-MX" dirty="0"/>
              <a:t> </a:t>
            </a:r>
            <a:r>
              <a:rPr lang="es-MX" dirty="0" err="1"/>
              <a:t>Outcomes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9732BA-921C-0F39-4116-24D75174B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275"/>
            <a:ext cx="10515600" cy="470535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dirty="0"/>
              <a:t>By the end of the course, participants will be able to:</a:t>
            </a:r>
          </a:p>
          <a:p>
            <a:pPr marL="0" indent="0" algn="just">
              <a:buNone/>
            </a:pPr>
            <a:endParaRPr lang="en-US" sz="2000" dirty="0"/>
          </a:p>
          <a:p>
            <a:pPr marL="0" indent="0" algn="just">
              <a:buNone/>
            </a:pPr>
            <a:r>
              <a:rPr lang="en-US" sz="2000" dirty="0"/>
              <a:t>• Understand the historical context and evolution of generative AI</a:t>
            </a:r>
          </a:p>
          <a:p>
            <a:pPr marL="0" indent="0" algn="just">
              <a:buNone/>
            </a:pPr>
            <a:endParaRPr lang="en-US" sz="2000" dirty="0"/>
          </a:p>
          <a:p>
            <a:pPr marL="0" indent="0" algn="just">
              <a:buNone/>
            </a:pPr>
            <a:r>
              <a:rPr lang="en-US" sz="2000" dirty="0"/>
              <a:t>• Differentiate between generative and non-generative AI models </a:t>
            </a:r>
          </a:p>
          <a:p>
            <a:pPr marL="0" indent="0" algn="just">
              <a:buNone/>
            </a:pPr>
            <a:endParaRPr lang="en-US" sz="2000" dirty="0"/>
          </a:p>
          <a:p>
            <a:pPr marL="0" indent="0" algn="just">
              <a:buNone/>
            </a:pPr>
            <a:r>
              <a:rPr lang="en-US" sz="2000" dirty="0"/>
              <a:t>• Apply concepts like latent space, embeddings, and transformers in </a:t>
            </a:r>
            <a:r>
              <a:rPr lang="en-US" sz="2000" dirty="0" err="1"/>
              <a:t>genAI</a:t>
            </a:r>
            <a:r>
              <a:rPr lang="en-US" sz="2000" dirty="0"/>
              <a:t> projects </a:t>
            </a:r>
          </a:p>
          <a:p>
            <a:pPr marL="0" indent="0" algn="just">
              <a:buNone/>
            </a:pPr>
            <a:endParaRPr lang="en-US" sz="2000" dirty="0"/>
          </a:p>
          <a:p>
            <a:pPr marL="0" indent="0" algn="just">
              <a:buNone/>
            </a:pPr>
            <a:r>
              <a:rPr lang="en-US" sz="2000" dirty="0"/>
              <a:t>• Implement vector databases and RAG systems </a:t>
            </a:r>
          </a:p>
          <a:p>
            <a:pPr marL="0" indent="0" algn="just">
              <a:buNone/>
            </a:pPr>
            <a:endParaRPr lang="en-US" sz="2000" dirty="0"/>
          </a:p>
          <a:p>
            <a:pPr marL="0" indent="0" algn="just">
              <a:buNone/>
            </a:pPr>
            <a:r>
              <a:rPr lang="en-US" sz="2000" dirty="0"/>
              <a:t>• Fine-tune and prune LLMs for efficiency </a:t>
            </a:r>
          </a:p>
          <a:p>
            <a:pPr marL="0" indent="0" algn="just">
              <a:buNone/>
            </a:pPr>
            <a:endParaRPr lang="en-US" sz="2000" dirty="0"/>
          </a:p>
          <a:p>
            <a:pPr marL="0" indent="0" algn="just">
              <a:buNone/>
            </a:pPr>
            <a:r>
              <a:rPr lang="en-US" sz="2000" dirty="0"/>
              <a:t>• Develop applications using multi-modal LLMs for classification, detection, and segmentation</a:t>
            </a:r>
            <a:endParaRPr lang="es-MX" sz="2000" dirty="0"/>
          </a:p>
        </p:txBody>
      </p:sp>
    </p:spTree>
    <p:extLst>
      <p:ext uri="{BB962C8B-B14F-4D97-AF65-F5344CB8AC3E}">
        <p14:creationId xmlns:p14="http://schemas.microsoft.com/office/powerpoint/2010/main" val="27162008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D25F77-BAEE-0DDB-A92B-C78091ECA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Gradings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376394-A2C6-4C45-F7C3-BB0677ABF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err="1"/>
              <a:t>Exercises</a:t>
            </a:r>
            <a:r>
              <a:rPr lang="es-CO" dirty="0"/>
              <a:t>: 40%</a:t>
            </a:r>
          </a:p>
          <a:p>
            <a:r>
              <a:rPr lang="es-CO" dirty="0" err="1"/>
              <a:t>Quizes</a:t>
            </a:r>
            <a:r>
              <a:rPr lang="es-CO" dirty="0"/>
              <a:t> and </a:t>
            </a:r>
            <a:r>
              <a:rPr lang="es-CO" dirty="0" err="1"/>
              <a:t>Readings</a:t>
            </a:r>
            <a:r>
              <a:rPr lang="es-CO" dirty="0"/>
              <a:t> : 30%</a:t>
            </a:r>
          </a:p>
          <a:p>
            <a:r>
              <a:rPr lang="es-CO" dirty="0"/>
              <a:t>Project: 30%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988023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EF2617-D4C9-66EA-22A8-73F219AD4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Sessions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355364-FFFC-60B9-0904-5FCCFB694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7 </a:t>
            </a:r>
            <a:r>
              <a:rPr lang="es-CO" dirty="0" err="1"/>
              <a:t>to</a:t>
            </a:r>
            <a:r>
              <a:rPr lang="es-CO" dirty="0"/>
              <a:t> 8 remote </a:t>
            </a:r>
            <a:r>
              <a:rPr lang="es-CO" dirty="0" err="1"/>
              <a:t>sessions</a:t>
            </a:r>
            <a:endParaRPr lang="es-CO" dirty="0"/>
          </a:p>
          <a:p>
            <a:r>
              <a:rPr lang="es-CO" dirty="0"/>
              <a:t>2 pm </a:t>
            </a:r>
            <a:r>
              <a:rPr lang="es-CO" dirty="0" err="1"/>
              <a:t>to</a:t>
            </a:r>
            <a:r>
              <a:rPr lang="es-CO" dirty="0"/>
              <a:t> 8 pm </a:t>
            </a:r>
            <a:r>
              <a:rPr lang="es-CO" dirty="0" err="1"/>
              <a:t>fridays</a:t>
            </a:r>
            <a:r>
              <a:rPr lang="es-CO" dirty="0"/>
              <a:t>, </a:t>
            </a:r>
            <a:r>
              <a:rPr lang="es-CO" dirty="0" err="1"/>
              <a:t>Bogota</a:t>
            </a:r>
            <a:r>
              <a:rPr lang="es-CO" dirty="0"/>
              <a:t>-Lima-Col. time</a:t>
            </a:r>
          </a:p>
          <a:p>
            <a:r>
              <a:rPr lang="es-CO" dirty="0"/>
              <a:t>2 in </a:t>
            </a:r>
            <a:r>
              <a:rPr lang="es-CO" dirty="0" err="1"/>
              <a:t>person</a:t>
            </a:r>
            <a:r>
              <a:rPr lang="es-CO" dirty="0"/>
              <a:t> </a:t>
            </a:r>
            <a:r>
              <a:rPr lang="es-CO" dirty="0" err="1"/>
              <a:t>sessions</a:t>
            </a:r>
            <a:r>
              <a:rPr lang="es-CO" dirty="0"/>
              <a:t>, </a:t>
            </a:r>
            <a:r>
              <a:rPr lang="es-CO" dirty="0" err="1"/>
              <a:t>session</a:t>
            </a:r>
            <a:r>
              <a:rPr lang="es-CO"/>
              <a:t> 3 </a:t>
            </a:r>
            <a:r>
              <a:rPr lang="es-CO" dirty="0"/>
              <a:t>and </a:t>
            </a:r>
            <a:r>
              <a:rPr lang="es-CO" dirty="0" err="1"/>
              <a:t>sesion</a:t>
            </a:r>
            <a:r>
              <a:rPr lang="es-CO" dirty="0"/>
              <a:t> 6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114290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67B9B9-4745-A89A-8C03-C3611DAA2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Facilitators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557353-6017-B0F1-430F-D8951AC1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400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CO" dirty="0"/>
              <a:t>John Ballesteros</a:t>
            </a:r>
          </a:p>
          <a:p>
            <a:pPr marL="0" indent="0">
              <a:buNone/>
            </a:pPr>
            <a:r>
              <a:rPr lang="es-CO" dirty="0"/>
              <a:t>PhD., </a:t>
            </a:r>
            <a:r>
              <a:rPr lang="es-CO" dirty="0" err="1"/>
              <a:t>Associate</a:t>
            </a:r>
            <a:r>
              <a:rPr lang="es-CO" dirty="0"/>
              <a:t> </a:t>
            </a:r>
            <a:r>
              <a:rPr lang="es-CO" dirty="0" err="1"/>
              <a:t>Professor</a:t>
            </a:r>
            <a:r>
              <a:rPr lang="es-CO" dirty="0"/>
              <a:t> </a:t>
            </a:r>
            <a:r>
              <a:rPr lang="es-CO" dirty="0" err="1"/>
              <a:t>Dpt</a:t>
            </a:r>
            <a:r>
              <a:rPr lang="es-CO" dirty="0"/>
              <a:t>. </a:t>
            </a:r>
            <a:r>
              <a:rPr lang="es-CO" dirty="0" err="1"/>
              <a:t>Of</a:t>
            </a:r>
            <a:r>
              <a:rPr lang="es-CO" dirty="0"/>
              <a:t> </a:t>
            </a:r>
            <a:r>
              <a:rPr lang="es-CO" dirty="0" err="1"/>
              <a:t>Computer</a:t>
            </a:r>
            <a:r>
              <a:rPr lang="es-CO" dirty="0"/>
              <a:t> </a:t>
            </a:r>
            <a:r>
              <a:rPr lang="es-CO" dirty="0" err="1"/>
              <a:t>Science</a:t>
            </a:r>
            <a:r>
              <a:rPr lang="es-CO" dirty="0"/>
              <a:t> at UNC, </a:t>
            </a:r>
            <a:r>
              <a:rPr lang="es-CO" dirty="0" err="1"/>
              <a:t>Med</a:t>
            </a:r>
            <a:endParaRPr lang="es-CO" dirty="0"/>
          </a:p>
          <a:p>
            <a:pPr marL="0" indent="0">
              <a:buNone/>
            </a:pPr>
            <a:r>
              <a:rPr lang="es-CO" dirty="0">
                <a:hlinkClick r:id="rId2"/>
              </a:rPr>
              <a:t>www.medium.com/@jrballesteros</a:t>
            </a:r>
            <a:endParaRPr lang="es-CO" dirty="0"/>
          </a:p>
          <a:p>
            <a:pPr marL="0" indent="0">
              <a:buNone/>
            </a:pPr>
            <a:endParaRPr lang="es-CO" dirty="0"/>
          </a:p>
          <a:p>
            <a:pPr marL="0" indent="0">
              <a:buNone/>
            </a:pPr>
            <a:endParaRPr lang="es-CO" dirty="0"/>
          </a:p>
          <a:p>
            <a:pPr marL="0" indent="0">
              <a:buNone/>
            </a:pPr>
            <a:r>
              <a:rPr lang="es-CO" dirty="0" err="1"/>
              <a:t>Jesus</a:t>
            </a:r>
            <a:r>
              <a:rPr lang="es-CO" dirty="0"/>
              <a:t> </a:t>
            </a:r>
            <a:r>
              <a:rPr lang="es-CO" dirty="0" err="1"/>
              <a:t>Rios</a:t>
            </a:r>
            <a:endParaRPr lang="es-CO" dirty="0"/>
          </a:p>
          <a:p>
            <a:pPr marL="0" indent="0">
              <a:buNone/>
            </a:pPr>
            <a:r>
              <a:rPr lang="es-CO" dirty="0" err="1"/>
              <a:t>MSc</a:t>
            </a:r>
            <a:r>
              <a:rPr lang="es-CO" dirty="0"/>
              <a:t>(c) in </a:t>
            </a:r>
            <a:r>
              <a:rPr lang="es-CO" dirty="0" err="1"/>
              <a:t>Computer</a:t>
            </a:r>
            <a:r>
              <a:rPr lang="es-CO" dirty="0"/>
              <a:t> </a:t>
            </a:r>
            <a:r>
              <a:rPr lang="es-CO" dirty="0" err="1"/>
              <a:t>Science</a:t>
            </a:r>
            <a:r>
              <a:rPr lang="es-CO" dirty="0"/>
              <a:t>, </a:t>
            </a:r>
            <a:r>
              <a:rPr lang="es-CO" dirty="0" err="1"/>
              <a:t>Student</a:t>
            </a:r>
            <a:r>
              <a:rPr lang="es-CO" dirty="0"/>
              <a:t> in BEDA, UNC, </a:t>
            </a:r>
            <a:r>
              <a:rPr lang="es-CO" dirty="0" err="1"/>
              <a:t>Med</a:t>
            </a:r>
            <a:endParaRPr lang="es-CO" dirty="0"/>
          </a:p>
          <a:p>
            <a:pPr marL="0" indent="0">
              <a:buNone/>
            </a:pPr>
            <a:r>
              <a:rPr lang="es-CO" dirty="0">
                <a:hlinkClick r:id="rId3"/>
              </a:rPr>
              <a:t>jriospe@unal.edu.co</a:t>
            </a:r>
            <a:endParaRPr lang="es-CO" dirty="0"/>
          </a:p>
          <a:p>
            <a:pPr marL="0" indent="0">
              <a:buNone/>
            </a:pPr>
            <a:r>
              <a:rPr lang="es-CO" dirty="0">
                <a:hlinkClick r:id="rId4"/>
              </a:rPr>
              <a:t>https://www.linkedin.com/in/jesusriosp</a:t>
            </a:r>
            <a:endParaRPr lang="es-CO" dirty="0"/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48001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A2F2DC-6FE5-8285-7FEA-01DD5A7A4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Resources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5BCC50-7597-DFB2-C1D7-3F11ECF13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CO" dirty="0"/>
              <a:t>Google </a:t>
            </a:r>
            <a:r>
              <a:rPr lang="es-CO" dirty="0" err="1"/>
              <a:t>Classroom</a:t>
            </a:r>
            <a:r>
              <a:rPr lang="es-CO" dirty="0"/>
              <a:t> and </a:t>
            </a:r>
            <a:r>
              <a:rPr lang="es-CO" dirty="0" err="1"/>
              <a:t>Gdrive</a:t>
            </a:r>
            <a:r>
              <a:rPr lang="es-CO" dirty="0"/>
              <a:t>:</a:t>
            </a:r>
          </a:p>
          <a:p>
            <a:pPr marL="0" indent="0">
              <a:buNone/>
            </a:pPr>
            <a:endParaRPr lang="es-CO" dirty="0"/>
          </a:p>
          <a:p>
            <a:pPr marL="0" indent="0">
              <a:buNone/>
            </a:pPr>
            <a:r>
              <a:rPr lang="es-CO">
                <a:hlinkClick r:id="rId2"/>
              </a:rPr>
              <a:t>https://drive.google.com/drive/folders/1SJWpj8h7ep70M62wHDrVutE7SlKk8BY2WfZn04R5ShntYPYumUVY3_j05o_aBt3-Vr5A738X?usp=drive_link</a:t>
            </a:r>
            <a:endParaRPr lang="es-CO"/>
          </a:p>
          <a:p>
            <a:pPr marL="0" indent="0">
              <a:buNone/>
            </a:pPr>
            <a:endParaRPr lang="es-CO" dirty="0"/>
          </a:p>
          <a:p>
            <a:pPr marL="0" indent="0">
              <a:buNone/>
            </a:pPr>
            <a:endParaRPr lang="es-CO" dirty="0"/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753532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5906</TotalTime>
  <Words>1005</Words>
  <Application>Microsoft Office PowerPoint</Application>
  <PresentationFormat>Panorámica</PresentationFormat>
  <Paragraphs>143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Wingdings</vt:lpstr>
      <vt:lpstr>Tema de Office</vt:lpstr>
      <vt:lpstr>Sistemas Inteligentes</vt:lpstr>
      <vt:lpstr>Course Description</vt:lpstr>
      <vt:lpstr>Contents</vt:lpstr>
      <vt:lpstr>Methodology</vt:lpstr>
      <vt:lpstr>Prerequisites</vt:lpstr>
      <vt:lpstr>Course Structure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Learning Outcomes</vt:lpstr>
      <vt:lpstr>Gradings</vt:lpstr>
      <vt:lpstr>Sessions</vt:lpstr>
      <vt:lpstr>Facilitators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Robert Ballesteros Parra</dc:creator>
  <cp:lastModifiedBy>John Robert Ballesteros Parra</cp:lastModifiedBy>
  <cp:revision>79</cp:revision>
  <dcterms:created xsi:type="dcterms:W3CDTF">2025-05-14T12:23:09Z</dcterms:created>
  <dcterms:modified xsi:type="dcterms:W3CDTF">2026-02-06T19:41:04Z</dcterms:modified>
</cp:coreProperties>
</file>